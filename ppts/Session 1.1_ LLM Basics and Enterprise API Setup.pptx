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Outfit"/>
      <p:regular r:id="rId23"/>
      <p:bold r:id="rId24"/>
    </p:embeddedFont>
    <p:embeddedFont>
      <p:font typeface="Urbanist"/>
      <p:regular r:id="rId25"/>
      <p:bold r:id="rId26"/>
      <p:italic r:id="rId27"/>
      <p:boldItalic r:id="rId28"/>
    </p:embeddedFont>
    <p:embeddedFont>
      <p:font typeface="Outfit SemiBold"/>
      <p:regular r:id="rId29"/>
      <p:bold r:id="rId30"/>
    </p:embeddedFont>
    <p:embeddedFont>
      <p:font typeface="Fira Code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Outfit-bold.fntdata"/><Relationship Id="rId23" Type="http://schemas.openxmlformats.org/officeDocument/2006/relationships/font" Target="fonts/Outfi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utfit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Code-regular.fntdata"/><Relationship Id="rId30" Type="http://schemas.openxmlformats.org/officeDocument/2006/relationships/font" Target="fonts/Outfit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FiraCod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0d3ef6c7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0d3ef6c7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11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10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31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6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503289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Session 1.1: </a:t>
            </a:r>
            <a:r>
              <a:rPr b="1" i="0" lang="en-US" sz="48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LLM Basics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&amp; Enterprise API Setup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76650" y="4034730"/>
            <a:ext cx="4838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Transitioning from AI Consumers to AI Engineers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576512"/>
            <a:ext cx="762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790461" y="2900362"/>
            <a:ext cx="861107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Part 1: Pulling Back the Curtain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824287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4D39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 become an AI engineer, we have to look past the magic and understand the math.</a:t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57250" y="1947862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AI models do not read English, Python, or Spanish. They read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numbers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57250" y="275748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Text is translated into chunks called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tokens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 then converted into numerical IDs.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3567112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Rule of Thumb: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1 Token ≈ 4 characters of standard text.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437673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Short words: "Apple" = 1 token. Complex words: "Unbelievable" = 3 tokens (Un + believ + able).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5186362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it matters: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Cloud providers bill by tokens, and every model has a strictly enforced "Context Window" memory limit.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07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035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099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196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229225"/>
            <a:ext cx="952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Tokenization: The AI's Alphabet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5563" y="2159335"/>
            <a:ext cx="5143500" cy="3387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43713" y="2986075"/>
            <a:ext cx="126682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43713" y="4336690"/>
            <a:ext cx="7810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1013" y="4336690"/>
            <a:ext cx="1428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06013" y="4336690"/>
            <a:ext cx="11049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796088" y="2549860"/>
            <a:ext cx="4362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Common Word (1 Token)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96088" y="3900475"/>
            <a:ext cx="4362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Complex Word (3 Tokens)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67638" y="455100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72638" y="455100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6462"/>
            <a:ext cx="5286375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76462"/>
            <a:ext cx="5286375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62025" y="25669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The Step-by-Step Guesser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62025" y="308133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How does the model actually write? An LLM is fundamentally a massive probability calculator.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3843337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It looks at the input text and predicts the single most mathematically probable next token.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means self;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Regressive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means looking back at previous steps.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24650" y="25669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The Infinite Loop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24650" y="3081337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Sequence: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"The capital of France is"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24650" y="3557587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Probabilities: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"Paris" (98.5%), "Lyon" (0.5%)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24650" y="403383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Select &amp; Append: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It selects "Paris" and adds it. The new sequence is "The capital of France is Paris".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24650" y="479583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4. Repeat: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It runs the entire new sequence through the network to predict the next token (a period .).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Auto-Regressive Decoding</a:t>
            </a:r>
            <a:endParaRPr/>
          </a:p>
        </p:txBody>
      </p:sp>
      <p:pic>
        <p:nvPicPr>
          <p:cNvPr id="139" name="Google Shape;13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Auto-Regressive Decoding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171825"/>
            <a:ext cx="10648949" cy="1731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3467100"/>
            <a:ext cx="2390775" cy="1141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0700" y="3467100"/>
            <a:ext cx="1714500" cy="1141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53137" y="3608933"/>
            <a:ext cx="1905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53137" y="4037558"/>
            <a:ext cx="1905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53137" y="3608933"/>
            <a:ext cx="18669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53137" y="4037558"/>
            <a:ext cx="952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771525" y="2497484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AI doesn't plan entire sentences. It only guesses the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single most mathematically probable next token.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26668" y="3847058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08231" y="3847058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43980" y="495106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053012" y="5132040"/>
            <a:ext cx="208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Process New Sequence Again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227058" y="3676650"/>
            <a:ext cx="207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Input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276350" y="4105275"/>
            <a:ext cx="197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"Capital of France is"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587865" y="3676650"/>
            <a:ext cx="13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Append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620250" y="4105275"/>
            <a:ext cx="129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+ "Paris"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719637" y="3608933"/>
            <a:ext cx="114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Paris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719637" y="4037558"/>
            <a:ext cx="114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Lyon</a:t>
            </a:r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/>
          <p:nvPr/>
        </p:nvSpPr>
        <p:spPr>
          <a:xfrm>
            <a:off x="5715000" y="2576512"/>
            <a:ext cx="762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2520553" y="2900362"/>
            <a:ext cx="7150893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Part 2: The Need for APIs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2286000" y="3824287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4D39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Bridging your local Python code securely with massive Google data centers to automate thousands of tasks.</a:t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5500"/>
            <a:ext cx="3492549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95500"/>
            <a:ext cx="3492549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95500"/>
            <a:ext cx="3492549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1167556" y="3362325"/>
            <a:ext cx="23002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Customer &amp; Menu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66775" y="4019550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Customer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is your Python script.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Menu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is the API Documentation, which dictates exactly what you are allowed to ask for and the correct format.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385911" y="3362325"/>
            <a:ext cx="14201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The Waiter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645074" y="4019550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itself acts as the waiter, carrying requests and responses back and forth securely over the internet between your computer and the server.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904178" y="3362325"/>
            <a:ext cx="194024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Kitchen &amp; Meal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423374" y="4019550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Kitchen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contains Google's supercomputers running Gemini.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Meal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is the generated text delivered back to your screen in structured JSON.</a:t>
            </a:r>
            <a:endParaRPr/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2524125"/>
            <a:ext cx="4000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52412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252412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API Restaurant Analogy</a:t>
            </a:r>
            <a:endParaRPr/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8837"/>
            <a:ext cx="5286375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28837"/>
            <a:ext cx="5286375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962025" y="2519362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Temperature (The Creativity Dial)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62025" y="3033712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Controls the randomness of the AI's guesses.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62025" y="35099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Low (0.0 - 0.2):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AI plays it incredibly safe, picking the #1 probable word. Best for strict data extraction and code.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62025" y="45577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 (0.7 - 1.0+):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Probabilities flatten. AI takes risks on #2 or #3 words. Best for creative writing and brainstorming.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724650" y="2519362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Top-p Sampling (The Bouncer)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724650" y="3033712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Acts as a dynamic filter for probability.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724650" y="3509962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It tells the model: "Keep gathering words until their combined probabilities equal P."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724650" y="42719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If Top-p is 0.90, it throws away the bottom 10% of weird, nonsensical words. This keeps the AI creative without hallucinating gibberish.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Controlling the Output</a:t>
            </a:r>
            <a:endParaRPr/>
          </a:p>
        </p:txBody>
      </p:sp>
      <p:pic>
        <p:nvPicPr>
          <p:cNvPr id="209" name="Google Shape;20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3067050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429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4686300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 Error: Too Many Requests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334125" y="275748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Hitting the Roadblocks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334125" y="327183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Google cannot let one person use all of their supercomputers at once. They enforce strict limits like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RPM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(Requests Per Minute) and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TPM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(Tokens Per Minute).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334125" y="431958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If your Python script sends too many requests too fast, the API will reject you and throw an HTTP 429 error. Your script must be designed to survive this.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Enterprise API Reliability</a:t>
            </a:r>
            <a:endParaRPr/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1809750" y="2562225"/>
            <a:ext cx="904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Avoid Spamming: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If your script gets a 429 error and immediately tries again, it will just get blocked immediately.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809750" y="3371850"/>
            <a:ext cx="904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Exponential Waits: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Try the request. Fail. Wait 1 sec. Fail. Wait 2 sec. Fail. Wait 4 sec. Fail. Wait 8 sec...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809750" y="3895725"/>
            <a:ext cx="904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Fault Tolerance: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Exponentially increasing the wait time gives the server time to recover, making your pipeline robust.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809750" y="4705350"/>
            <a:ext cx="904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Adding Jitter: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We append a fraction of a random second (Jitter) so if multiple scripts fail at once, they don't all retry at the exact same millisecond and crash the server again.</a:t>
            </a:r>
            <a:endParaRPr/>
          </a:p>
        </p:txBody>
      </p:sp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5574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36708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8909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70058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Exponential Backoff (The Polite Retry)</a:t>
            </a:r>
            <a:endParaRPr/>
          </a:p>
        </p:txBody>
      </p:sp>
      <p:pic>
        <p:nvPicPr>
          <p:cNvPr id="236" name="Google Shape;236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571500" y="1323975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Secure Authentication</a:t>
            </a:r>
            <a:endParaRPr/>
          </a:p>
        </p:txBody>
      </p:sp>
      <p:pic>
        <p:nvPicPr>
          <p:cNvPr descr="image.png"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571500" y="206692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Protecting the Keys to the Kingdom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27241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 use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Google Colab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 a free online Python environment, utilizing the official google-genai SDK.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3629025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Critical Rule: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Never </a:t>
            </a: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hard code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API keys! Bots scrape GitHub constantly for exposed credentials.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71500" y="45339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 use Colab's secret manager (the key icon) or local environment variables (export GEMINI_API_KEY) to keep our enterprise pipelines completely secure.</a:t>
            </a:r>
            <a:endParaRPr/>
          </a:p>
        </p:txBody>
      </p:sp>
      <p:pic>
        <p:nvPicPr>
          <p:cNvPr id="248" name="Google Shape;24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1504950" y="2126158"/>
            <a:ext cx="9182100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Beginners write scripts that work once. Engineers write scripts that work 10,000 times in a row.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3276600" y="4427041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— ENTERPRISE AI ENGINEERING PRINCIPLE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933450" y="2507158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4D39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0953750" y="4141286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4D39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pic>
        <p:nvPicPr>
          <p:cNvPr id="258" name="Google Shape;2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295275" y="21717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Hands-On Lab Time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571500" y="3352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Let's build our "Extract Once, Judge Many" pipeline!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2062" y="42576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6437" y="42576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3687" y="42576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