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Outfit ExtraBold"/>
      <p:bold r:id="rId16"/>
    </p:embeddedFont>
    <p:embeddedFont>
      <p:font typeface="Outfit"/>
      <p:regular r:id="rId17"/>
      <p:bold r:id="rId18"/>
    </p:embeddedFont>
    <p:embeddedFont>
      <p:font typeface="Outfit SemiBo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utfitSemi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utfit-regular.fntdata"/><Relationship Id="rId16" Type="http://schemas.openxmlformats.org/officeDocument/2006/relationships/font" Target="fonts/OutfitExtraBold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utfitSemiBold-regular.fntdata"/><Relationship Id="rId6" Type="http://schemas.openxmlformats.org/officeDocument/2006/relationships/slide" Target="slides/slide1.xml"/><Relationship Id="rId18" Type="http://schemas.openxmlformats.org/officeDocument/2006/relationships/font" Target="fonts/Outfi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9" Type="http://schemas.openxmlformats.org/officeDocument/2006/relationships/image" Target="../media/image19.png"/><Relationship Id="rId5" Type="http://schemas.openxmlformats.org/officeDocument/2006/relationships/image" Target="../media/image22.png"/><Relationship Id="rId6" Type="http://schemas.openxmlformats.org/officeDocument/2006/relationships/image" Target="../media/image15.png"/><Relationship Id="rId7" Type="http://schemas.openxmlformats.org/officeDocument/2006/relationships/image" Target="../media/image9.png"/><Relationship Id="rId8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10" Type="http://schemas.openxmlformats.org/officeDocument/2006/relationships/image" Target="../media/image19.png"/><Relationship Id="rId9" Type="http://schemas.openxmlformats.org/officeDocument/2006/relationships/image" Target="../media/image23.png"/><Relationship Id="rId5" Type="http://schemas.openxmlformats.org/officeDocument/2006/relationships/image" Target="../media/image6.png"/><Relationship Id="rId6" Type="http://schemas.openxmlformats.org/officeDocument/2006/relationships/image" Target="../media/image32.png"/><Relationship Id="rId7" Type="http://schemas.openxmlformats.org/officeDocument/2006/relationships/image" Target="../media/image3.png"/><Relationship Id="rId8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0" Type="http://schemas.openxmlformats.org/officeDocument/2006/relationships/image" Target="../media/image19.png"/><Relationship Id="rId9" Type="http://schemas.openxmlformats.org/officeDocument/2006/relationships/image" Target="../media/image20.png"/><Relationship Id="rId5" Type="http://schemas.openxmlformats.org/officeDocument/2006/relationships/image" Target="../media/image35.png"/><Relationship Id="rId6" Type="http://schemas.openxmlformats.org/officeDocument/2006/relationships/image" Target="../media/image16.png"/><Relationship Id="rId7" Type="http://schemas.openxmlformats.org/officeDocument/2006/relationships/image" Target="../media/image39.png"/><Relationship Id="rId8" Type="http://schemas.openxmlformats.org/officeDocument/2006/relationships/image" Target="../media/image4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36.png"/><Relationship Id="rId6" Type="http://schemas.openxmlformats.org/officeDocument/2006/relationships/image" Target="../media/image31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28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0.png"/><Relationship Id="rId10" Type="http://schemas.openxmlformats.org/officeDocument/2006/relationships/image" Target="../media/image19.png"/><Relationship Id="rId9" Type="http://schemas.openxmlformats.org/officeDocument/2006/relationships/image" Target="../media/image33.png"/><Relationship Id="rId5" Type="http://schemas.openxmlformats.org/officeDocument/2006/relationships/image" Target="../media/image30.png"/><Relationship Id="rId6" Type="http://schemas.openxmlformats.org/officeDocument/2006/relationships/image" Target="../media/image25.png"/><Relationship Id="rId7" Type="http://schemas.openxmlformats.org/officeDocument/2006/relationships/image" Target="../media/image43.png"/><Relationship Id="rId8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41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6900" y="1735484"/>
            <a:ext cx="838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210389" y="3068984"/>
            <a:ext cx="9771221" cy="1462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Session 1.2: </a:t>
            </a:r>
            <a:r>
              <a:rPr b="0" i="0" lang="en-US" sz="48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Advanced Prompting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4800" u="none" cap="none" strike="noStrike">
                <a:solidFill>
                  <a:srgbClr val="F8FAFC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 &amp; Structured Outputs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43137" y="4722465"/>
            <a:ext cx="7705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Treating Prompt Engineering as a Formal Programming Discipline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21297"/>
            <a:ext cx="5038725" cy="273918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2352675"/>
            <a:ext cx="52906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Prompting is NOT Chatting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7338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60057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Engineering Mindset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71525" y="2876550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 the enterprise, a prompt is 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source code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that programs the LLM's behavior.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00150" y="3695700"/>
            <a:ext cx="4610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Vague Input = Broken Pipeline: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Auto-regressive decoding will wander without constraints.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200150" y="4562475"/>
            <a:ext cx="4610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Deterministic Results: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goal is consistent, predictable data extraction.</a:t>
            </a:r>
            <a:endParaRPr/>
          </a:p>
        </p:txBody>
      </p:sp>
      <p:pic>
        <p:nvPicPr>
          <p:cNvPr id="103" name="Google Shape;103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876550"/>
            <a:ext cx="52292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2876550"/>
            <a:ext cx="5229225" cy="1933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2762" y="514350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066800" y="3114675"/>
            <a:ext cx="493061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Weak Prompt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486525" y="3114675"/>
            <a:ext cx="493061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Strong Prompt</a:t>
            </a:r>
            <a:endParaRPr/>
          </a:p>
        </p:txBody>
      </p:sp>
      <p:pic>
        <p:nvPicPr>
          <p:cNvPr descr="image.png" id="114" name="Google Shape;11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3133725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86525" y="313372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Role Prompting: Setting Boundaries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771525" y="2371725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By defining a persona, you narrow the mathematical probability of word choices.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5095875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59E0B"/>
                </a:solidFill>
                <a:latin typeface="Outfit"/>
                <a:ea typeface="Outfit"/>
                <a:cs typeface="Outfit"/>
                <a:sym typeface="Outfit"/>
              </a:rPr>
              <a:t>Persona is the cheapest way to improve output quality instantly.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66800" y="3305175"/>
            <a:ext cx="4695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"Check this contract for errors."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066800" y="371475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Result: Generates casual, generic feedback.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86525" y="3305175"/>
            <a:ext cx="4695825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"Act as a Senior Legal Counsel specializing in corporate law. Review this contract for liability loopholes."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486525" y="4343400"/>
            <a:ext cx="4695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Result: Uses industry terminology and professional logic.</a:t>
            </a:r>
            <a:endParaRPr/>
          </a:p>
        </p:txBody>
      </p:sp>
      <p:pic>
        <p:nvPicPr>
          <p:cNvPr id="124" name="Google Shape;124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143125"/>
            <a:ext cx="335919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143125"/>
            <a:ext cx="3359199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143125"/>
            <a:ext cx="3359199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066800" y="3324225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Zero-Shot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711749" y="3324225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One-Shot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356699" y="3324225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Few-Shot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619375"/>
            <a:ext cx="29527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2619375"/>
            <a:ext cx="2286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699" y="2619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'Shot' Framework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71525" y="5353050"/>
            <a:ext cx="10648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Mantis Rule: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More shots = Higher accuracy but Higher cost (tokens). Find the sweet spot.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066800" y="3848100"/>
            <a:ext cx="2768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 examples provided.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66800" y="4162425"/>
            <a:ext cx="27686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"Classify this review: 'The UI is clunky.'"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4711749" y="3848100"/>
            <a:ext cx="2768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One perfect example.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711749" y="4162425"/>
            <a:ext cx="27686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"Input: 'Love it!' -&gt; Positive. Input: 'Clunky UI' -&gt; ?"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8356699" y="3848100"/>
            <a:ext cx="2768649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3-5 high-quality examples.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56699" y="4162425"/>
            <a:ext cx="2768649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Establishes a powerful pattern for niche, complex tasks.</a:t>
            </a:r>
            <a:endParaRPr/>
          </a:p>
        </p:txBody>
      </p:sp>
      <p:pic>
        <p:nvPicPr>
          <p:cNvPr id="148" name="Google Shape;14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462212"/>
            <a:ext cx="5038725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114425" y="2747962"/>
            <a:ext cx="4630578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Logic Puzzle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9908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85762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4724400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Reasoning: Chain-of-Thought (CoT)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1114425" y="3271837"/>
            <a:ext cx="4410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"A farmer has 15 sheep. All but 8 die. How many are left?"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114425" y="3995737"/>
            <a:ext cx="44100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Standard AI:</a:t>
            </a:r>
            <a:r>
              <a:rPr b="0" i="0" lang="en-US" sz="1650" u="none" cap="none" strike="noStrike">
                <a:solidFill>
                  <a:srgbClr val="EF4444"/>
                </a:solidFill>
                <a:latin typeface="Outfit"/>
                <a:ea typeface="Outfit"/>
                <a:cs typeface="Outfit"/>
                <a:sym typeface="Outfit"/>
              </a:rPr>
              <a:t> "7" (Wrong subtraction)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1114425" y="4405312"/>
            <a:ext cx="44100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CoT AI:</a:t>
            </a:r>
            <a:r>
              <a:rPr b="0" i="0" lang="en-US" sz="165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 "If all but 8 die, then 8 survived. Answer: 8."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381750" y="2543175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Step-by-Step Reasoning: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810375" y="2952750"/>
            <a:ext cx="4610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"Scratchpad Memory" to store intermediate facts.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810375" y="3819525"/>
            <a:ext cx="46101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Forces the model to generate the path to the answer.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810375" y="4686300"/>
            <a:ext cx="4610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Command: "Think step-by-step."</a:t>
            </a:r>
            <a:endParaRPr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3262312"/>
            <a:ext cx="106489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26815" y="3643312"/>
            <a:ext cx="1428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04145" y="3643312"/>
            <a:ext cx="1428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81476" y="3643312"/>
            <a:ext cx="1428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58806" y="3643312"/>
            <a:ext cx="14287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36137" y="3643312"/>
            <a:ext cx="14287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Reliability: Self-Consistency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71525" y="2566987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Ask the same question multiple times (Higher Temp) and take the </a:t>
            </a: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Majority Vote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771525" y="4900612"/>
            <a:ext cx="106489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Critical for </a:t>
            </a:r>
            <a:r>
              <a:rPr b="1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Healthcare, Finance, &amp; Legal</a:t>
            </a:r>
            <a:r>
              <a:rPr b="0" i="0" lang="en-US" sz="165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. We trade compute cost for perfect accuracy.</a:t>
            </a:r>
            <a:endParaRPr/>
          </a:p>
        </p:txBody>
      </p:sp>
      <p:pic>
        <p:nvPicPr>
          <p:cNvPr id="184" name="Google Shape;184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5479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10038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652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2052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47577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Mega-Prompt Anatomy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1200150" y="2509837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Persona: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"You are an expert corporate data auditor..."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00150" y="3062287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Context: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"We are processing raw text from corporate PDFs..."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1200150" y="3614737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Task: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"Extract the Title, Author, and a 1-sentence Summary."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1200150" y="4167187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Guardrails: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"If author is missing, output 'UNKNOWN'. Do not guess."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200150" y="4719637"/>
            <a:ext cx="1022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Few-Shot: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2-3 input/output pairs to demonstrate the rules.</a:t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959596"/>
            <a:ext cx="5038725" cy="18627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771525" y="2667000"/>
            <a:ext cx="529066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Software Needs Structure</a:t>
            </a:r>
            <a:endParaRPr/>
          </a:p>
        </p:txBody>
      </p:sp>
      <p:pic>
        <p:nvPicPr>
          <p:cNvPr descr="image.png" id="210" name="Google Shape;21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404812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60057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The JSON Revolution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771525" y="3190875"/>
            <a:ext cx="5038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AI text is unpredictable. Python code crashes if format changes.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6677025" y="4298453"/>
            <a:ext cx="4448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→ Guaranteed JSON response every time.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200150" y="4010025"/>
            <a:ext cx="4610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Pydantic: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Strict data blueprints.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200150" y="4562475"/>
            <a:ext cx="46101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Instructor: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Forces Gemini to obey the schema.</a:t>
            </a:r>
            <a:endParaRPr/>
          </a:p>
        </p:txBody>
      </p:sp>
      <p:pic>
        <p:nvPicPr>
          <p:cNvPr id="218" name="Google Shape;218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86012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386012"/>
            <a:ext cx="3359199" cy="3009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386012"/>
            <a:ext cx="3359199" cy="300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1066800" y="3538537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Compare Shots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711749" y="3538537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Reasoning Lab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356699" y="3538537"/>
            <a:ext cx="2907082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JSON Extraction</a:t>
            </a:r>
            <a:endParaRPr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8336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283368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6699" y="283368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771525" y="581025"/>
            <a:ext cx="1118139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10B981"/>
                </a:solidFill>
                <a:latin typeface="Outfit ExtraBold"/>
                <a:ea typeface="Outfit ExtraBold"/>
                <a:cs typeface="Outfit ExtraBold"/>
                <a:sym typeface="Outfit ExtraBold"/>
              </a:rPr>
              <a:t>Lab: Building the Pipeline</a:t>
            </a:r>
            <a:endParaRPr/>
          </a:p>
        </p:txBody>
      </p:sp>
      <p:sp>
        <p:nvSpPr>
          <p:cNvPr id="234" name="Google Shape;234;p21"/>
          <p:cNvSpPr/>
          <p:nvPr/>
        </p:nvSpPr>
        <p:spPr>
          <a:xfrm>
            <a:off x="771525" y="1200150"/>
            <a:ext cx="10648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066800" y="4062412"/>
            <a:ext cx="27686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See the difference between Zero and Few-shot extraction speed and accuracy.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4711749" y="4062412"/>
            <a:ext cx="27686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Trigger CoT to solve complex logic and see the "thought process" logs.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8356699" y="4062412"/>
            <a:ext cx="27686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 Instructor to pull structured metadata directly into Python variables.</a:t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4310776" y="1538287"/>
            <a:ext cx="3570446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10B981"/>
                </a:solidFill>
                <a:latin typeface="Outfit"/>
                <a:ea typeface="Outfit"/>
                <a:cs typeface="Outfit"/>
                <a:sym typeface="Outfit"/>
              </a:rPr>
              <a:t>Summary</a:t>
            </a:r>
            <a:endParaRPr/>
          </a:p>
        </p:txBody>
      </p:sp>
      <p:pic>
        <p:nvPicPr>
          <p:cNvPr descr="image.png" id="245" name="Google Shape;24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7087" y="29194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7087" y="34718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7087" y="4024312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4148137" y="4919662"/>
            <a:ext cx="389572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Session 1.2 Complete. Questions?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3795712" y="2881312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Mastered Role Prompting and the Shot Framework.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3795712" y="3433762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Implemented reasoning via CoT and Self-Consistency.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3795712" y="3986212"/>
            <a:ext cx="50292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Built deterministic JSON pipelines with Pydantic.</a:t>
            </a:r>
            <a:endParaRPr/>
          </a:p>
        </p:txBody>
      </p:sp>
      <p:pic>
        <p:nvPicPr>
          <p:cNvPr id="252" name="Google Shape;25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52719" y="147551"/>
            <a:ext cx="1560581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