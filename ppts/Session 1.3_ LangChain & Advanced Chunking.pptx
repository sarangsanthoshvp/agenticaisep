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Outfit ExtraBold"/>
      <p:bold r:id="rId20"/>
    </p:embeddedFont>
    <p:embeddedFont>
      <p:font typeface="Outfit"/>
      <p:regular r:id="rId21"/>
      <p:bold r:id="rId22"/>
    </p:embeddedFont>
    <p:embeddedFont>
      <p:font typeface="Outfit SemiBold"/>
      <p:regular r:id="rId23"/>
      <p:bold r:id="rId24"/>
    </p:embeddedFont>
    <p:embeddedFont>
      <p:font typeface="JetBrains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BD2281-D994-4CAB-BCB1-B9BEE5CC662A}">
  <a:tblStyle styleId="{4ABD2281-D994-4CAB-BCB1-B9BEE5CC662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ExtraBold-bold.fntdata"/><Relationship Id="rId22" Type="http://schemas.openxmlformats.org/officeDocument/2006/relationships/font" Target="fonts/Outfit-bold.fntdata"/><Relationship Id="rId21" Type="http://schemas.openxmlformats.org/officeDocument/2006/relationships/font" Target="fonts/Outfit-regular.fntdata"/><Relationship Id="rId24" Type="http://schemas.openxmlformats.org/officeDocument/2006/relationships/font" Target="fonts/OutfitSemiBold-bold.fntdata"/><Relationship Id="rId23" Type="http://schemas.openxmlformats.org/officeDocument/2006/relationships/font" Target="fonts/Outfit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bold.fntdata"/><Relationship Id="rId25" Type="http://schemas.openxmlformats.org/officeDocument/2006/relationships/font" Target="fonts/JetBrainsMono-regular.fntdata"/><Relationship Id="rId28" Type="http://schemas.openxmlformats.org/officeDocument/2006/relationships/font" Target="fonts/JetBrainsMono-boldItalic.fntdata"/><Relationship Id="rId27" Type="http://schemas.openxmlformats.org/officeDocument/2006/relationships/font" Target="fonts/JetBrains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5.png"/><Relationship Id="rId5" Type="http://schemas.openxmlformats.org/officeDocument/2006/relationships/image" Target="../media/image27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Relationship Id="rId4" Type="http://schemas.openxmlformats.org/officeDocument/2006/relationships/image" Target="../media/image25.png"/><Relationship Id="rId11" Type="http://schemas.openxmlformats.org/officeDocument/2006/relationships/image" Target="../media/image5.png"/><Relationship Id="rId10" Type="http://schemas.openxmlformats.org/officeDocument/2006/relationships/image" Target="../media/image17.png"/><Relationship Id="rId9" Type="http://schemas.openxmlformats.org/officeDocument/2006/relationships/image" Target="../media/image37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Relationship Id="rId4" Type="http://schemas.openxmlformats.org/officeDocument/2006/relationships/image" Target="../media/image6.png"/><Relationship Id="rId5" Type="http://schemas.openxmlformats.org/officeDocument/2006/relationships/image" Target="../media/image39.png"/><Relationship Id="rId6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8.png"/><Relationship Id="rId6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Relationship Id="rId4" Type="http://schemas.openxmlformats.org/officeDocument/2006/relationships/image" Target="../media/image40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4987" y="1815405"/>
            <a:ext cx="9620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70571" y="2910780"/>
            <a:ext cx="685085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F8FAF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Session 1.3: LangChain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500" u="none" cap="none" strike="noStrike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Advanced Chunking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19400" y="4615755"/>
            <a:ext cx="65532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Orchestrating Semantic Data Pipelines for Enterprise AI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743200"/>
            <a:ext cx="518160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3990975"/>
            <a:ext cx="5181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200150" y="485775"/>
            <a:ext cx="10831353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The Illusion of Infinite Memory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676275" y="1104900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5334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76275" y="2743200"/>
            <a:ext cx="544068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Strict Operational Limits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6275" y="3190875"/>
            <a:ext cx="5181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LLMs operate within a defined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Context Window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. It is the active RAM of the neural network.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81775" y="2990850"/>
            <a:ext cx="49206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9E0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Quadratic Scaling: $O(n^2)$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81775" y="3438525"/>
            <a:ext cx="468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The "Attention Mechanism" compares every token to every other token. Compute power required doesn't double—it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quadruples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with input size.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4181475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3F5E"/>
                </a:solidFill>
                <a:latin typeface="Outfit"/>
                <a:ea typeface="Outfit"/>
                <a:cs typeface="Outfit"/>
                <a:sym typeface="Outfit"/>
              </a:rPr>
              <a:t>Fatal Error:</a:t>
            </a:r>
            <a:r>
              <a:rPr b="0" i="0" lang="en-US" sz="1500" u="none" cap="none" strike="noStrike">
                <a:solidFill>
                  <a:srgbClr val="F43F5E"/>
                </a:solidFill>
                <a:latin typeface="Outfit"/>
                <a:ea typeface="Outfit"/>
                <a:cs typeface="Outfit"/>
                <a:sym typeface="Outfit"/>
              </a:rPr>
              <a:t> Feeding 128,001 tokens into a 128k window crashes the system instantly.</a:t>
            </a:r>
            <a:endParaRPr/>
          </a:p>
        </p:txBody>
      </p:sp>
      <p:pic>
        <p:nvPicPr>
          <p:cNvPr id="102" name="Google Shape;10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1247763"/>
            <a:ext cx="10839451" cy="5019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1200150" y="485775"/>
            <a:ext cx="10831353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The "Needle in a Haystack" Gap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676275" y="1104900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5334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676275" y="1843087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Large windows don't guarantee accuracy. Accuracy follows a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U-Shaped Curve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76275" y="5576887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The Solution: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Chop documents into small, clean, high-context fragments.</a:t>
            </a:r>
            <a:endParaRPr/>
          </a:p>
        </p:txBody>
      </p:sp>
      <p:pic>
        <p:nvPicPr>
          <p:cNvPr id="113" name="Google Shape;11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157412"/>
            <a:ext cx="518160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0050" y="2852737"/>
            <a:ext cx="180975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62937" y="3814762"/>
            <a:ext cx="13239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72450" y="4776787"/>
            <a:ext cx="15049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1295400" y="485775"/>
            <a:ext cx="10731341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LangChain: The Orchestration Layer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676275" y="1104900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5334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676275" y="3181350"/>
            <a:ext cx="544068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AI Plumbing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76275" y="3629025"/>
            <a:ext cx="518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Standardized Python framework for building LLM applications. It handles the "glue code" between raw data and APIs.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581775" y="2405062"/>
            <a:ext cx="49206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Core Workflow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39200" y="349091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39200" y="445293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767012"/>
            <a:ext cx="51816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3967162"/>
            <a:ext cx="5181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1200150" y="485775"/>
            <a:ext cx="10831353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The PDF Extraction Challenge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676275" y="1104900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5334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676275" y="2767012"/>
            <a:ext cx="544068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Coordinates vs Semantics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76275" y="3214687"/>
            <a:ext cx="5181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PDFs store "Bounding Boxes" (X/Y coordinates) for printing. They have no concept of "sentences" or "headers."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581775" y="3014662"/>
            <a:ext cx="49206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PyPDFLoader Solution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581775" y="3462337"/>
            <a:ext cx="468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Parses visual structures into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Document Objects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containing: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14400" y="4157662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open('file.pdf').read() returns raw byte gibberish.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724650" y="4148137"/>
            <a:ext cx="47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772275" y="4167187"/>
            <a:ext cx="4495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page_content (Raw text)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724650" y="4367212"/>
            <a:ext cx="47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772275" y="4386262"/>
            <a:ext cx="4495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metadata (Page #, Source)</a:t>
            </a:r>
            <a:endParaRPr/>
          </a:p>
        </p:txBody>
      </p:sp>
      <p:pic>
        <p:nvPicPr>
          <p:cNvPr id="149" name="Google Shape;14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/>
          <p:nvPr/>
        </p:nvSpPr>
        <p:spPr>
          <a:xfrm>
            <a:off x="1200150" y="485775"/>
            <a:ext cx="10831353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Splitting Strategy Comparison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676275" y="1104900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533400"/>
            <a:ext cx="381000" cy="381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18"/>
          <p:cNvGraphicFramePr/>
          <p:nvPr/>
        </p:nvGraphicFramePr>
        <p:xfrm>
          <a:off x="676275" y="1962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{4ABD2281-D994-4CAB-BCB1-B9BEE5CC662A}</a:tableStyleId>
              </a:tblPr>
              <a:tblGrid>
                <a:gridCol w="1810200"/>
                <a:gridCol w="4110325"/>
                <a:gridCol w="4909400"/>
              </a:tblGrid>
              <a:tr h="48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Technique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Logic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Naive Splitting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Split every N characters.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Slices words in half (e.g. "infra-structure"). Destroys context.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Recursive Splitting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Splits at Paragraphs, then Sentences, then Words.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Outfit"/>
                          <a:ea typeface="Outfit"/>
                          <a:cs typeface="Outfit"/>
                          <a:sym typeface="Outfit"/>
                        </a:rPr>
                        <a:t>Preserves semantic meaning and linguistic integrity.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8" name="Google Shape;15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4519612"/>
            <a:ext cx="108394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3090862"/>
            <a:ext cx="2316956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7106" y="3090862"/>
            <a:ext cx="2316956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57937" y="3090862"/>
            <a:ext cx="2316956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98768" y="3090862"/>
            <a:ext cx="2316956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1247775" y="485775"/>
            <a:ext cx="107813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Recursive Logic Hierarchy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676275" y="1104900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" y="5334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676275" y="2214562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The splitter attempts to split using these separators in order:</a:t>
            </a:r>
            <a:endParaRPr/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83731" y="3357562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24562" y="3357562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65393" y="3357562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914400" y="4710112"/>
            <a:ext cx="104108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Recursion: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If a paragraph is too big, it drops to lines. If a line is too big, it drops to words. It never cuts mid-word unless forced.</a:t>
            </a:r>
            <a:endParaRPr/>
          </a:p>
        </p:txBody>
      </p:sp>
      <p:pic>
        <p:nvPicPr>
          <p:cNvPr id="176" name="Google Shape;176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3105150"/>
            <a:ext cx="5181600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1247775" y="485775"/>
            <a:ext cx="107813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The Future: Semantic Chunking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676275" y="1104900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5334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676275" y="3333750"/>
            <a:ext cx="544068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Intent-Based Splits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76275" y="3781425"/>
            <a:ext cx="5181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Uses AI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Embeddings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to measure the "distance" between sentences. It cuts the document only when the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topic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changes.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581775" y="3352800"/>
            <a:ext cx="49206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9E0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Workflow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667500" y="3781425"/>
            <a:ext cx="104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1.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772275" y="3800475"/>
            <a:ext cx="4495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Convert text to vectors.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638925" y="3971925"/>
            <a:ext cx="133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2.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772275" y="3990975"/>
            <a:ext cx="4495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Calculate cosine similarity.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638925" y="4162425"/>
            <a:ext cx="133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3.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772275" y="4181475"/>
            <a:ext cx="4495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Split where similarity drops below a threshold.</a:t>
            </a:r>
            <a:endParaRPr/>
          </a:p>
        </p:txBody>
      </p:sp>
      <p:pic>
        <p:nvPicPr>
          <p:cNvPr id="194" name="Google Shape;19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3933825"/>
            <a:ext cx="1083945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4905375"/>
            <a:ext cx="1083945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1295400" y="485775"/>
            <a:ext cx="10731341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Solving the Boundary Problem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676275" y="1104900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3" name="Google Shape;20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5334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676275" y="2019300"/>
            <a:ext cx="113814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Why Overlap?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76275" y="2752725"/>
            <a:ext cx="10839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If you split exactly between paragraphs, you lose the "connective tissue." Chunk A gets the question; Chunk B gets the answer. Separated, they are useless.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914400" y="4124325"/>
            <a:ext cx="10410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The Fix: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Force a 10-20% overlap (e.g., 200 chars). Chunk 2 "rewinds" into the end of Chunk 1.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876300" y="5105400"/>
            <a:ext cx="3143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Chunk 1: ...project lead is Tony.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876300" y="5305425"/>
            <a:ext cx="4667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Chunk 2: project lead is Tony. He is reviewing...</a:t>
            </a:r>
            <a:endParaRPr/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700337"/>
            <a:ext cx="518160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3967162"/>
            <a:ext cx="5181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1200150" y="485775"/>
            <a:ext cx="10831353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Metadata: The Identity of Data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676275" y="1104900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8" name="Google Shape;21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5334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676275" y="2767012"/>
            <a:ext cx="544068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Avoiding "Context Soup"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76275" y="3214687"/>
            <a:ext cx="5181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When you shatter a document into 1,000 fragments, they lose their identity. Metadata ensures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Traceability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581775" y="2947987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772275" y="3252787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'source': 'Q4_Report.pdf',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772275" y="3557587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'page': 14,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772275" y="3862387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'author': 'Jaymin',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772275" y="4167187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'category': 'Audit'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581775" y="4471987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914400" y="4157662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Attach page numbers, source URLs, and department tags to every chunk.</a:t>
            </a:r>
            <a:endParaRPr/>
          </a:p>
        </p:txBody>
      </p:sp>
      <p:pic>
        <p:nvPicPr>
          <p:cNvPr id="228" name="Google Shape;22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3086100"/>
            <a:ext cx="51816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3086100"/>
            <a:ext cx="518160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1200150" y="485775"/>
            <a:ext cx="10831353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Advanced Metadata Engineering</a:t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676275" y="1104900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7" name="Google Shape;23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5334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676275" y="1603175"/>
            <a:ext cx="10839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Metadata isn't just for citations; it's for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Pre-filtering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in search.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676275" y="4924425"/>
            <a:ext cx="10839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9E0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"Garbage In, Garbage Out. Metadata is the filter for garbage."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923925" y="3333750"/>
            <a:ext cx="49206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Temporal Filtering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923925" y="3781425"/>
            <a:ext cx="468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Filter chunks based on document_date to ensure the AI doesn't use outdated policies from 2021.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6581775" y="3333750"/>
            <a:ext cx="49206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Departmental Bias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6581775" y="3781425"/>
            <a:ext cx="468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Restrict search space to dept: Engineering to prevent finance-related noise in technical queries.</a:t>
            </a:r>
            <a:endParaRPr/>
          </a:p>
        </p:txBody>
      </p:sp>
      <p:pic>
        <p:nvPicPr>
          <p:cNvPr id="244" name="Google Shape;24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2157412"/>
            <a:ext cx="518160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57412"/>
            <a:ext cx="5181600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 txBox="1"/>
          <p:nvPr/>
        </p:nvSpPr>
        <p:spPr>
          <a:xfrm>
            <a:off x="1295400" y="485775"/>
            <a:ext cx="10731341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38BDF8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The Hands-On Lab: End-to-End Pipeline</a:t>
            </a:r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676275" y="1104900"/>
            <a:ext cx="108394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3" name="Google Shape;25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5334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923925" y="240506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1. Load Document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923925" y="270986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loader = PyPDFLoader("Audit.pdf")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923925" y="301466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pages = loader.load()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923925" y="349091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2. Configure Splitter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923925" y="3795712"/>
            <a:ext cx="468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splitter = RecursiveCharacterTextSplitter(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923925" y="440531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chunk_size=1000, chunk_overlap=200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923925" y="471011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923925" y="501491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chunks = splitter.split_documents(pages)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6581775" y="240506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3. Inject Enterprise Metadata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6581775" y="270986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chunk in chunks: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6581775" y="301466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if "BUDGET" in chunk.page_content: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6581775" y="3319462"/>
            <a:ext cx="468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  chunk.metadata['category'] = "Finance"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6581775" y="392906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chunk.metadata['project'] = "AuditQ4"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6581775" y="440531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Result: Shattered text is now a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6581775" y="4710112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traceable, tagged enterprise asset.</a:t>
            </a:r>
            <a:endParaRPr/>
          </a:p>
        </p:txBody>
      </p:sp>
      <p:pic>
        <p:nvPicPr>
          <p:cNvPr id="269" name="Google Shape;269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237" y="4610992"/>
            <a:ext cx="76295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156120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3190636" y="2561332"/>
            <a:ext cx="581072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F8FAF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Session 1.3 Complete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2286000" y="3437632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Foundation built. From quadratic compute limits to surgery-grade document chunking.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2519362" y="4801492"/>
            <a:ext cx="7200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Next Step: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Inserting these chunks into a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Vector Database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for Semantic Search (RAG).</a:t>
            </a:r>
            <a:endParaRPr/>
          </a:p>
        </p:txBody>
      </p:sp>
      <p:pic>
        <p:nvPicPr>
          <p:cNvPr id="279" name="Google Shape;27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