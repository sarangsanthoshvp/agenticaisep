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utfit"/>
      <p:regular r:id="rId29"/>
      <p:bold r:id="rId30"/>
    </p:embeddedFont>
    <p:embeddedFont>
      <p:font typeface="Outfit SemiBo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31C008-9328-4667-B239-19E94B8814C7}">
  <a:tblStyle styleId="{FA31C008-9328-4667-B239-19E94B8814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utfi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utfitSemiBold-regular.fntdata"/><Relationship Id="rId30" Type="http://schemas.openxmlformats.org/officeDocument/2006/relationships/font" Target="fonts/Outfi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utfit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30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Relationship Id="rId7" Type="http://schemas.openxmlformats.org/officeDocument/2006/relationships/image" Target="../media/image36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27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3.png"/><Relationship Id="rId5" Type="http://schemas.openxmlformats.org/officeDocument/2006/relationships/image" Target="../media/image24.png"/><Relationship Id="rId6" Type="http://schemas.openxmlformats.org/officeDocument/2006/relationships/image" Target="../media/image39.png"/><Relationship Id="rId7" Type="http://schemas.openxmlformats.org/officeDocument/2006/relationships/image" Target="../media/image28.png"/><Relationship Id="rId8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10" Type="http://schemas.openxmlformats.org/officeDocument/2006/relationships/image" Target="../media/image5.png"/><Relationship Id="rId9" Type="http://schemas.openxmlformats.org/officeDocument/2006/relationships/image" Target="../media/image34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51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9" Type="http://schemas.openxmlformats.org/officeDocument/2006/relationships/image" Target="../media/image5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Relationship Id="rId7" Type="http://schemas.openxmlformats.org/officeDocument/2006/relationships/image" Target="../media/image44.png"/><Relationship Id="rId8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Relationship Id="rId6" Type="http://schemas.openxmlformats.org/officeDocument/2006/relationships/image" Target="../media/image54.png"/><Relationship Id="rId7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52.png"/><Relationship Id="rId6" Type="http://schemas.openxmlformats.org/officeDocument/2006/relationships/image" Target="../media/image49.png"/><Relationship Id="rId7" Type="http://schemas.openxmlformats.org/officeDocument/2006/relationships/image" Target="../media/image45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375" y="1474589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10464" y="2712839"/>
            <a:ext cx="8571000" cy="1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Session 2.1: 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Embeddings &amp; Vector Math</a:t>
            </a:r>
            <a:endParaRPr sz="1100"/>
          </a:p>
        </p:txBody>
      </p:sp>
      <p:sp>
        <p:nvSpPr>
          <p:cNvPr id="87" name="Google Shape;87;p13"/>
          <p:cNvSpPr txBox="1"/>
          <p:nvPr/>
        </p:nvSpPr>
        <p:spPr>
          <a:xfrm>
            <a:off x="1571625" y="4640460"/>
            <a:ext cx="9048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Core Mechanics of Semantic Intelligence: Translating human abstract thought into deterministic high-dimensional coordinate systems.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21073"/>
            <a:ext cx="5048250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21073"/>
            <a:ext cx="504825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00150" y="2359223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Legacy Lexical Matching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00150" y="2816423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Computers historically viewed language as strict binary character overlaps (ASCII/UTF-8). In a traditional SQL database, a search for "Dog" ignores "Puppy".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00150" y="4197548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Lexical matching is blind to meaning. It requires 100% character precision, failing instantly when synonymous intent is presented.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19900" y="2359223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Modern Semantic Geometry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19900" y="2816423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Embeddings solve the sensory problem by mapping text to numerical vectors. In this space, proximity in distance represents relatedness in human concept.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19900" y="4197548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Machines can now "understand" that "Puppy is joyful" and "Dog is happy" are semantically identical by measuring their coordinate distance.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7493" y="424517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7243" y="424517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The Evolution of Semantic Search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21098"/>
            <a:ext cx="336545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121098"/>
            <a:ext cx="336545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21098"/>
            <a:ext cx="336545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87914" y="3302198"/>
            <a:ext cx="27136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Bag of Words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152525" y="3759398"/>
            <a:ext cx="2584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Treats documents as simple collections of word counts. It strips away grammar, sentence structure, and crucial word order.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39115" y="3302198"/>
            <a:ext cx="27136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Logical Collapse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803725" y="3759398"/>
            <a:ext cx="2584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"The man bit the dog" vs. "The dog bit the man" are identical in a BoW model. Contextual meaning is completely destroyed.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90315" y="3302198"/>
            <a:ext cx="27136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TF-IDF Limits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54925" y="3759398"/>
            <a:ext cx="2584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While TF-IDF helps filter noise, it remains a purely statistical keyword tool with no understanding of conceptual similarity.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8900" y="255924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826" y="2559248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8451" y="2559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Why Legacy Search Fails at Scale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1706760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381750" y="2297310"/>
            <a:ext cx="53006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The 2D Coordinate Analogy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275451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Imagine mapping words based on specific human traits as axes: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454521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 these rules, "Dog" [0.9, 0.9] and "Wolf" [0.9, 0.1] are neighbors. "Helicopter" [0.0, 0.0] is miles away.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Meaning is now distance.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1744860"/>
            <a:ext cx="42100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762750" y="3564135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X-Axis: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Animal-like (0.0 to 1.0)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762750" y="4021335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Y-Axis: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Domesticated (0.0 to 1.0)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61652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73723"/>
            <a:ext cx="952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The Geometry of Meaning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121122"/>
            <a:ext cx="504825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0" y="3388072"/>
            <a:ext cx="42862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62000" y="3035647"/>
            <a:ext cx="5048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Queen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4369147"/>
            <a:ext cx="5048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Geometric Intersection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762750" y="1502122"/>
            <a:ext cx="45005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The 2013 Breakthrough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62750" y="1959322"/>
            <a:ext cx="4286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Researchers proved that mapping words to vectors enables true linguistic algebra. By adding/subtracting vectors, we navigate concepts.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762750" y="5054947"/>
            <a:ext cx="4286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neural network discovered royalty and gender independently by analyzing the statistical proximity of words in massive datasets.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90600" y="279201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Algebra on Language: Word2Vec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762000" y="279201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55466"/>
            <a:ext cx="45720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762000"/>
            <a:ext cx="4800600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High-Dimensional Space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762000" y="2064841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 models navigate hundreds or thousands of dimensions in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High-Dimensional Hypersphere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52525" y="3645991"/>
            <a:ext cx="39804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The 768D Standard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52525" y="5545985"/>
            <a:ext cx="37911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These dimensions capture nuanced concepts humans cannot name—capturing formality, sarcasm, and domain-specific logic like audit compliance.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533525" y="4103191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 text-embedding-004: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768 dims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533525" y="4846141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OpenAI text-embedding-3: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3,072 dims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415557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489852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87760"/>
            <a:ext cx="504825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87760"/>
            <a:ext cx="504825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200150" y="2525910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Straight-Line Distance ($L^2$)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200150" y="2983110"/>
            <a:ext cx="4171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Measures literal proximity between vector tips using the Pythagorean theorem. Ideal for physics, but often fails in text processing.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819900" y="2525910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The Magnitude Problem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819900" y="2983110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Euclidean math is sensitive to vector length. A 500-word audit and a 5-word summary point in the same direction but are physically distant due to word count magnitude.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819900" y="4316610"/>
            <a:ext cx="417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Magnitude inflation makes Euclidean distance unreliable for comparing documents of varying lengths.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8275" y="4221360"/>
            <a:ext cx="2871787" cy="515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436423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Search Metric: Euclidean Distance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63948"/>
            <a:ext cx="50482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63948"/>
            <a:ext cx="504825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200150" y="2502098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Inner Product Logic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200150" y="2959298"/>
            <a:ext cx="4171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Calculated by multiplying matching dimensions and summing them. It is the fundamental operation for neural attention.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819900" y="2502098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Shared Directionality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819900" y="2959298"/>
            <a:ext cx="4171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vectors point in the same direction, the score is a large positive number. Opposite directions yield negative numbers.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819900" y="4054673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Like Euclidean, it is sensitive to magnitude. Longer documents produce massive scores that drown out high-quality short semantic matches.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8275" y="4197548"/>
            <a:ext cx="1685627" cy="479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54586" y="410229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The Foundation: Dot Product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59174"/>
            <a:ext cx="5048250" cy="403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59174"/>
            <a:ext cx="5048250" cy="40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1200150" y="2497335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Normalization of Meaning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200150" y="2954535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measuring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Angle ($\theta$)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rather than the distance between points, we strip away the document's length and isolate its intent.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819900" y="2497335"/>
            <a:ext cx="43805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Similarity Benchmarks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819900" y="4345185"/>
            <a:ext cx="4171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Cosine Similarity is the most robust metric for enterprise RAG and cross-document comparison.</a:t>
            </a:r>
            <a:endParaRPr/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8275" y="4801354"/>
            <a:ext cx="1439019" cy="2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200900" y="2954535"/>
            <a:ext cx="3790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1.0 (0°):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Perfectly identical intent.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200900" y="3411735"/>
            <a:ext cx="3790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0.0 (90°):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Orthogonal/Unrelated.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200900" y="3868935"/>
            <a:ext cx="3790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-1.0 (180°):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Exact opposite meaning.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30069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34641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392132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The Gold Standard: Cosine Similarity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762000" y="1487834"/>
            <a:ext cx="10668000" cy="38195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22"/>
          <p:cNvGraphicFramePr/>
          <p:nvPr/>
        </p:nvGraphicFramePr>
        <p:xfrm>
          <a:off x="762000" y="1487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{FA31C008-9328-4667-B239-19E94B8814C7}</a:tableStyleId>
              </a:tblPr>
              <a:tblGrid>
                <a:gridCol w="3318125"/>
                <a:gridCol w="2087750"/>
                <a:gridCol w="2042525"/>
                <a:gridCol w="3219600"/>
              </a:tblGrid>
              <a:tr h="7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Cosine Similarity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Euclidean Distance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MLOps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Synonym Matching (Dog vs. Canine)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 Similarity (~0.9)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Low Distance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Success: Meaning is captured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Length Variance (10 vs. 500 words)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Accurate Angle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 Distance (Fail)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Euclidean distorted by magnitude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Unrelated Noise (AI vs. Cooking)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Low Score (~0.1)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 Distance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Success: Noise is filtered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Negation (Yes vs. NO)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 Error (~0.9)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Low Distance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Both Fail: Negation Neighborhoods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22"/>
          <p:cNvSpPr txBox="1"/>
          <p:nvPr/>
        </p:nvSpPr>
        <p:spPr>
          <a:xfrm>
            <a:off x="762000" y="5640734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Caution: Vector search finds "Neighborhoods," not "Reasoning." Handling negation requires an LLM to read the retrieved chunks in later stages.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762000" y="2378422"/>
            <a:ext cx="33181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4080123" y="2378422"/>
            <a:ext cx="20877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167883" y="2378422"/>
            <a:ext cx="2042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8210401" y="2378422"/>
            <a:ext cx="32195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762000" y="3207097"/>
            <a:ext cx="33181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080123" y="3207097"/>
            <a:ext cx="20877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167883" y="3207097"/>
            <a:ext cx="2042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8210401" y="3207097"/>
            <a:ext cx="32195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762000" y="3835747"/>
            <a:ext cx="33181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080123" y="3835747"/>
            <a:ext cx="20877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167883" y="3835747"/>
            <a:ext cx="2042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8210401" y="3835747"/>
            <a:ext cx="32195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762000" y="4464397"/>
            <a:ext cx="33181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080123" y="4464397"/>
            <a:ext cx="20877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167883" y="4464397"/>
            <a:ext cx="2042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8210401" y="4464397"/>
            <a:ext cx="32195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762000" y="5293072"/>
            <a:ext cx="33181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4080123" y="5293072"/>
            <a:ext cx="20877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167883" y="5293072"/>
            <a:ext cx="20425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8210401" y="5293072"/>
            <a:ext cx="32195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990600" y="645914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Metric Performance Benchmarks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762000" y="645914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21098"/>
            <a:ext cx="336545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121098"/>
            <a:ext cx="336545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21098"/>
            <a:ext cx="336545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087914" y="3302198"/>
            <a:ext cx="27136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RAM Footprint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152525" y="3759398"/>
            <a:ext cx="2584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 768-dim vector (float32) takes ~3KB. At scale, 100M chunks require 300GB of high-speed active RAM.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4739115" y="3302198"/>
            <a:ext cx="27136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Cost of Dimensions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4803725" y="3759398"/>
            <a:ext cx="2584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3,072-dim models cost 4x more to host. However, they often yield only a ~1% increase in semantic retrieval accuracy.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390315" y="3302198"/>
            <a:ext cx="27136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Optimization Goal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454925" y="3759398"/>
            <a:ext cx="2584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Senior engineers prioritize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Efficiency &gt; Excess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Google's 768-dim model is the industry "Sweet Spot" for ROI.</a:t>
            </a:r>
            <a:endParaRPr/>
          </a:p>
        </p:txBody>
      </p:sp>
      <p:pic>
        <p:nvPicPr>
          <p:cNvPr descr="image.png" id="275" name="Google Shape;27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87475" y="255924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251" y="255924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8451" y="2559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Infrastructure &amp; Financial Realities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68660"/>
            <a:ext cx="106680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49885"/>
            <a:ext cx="1066800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1143000" y="2049660"/>
            <a:ext cx="1040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Bi-Encoders (The Searcher)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1143000" y="4230885"/>
            <a:ext cx="1040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Cross-Encoders (The Re-ranker)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1524000" y="2554485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Sub-millisecond latency.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524000" y="3011685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Perfect for searching millions of document chunks instantly.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1524000" y="4735710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Human-level precision.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524000" y="5192910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latency. Used only to re-rank the Top 10 results from the Bi-encoder.</a:t>
            </a:r>
            <a:endParaRPr/>
          </a:p>
        </p:txBody>
      </p:sp>
      <p:pic>
        <p:nvPicPr>
          <p:cNvPr descr="image.png" id="294" name="Google Shape;29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26068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0640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47880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3000" y="524529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Advanced Architectures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4963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762000" y="1963935"/>
            <a:ext cx="53006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Engineering Benchmarks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762000" y="242113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use Python and NumPy to prove the superiority of Cosine Similarity for the 'Extract Once' pipeline.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59160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143000" y="3230760"/>
            <a:ext cx="4667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text-embedding-004 (Google).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143000" y="3697485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Challenge: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Comparing synonyms vs. length discrepancy.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143000" y="4440435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Proof: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Cosine remains &gt;0.99 for artificial length inflation.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762000" y="5250060"/>
            <a:ext cx="5048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"Mapping corporate data to 768D coordinates is the bridge between unstructured noise and surgical automation."</a:t>
            </a:r>
            <a:endParaRPr/>
          </a:p>
        </p:txBody>
      </p:sp>
      <p:pic>
        <p:nvPicPr>
          <p:cNvPr descr="image.png" id="314" name="Google Shape;3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8314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7498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92823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990600" y="762000"/>
            <a:ext cx="1096137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Hands-On: The Embedding Lab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762000" y="762000"/>
            <a:ext cx="57150" cy="460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1187" y="956369"/>
            <a:ext cx="80962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2495550" y="2146994"/>
            <a:ext cx="720090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Summary &amp; Next Steps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2047875" y="3320355"/>
            <a:ext cx="80962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have successfully discarded lexical keyword matching and mastered the geometry of language. We can now map millions of corporate data points into high-dimensional space for sub-millisecond retrieval.</a:t>
            </a:r>
            <a:endParaRPr/>
          </a:p>
        </p:txBody>
      </p:sp>
      <p:pic>
        <p:nvPicPr>
          <p:cNvPr descr="image.png" id="328" name="Google Shape;3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5425380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2150" y="5425380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5625" y="5425380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