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embeddedFontLst>
    <p:embeddedFont>
      <p:font typeface="Poppins"/>
      <p:regular r:id="rId35"/>
      <p:bold r:id="rId36"/>
      <p:italic r:id="rId37"/>
      <p:boldItalic r:id="rId38"/>
    </p:embeddedFont>
    <p:embeddedFont>
      <p:font typeface="Inter"/>
      <p:regular r:id="rId39"/>
      <p:bold r:id="rId40"/>
      <p:italic r:id="rId41"/>
      <p:boldItalic r:id="rId42"/>
    </p:embeddedFont>
    <p:embeddedFont>
      <p:font typeface="Plus Jakarta Sans"/>
      <p:regular r:id="rId43"/>
      <p:bold r:id="rId44"/>
      <p:italic r:id="rId45"/>
      <p:boldItalic r:id="rId46"/>
    </p:embeddedFont>
    <p:embeddedFont>
      <p:font typeface="Plus Jakarta Sans SemiBold"/>
      <p:regular r:id="rId47"/>
      <p:bold r:id="rId48"/>
      <p:italic r:id="rId49"/>
      <p:boldItalic r:id="rId50"/>
    </p:embeddedFont>
    <p:embeddedFont>
      <p:font typeface="Fira Code"/>
      <p:regular r:id="rId51"/>
      <p:bold r:id="rId52"/>
    </p:embeddedFont>
    <p:embeddedFont>
      <p:font typeface="Space Grotesk Medium"/>
      <p:regular r:id="rId53"/>
      <p:bold r:id="rId54"/>
    </p:embeddedFont>
    <p:embeddedFont>
      <p:font typeface="Inter Medium"/>
      <p:regular r:id="rId55"/>
      <p:bold r:id="rId56"/>
      <p:italic r:id="rId57"/>
      <p:boldItalic r:id="rId58"/>
    </p:embeddedFont>
    <p:embeddedFont>
      <p:font typeface="Space Grotesk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7E07F5-1615-453A-8B85-B993601121FF}">
  <a:tblStyle styleId="{877E07F5-1615-453A-8B85-B993601121F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.fntdata"/><Relationship Id="rId42" Type="http://schemas.openxmlformats.org/officeDocument/2006/relationships/font" Target="fonts/Inter-boldItalic.fntdata"/><Relationship Id="rId41" Type="http://schemas.openxmlformats.org/officeDocument/2006/relationships/font" Target="fonts/Inter-italic.fntdata"/><Relationship Id="rId44" Type="http://schemas.openxmlformats.org/officeDocument/2006/relationships/font" Target="fonts/PlusJakartaSans-bold.fntdata"/><Relationship Id="rId43" Type="http://schemas.openxmlformats.org/officeDocument/2006/relationships/font" Target="fonts/PlusJakartaSans-regular.fntdata"/><Relationship Id="rId46" Type="http://schemas.openxmlformats.org/officeDocument/2006/relationships/font" Target="fonts/PlusJakartaSans-boldItalic.fntdata"/><Relationship Id="rId45" Type="http://schemas.openxmlformats.org/officeDocument/2006/relationships/font" Target="fonts/PlusJakart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lusJakartaSansSemiBold-bold.fntdata"/><Relationship Id="rId47" Type="http://schemas.openxmlformats.org/officeDocument/2006/relationships/font" Target="fonts/PlusJakartaSansSemiBold-regular.fntdata"/><Relationship Id="rId49" Type="http://schemas.openxmlformats.org/officeDocument/2006/relationships/font" Target="fonts/PlusJakartaSansSemiBol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Poppins-regular.fntdata"/><Relationship Id="rId34" Type="http://schemas.openxmlformats.org/officeDocument/2006/relationships/slide" Target="slides/slide28.xml"/><Relationship Id="rId37" Type="http://schemas.openxmlformats.org/officeDocument/2006/relationships/font" Target="fonts/Poppins-italic.fntdata"/><Relationship Id="rId36" Type="http://schemas.openxmlformats.org/officeDocument/2006/relationships/font" Target="fonts/Poppins-bold.fntdata"/><Relationship Id="rId39" Type="http://schemas.openxmlformats.org/officeDocument/2006/relationships/font" Target="fonts/Inter-regular.fntdata"/><Relationship Id="rId38" Type="http://schemas.openxmlformats.org/officeDocument/2006/relationships/font" Target="fonts/Poppi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SpaceGrotesk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iraCode-regular.fntdata"/><Relationship Id="rId50" Type="http://schemas.openxmlformats.org/officeDocument/2006/relationships/font" Target="fonts/PlusJakartaSansSemiBold-boldItalic.fntdata"/><Relationship Id="rId53" Type="http://schemas.openxmlformats.org/officeDocument/2006/relationships/font" Target="fonts/SpaceGroteskMedium-regular.fntdata"/><Relationship Id="rId52" Type="http://schemas.openxmlformats.org/officeDocument/2006/relationships/font" Target="fonts/FiraCode-bold.fntdata"/><Relationship Id="rId11" Type="http://schemas.openxmlformats.org/officeDocument/2006/relationships/slide" Target="slides/slide5.xml"/><Relationship Id="rId55" Type="http://schemas.openxmlformats.org/officeDocument/2006/relationships/font" Target="fonts/InterMedium-regular.fntdata"/><Relationship Id="rId10" Type="http://schemas.openxmlformats.org/officeDocument/2006/relationships/slide" Target="slides/slide4.xml"/><Relationship Id="rId54" Type="http://schemas.openxmlformats.org/officeDocument/2006/relationships/font" Target="fonts/SpaceGroteskMedium-bold.fntdata"/><Relationship Id="rId13" Type="http://schemas.openxmlformats.org/officeDocument/2006/relationships/slide" Target="slides/slide7.xml"/><Relationship Id="rId57" Type="http://schemas.openxmlformats.org/officeDocument/2006/relationships/font" Target="fonts/InterMedium-italic.fntdata"/><Relationship Id="rId12" Type="http://schemas.openxmlformats.org/officeDocument/2006/relationships/slide" Target="slides/slide6.xml"/><Relationship Id="rId56" Type="http://schemas.openxmlformats.org/officeDocument/2006/relationships/font" Target="fonts/InterMedium-bold.fntdata"/><Relationship Id="rId15" Type="http://schemas.openxmlformats.org/officeDocument/2006/relationships/slide" Target="slides/slide9.xml"/><Relationship Id="rId59" Type="http://schemas.openxmlformats.org/officeDocument/2006/relationships/font" Target="fonts/SpaceGrotesk-regular.fntdata"/><Relationship Id="rId14" Type="http://schemas.openxmlformats.org/officeDocument/2006/relationships/slide" Target="slides/slide8.xml"/><Relationship Id="rId58" Type="http://schemas.openxmlformats.org/officeDocument/2006/relationships/font" Target="fonts/InterMedium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370058835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370058835_0_4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370058835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d370058835_0_4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3700588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d37005883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37005883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d370058835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d37005883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d370058835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37005883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d370058835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37005883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d370058835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37005883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d370058835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37005883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d370058835_0_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37005883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d370058835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d37005883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d370058835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d37005883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d370058835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370058835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d370058835_0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d370058835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g3d370058835_0_2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d37005883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g3d370058835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370058835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d370058835_0_5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9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4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8.png"/><Relationship Id="rId7" Type="http://schemas.openxmlformats.org/officeDocument/2006/relationships/image" Target="../media/image108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7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5.png"/><Relationship Id="rId9" Type="http://schemas.openxmlformats.org/officeDocument/2006/relationships/image" Target="../media/image2.png"/><Relationship Id="rId5" Type="http://schemas.openxmlformats.org/officeDocument/2006/relationships/image" Target="../media/image29.png"/><Relationship Id="rId6" Type="http://schemas.openxmlformats.org/officeDocument/2006/relationships/image" Target="../media/image36.png"/><Relationship Id="rId7" Type="http://schemas.openxmlformats.org/officeDocument/2006/relationships/image" Target="../media/image40.png"/><Relationship Id="rId8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1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5" Type="http://schemas.openxmlformats.org/officeDocument/2006/relationships/image" Target="../media/image48.png"/><Relationship Id="rId6" Type="http://schemas.openxmlformats.org/officeDocument/2006/relationships/image" Target="../media/image35.png"/><Relationship Id="rId7" Type="http://schemas.openxmlformats.org/officeDocument/2006/relationships/image" Target="../media/image38.png"/><Relationship Id="rId8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44.png"/><Relationship Id="rId6" Type="http://schemas.openxmlformats.org/officeDocument/2006/relationships/image" Target="../media/image39.png"/><Relationship Id="rId7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32.png"/><Relationship Id="rId9" Type="http://schemas.openxmlformats.org/officeDocument/2006/relationships/image" Target="../media/image2.png"/><Relationship Id="rId5" Type="http://schemas.openxmlformats.org/officeDocument/2006/relationships/image" Target="../media/image52.png"/><Relationship Id="rId6" Type="http://schemas.openxmlformats.org/officeDocument/2006/relationships/image" Target="../media/image49.png"/><Relationship Id="rId7" Type="http://schemas.openxmlformats.org/officeDocument/2006/relationships/image" Target="../media/image77.png"/><Relationship Id="rId8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58.png"/><Relationship Id="rId9" Type="http://schemas.openxmlformats.org/officeDocument/2006/relationships/image" Target="../media/image2.png"/><Relationship Id="rId5" Type="http://schemas.openxmlformats.org/officeDocument/2006/relationships/image" Target="../media/image45.png"/><Relationship Id="rId6" Type="http://schemas.openxmlformats.org/officeDocument/2006/relationships/image" Target="../media/image68.png"/><Relationship Id="rId7" Type="http://schemas.openxmlformats.org/officeDocument/2006/relationships/image" Target="../media/image64.png"/><Relationship Id="rId8" Type="http://schemas.openxmlformats.org/officeDocument/2006/relationships/image" Target="../media/image5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57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73.png"/><Relationship Id="rId13" Type="http://schemas.openxmlformats.org/officeDocument/2006/relationships/image" Target="../media/image2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Relationship Id="rId4" Type="http://schemas.openxmlformats.org/officeDocument/2006/relationships/image" Target="../media/image61.png"/><Relationship Id="rId9" Type="http://schemas.openxmlformats.org/officeDocument/2006/relationships/image" Target="../media/image76.png"/><Relationship Id="rId5" Type="http://schemas.openxmlformats.org/officeDocument/2006/relationships/image" Target="../media/image54.png"/><Relationship Id="rId6" Type="http://schemas.openxmlformats.org/officeDocument/2006/relationships/image" Target="../media/image60.png"/><Relationship Id="rId7" Type="http://schemas.openxmlformats.org/officeDocument/2006/relationships/image" Target="../media/image51.png"/><Relationship Id="rId8" Type="http://schemas.openxmlformats.org/officeDocument/2006/relationships/image" Target="../media/image8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image" Target="../media/image70.png"/><Relationship Id="rId5" Type="http://schemas.openxmlformats.org/officeDocument/2006/relationships/image" Target="../media/image59.png"/><Relationship Id="rId6" Type="http://schemas.openxmlformats.org/officeDocument/2006/relationships/image" Target="../media/image65.png"/><Relationship Id="rId7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Relationship Id="rId4" Type="http://schemas.openxmlformats.org/officeDocument/2006/relationships/image" Target="../media/image72.png"/><Relationship Id="rId5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Relationship Id="rId4" Type="http://schemas.openxmlformats.org/officeDocument/2006/relationships/image" Target="../media/image62.png"/><Relationship Id="rId5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67.png"/><Relationship Id="rId5" Type="http://schemas.openxmlformats.org/officeDocument/2006/relationships/image" Target="../media/image83.png"/><Relationship Id="rId6" Type="http://schemas.openxmlformats.org/officeDocument/2006/relationships/image" Target="../media/image80.png"/><Relationship Id="rId7" Type="http://schemas.openxmlformats.org/officeDocument/2006/relationships/image" Target="../media/image75.png"/><Relationship Id="rId8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image" Target="../media/image82.png"/><Relationship Id="rId10" Type="http://schemas.openxmlformats.org/officeDocument/2006/relationships/image" Target="../media/image78.png"/><Relationship Id="rId13" Type="http://schemas.openxmlformats.org/officeDocument/2006/relationships/image" Target="../media/image2.png"/><Relationship Id="rId1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Relationship Id="rId4" Type="http://schemas.openxmlformats.org/officeDocument/2006/relationships/image" Target="../media/image69.png"/><Relationship Id="rId9" Type="http://schemas.openxmlformats.org/officeDocument/2006/relationships/image" Target="../media/image81.png"/><Relationship Id="rId5" Type="http://schemas.openxmlformats.org/officeDocument/2006/relationships/image" Target="../media/image71.png"/><Relationship Id="rId6" Type="http://schemas.openxmlformats.org/officeDocument/2006/relationships/image" Target="../media/image94.png"/><Relationship Id="rId7" Type="http://schemas.openxmlformats.org/officeDocument/2006/relationships/image" Target="../media/image79.png"/><Relationship Id="rId8" Type="http://schemas.openxmlformats.org/officeDocument/2006/relationships/image" Target="../media/image84.png"/></Relationships>
</file>

<file path=ppt/slides/_rels/slide25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3.png"/><Relationship Id="rId4" Type="http://schemas.openxmlformats.org/officeDocument/2006/relationships/image" Target="../media/image105.png"/><Relationship Id="rId9" Type="http://schemas.openxmlformats.org/officeDocument/2006/relationships/image" Target="../media/image90.png"/><Relationship Id="rId5" Type="http://schemas.openxmlformats.org/officeDocument/2006/relationships/image" Target="../media/image89.png"/><Relationship Id="rId6" Type="http://schemas.openxmlformats.org/officeDocument/2006/relationships/image" Target="../media/image86.png"/><Relationship Id="rId7" Type="http://schemas.openxmlformats.org/officeDocument/2006/relationships/image" Target="../media/image88.png"/><Relationship Id="rId8" Type="http://schemas.openxmlformats.org/officeDocument/2006/relationships/image" Target="../media/image85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Relationship Id="rId4" Type="http://schemas.openxmlformats.org/officeDocument/2006/relationships/image" Target="../media/image95.png"/><Relationship Id="rId9" Type="http://schemas.openxmlformats.org/officeDocument/2006/relationships/image" Target="../media/image107.png"/><Relationship Id="rId5" Type="http://schemas.openxmlformats.org/officeDocument/2006/relationships/image" Target="../media/image96.png"/><Relationship Id="rId6" Type="http://schemas.openxmlformats.org/officeDocument/2006/relationships/image" Target="../media/image98.png"/><Relationship Id="rId7" Type="http://schemas.openxmlformats.org/officeDocument/2006/relationships/image" Target="../media/image106.png"/><Relationship Id="rId8" Type="http://schemas.openxmlformats.org/officeDocument/2006/relationships/image" Target="../media/image97.png"/></Relationships>
</file>

<file path=ppt/slides/_rels/slide27.xml.rels><?xml version="1.0" encoding="UTF-8" standalone="yes"?><Relationships xmlns="http://schemas.openxmlformats.org/package/2006/relationships"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Relationship Id="rId4" Type="http://schemas.openxmlformats.org/officeDocument/2006/relationships/image" Target="../media/image58.png"/><Relationship Id="rId9" Type="http://schemas.openxmlformats.org/officeDocument/2006/relationships/image" Target="../media/image99.png"/><Relationship Id="rId5" Type="http://schemas.openxmlformats.org/officeDocument/2006/relationships/image" Target="../media/image104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9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569839"/>
            <a:ext cx="1158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SESSION 3.2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76" y="2089844"/>
            <a:ext cx="11581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Re-ranking &amp; Context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Optimization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556819"/>
            <a:ext cx="76200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the production-grade "Extract Once, Judge Many" pipeline using Two-Stage Retrieval and Contextual Compression.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43100"/>
            <a:ext cx="5324474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81025" y="1675804"/>
            <a:ext cx="5324400" cy="978900"/>
          </a:xfrm>
          <a:prstGeom prst="roundRect">
            <a:avLst>
              <a:gd fmla="val 116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200150" y="1818679"/>
            <a:ext cx="4515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The Bi-Encoder Ceiling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Identify the mathematical limitations and inevitable information loss of standard vector databases (The Net).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81025" y="1675804"/>
            <a:ext cx="38100" cy="978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81025" y="2797671"/>
            <a:ext cx="5324400" cy="978900"/>
          </a:xfrm>
          <a:prstGeom prst="roundRect">
            <a:avLst>
              <a:gd fmla="val 116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200150" y="2940546"/>
            <a:ext cx="4515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Enter the Cross-Encoder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Leveraging deep attention mechanisms as a "Heavyweight Judge" (The Scalpel) to evaluate contextual chemistry.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2797671"/>
            <a:ext cx="38100" cy="978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81025" y="3919537"/>
            <a:ext cx="5324400" cy="978900"/>
          </a:xfrm>
          <a:prstGeom prst="roundRect">
            <a:avLst>
              <a:gd fmla="val 116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200150" y="4062412"/>
            <a:ext cx="4515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Two-Stage Retrieval Pipeline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Architecting the enterprise funnel: high recall base retrieval combined with rigorous, absolute precision re-ranking.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81025" y="3919537"/>
            <a:ext cx="38100" cy="978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81025" y="5041403"/>
            <a:ext cx="5324400" cy="978900"/>
          </a:xfrm>
          <a:prstGeom prst="roundRect">
            <a:avLst>
              <a:gd fmla="val 1167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200150" y="5184278"/>
            <a:ext cx="4515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Contextual Compression</a:t>
            </a: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Trimming the fat by physically slicing irrelevant sentences out of chunks to maximize efficiency and minimize cost.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5041403"/>
            <a:ext cx="38100" cy="978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52625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Course Overview &amp; Agenda</a:t>
            </a:r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00200"/>
            <a:ext cx="508635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71525" y="2614612"/>
            <a:ext cx="534066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Illusion of Accuracy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71525" y="3100387"/>
            <a:ext cx="5086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Week 2, we built a FAISS database. It is blisteringly fast, searching millions of chunks in milliseconds. It feels like the ultimate search engine.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4205287"/>
            <a:ext cx="5086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Hard Truth: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FAISS is fast, but it is fundamentally mathematically flawed when it comes to deep grammatical nuance.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677025" y="2409825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Strict Separation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77025" y="2895600"/>
            <a:ext cx="44005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Models like GoogleGenerativeAIEmbeddings and OpenAI's text-embedding-3 use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Bi-Encoder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architecture.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77025" y="4133850"/>
            <a:ext cx="44005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Bi-Encoder works by strictly separating the Query and the Document. </a:t>
            </a:r>
            <a:r>
              <a:rPr b="1" i="0" lang="en-US" sz="1500" u="none" cap="none" strike="noStrike">
                <a:solidFill>
                  <a:srgbClr val="FDA4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They never actually "see" each other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until the final Cosine calculation.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Bi-Encoder Ceiling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74789"/>
            <a:ext cx="3359050" cy="2461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325" y="3074789"/>
            <a:ext cx="3359199" cy="2461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3074789"/>
            <a:ext cx="3359050" cy="2461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638175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771525" y="2341364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the standard LangChain retrieval process actually works under the hood: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9175" y="3351014"/>
            <a:ext cx="28637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47581" y="3970139"/>
            <a:ext cx="30069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Ingestion (Offline)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19175" y="4170164"/>
            <a:ext cx="2863750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network reads a corporate PDF chunk. It compresses the entire meaning into a single 768D vector and saves it to FAISS.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975" y="3472904"/>
            <a:ext cx="2863899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4592378" y="4092029"/>
            <a:ext cx="300709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Search (Online)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663975" y="4292054"/>
            <a:ext cx="2863899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network reads the user's prompt. It compresses the prompt into a completely separate 768D vector.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08925" y="3472904"/>
            <a:ext cx="28637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8237331" y="4092029"/>
            <a:ext cx="300693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Comparison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08925" y="4292054"/>
            <a:ext cx="28637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basic algorithm (Cosine Similarity) calculates the mathematical angle between the two independent vectors.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438275" y="581025"/>
            <a:ext cx="1048131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Bi-Encoder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Mechanics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1365" y="1600200"/>
            <a:ext cx="4069109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771525" y="2767012"/>
            <a:ext cx="640876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Information Loss is Inevitable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71525" y="3252787"/>
            <a:ext cx="610359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Imagine taking a dense, 500-word paragraph detailing a highly complex server architecture failure, complete with specific error codes, author names, and timestamps.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71525" y="4357687"/>
            <a:ext cx="610359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force the embedding model to compress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of that rich, grammatical nuance into exactly 768 numbers.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4845" y="282222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8293209" y="3774727"/>
            <a:ext cx="218527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Loss of Direction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7646640" y="4260502"/>
            <a:ext cx="347855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Compression destroys the subtle directional relationship between words in a sentence.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Compression Bottleneck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032" y="2166937"/>
            <a:ext cx="958393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481387"/>
            <a:ext cx="508635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481387"/>
            <a:ext cx="5086350" cy="286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66737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71525" y="1528762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Now, the user asks a tricky, nuanced question: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114425" y="4005262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Space Grotesk"/>
                <a:ea typeface="Space Grotesk"/>
                <a:cs typeface="Space Grotesk"/>
                <a:sym typeface="Space Grotesk"/>
              </a:rPr>
              <a:t>Topics Captured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114425" y="4491037"/>
            <a:ext cx="44005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the Bi-Encoder converts this question into 768 numbers, it accurately captures the overarching "topics":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Tony, Server, Cache, Failure.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677025" y="3852862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Nuance Destroyed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677025" y="4338637"/>
            <a:ext cx="44005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Because it compresses the entire sentence into one point in space, FAISS will proudly return ANY document containing those 4 words, completely ignoring the actual cause-and-effect relationship requested.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333500" y="509587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Directional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Failure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771525" y="1185862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318396"/>
            <a:ext cx="10648950" cy="19585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333625"/>
            <a:ext cx="5086350" cy="1699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333625"/>
            <a:ext cx="5086350" cy="16990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638175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771525" y="1600200"/>
            <a:ext cx="10648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Because of heavy compression, Bi-Encoders suffer from severe "bag-of-words" blindness.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971550" y="5007173"/>
            <a:ext cx="1024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 a human, these are complete opposites. To a Bi-Encoder, the vocabulary is 100% identical. The vectors stack on top of each other.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FAISS will fail.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066800" y="2628900"/>
            <a:ext cx="472059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Query A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066800" y="2924175"/>
            <a:ext cx="44958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"How to get a work visa for </a:t>
            </a:r>
            <a:r>
              <a:rPr b="1" i="0" lang="en-US" sz="1650" u="none" cap="none" strike="noStrike">
                <a:solidFill>
                  <a:srgbClr val="14B8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Canada</a:t>
            </a:r>
            <a:r>
              <a:rPr b="0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from the </a:t>
            </a:r>
            <a:r>
              <a:rPr b="1" i="0" lang="en-US" sz="1650" u="none" cap="none" strike="noStrike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United States</a:t>
            </a:r>
            <a:r>
              <a:rPr b="0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."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629400" y="2628900"/>
            <a:ext cx="472059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Query B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629400" y="2924175"/>
            <a:ext cx="449580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"How to get a work visa for the </a:t>
            </a:r>
            <a:r>
              <a:rPr b="1" i="0" lang="en-US" sz="1650" u="none" cap="none" strike="noStrike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United States</a:t>
            </a:r>
            <a:r>
              <a:rPr b="0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from </a:t>
            </a:r>
            <a:r>
              <a:rPr b="1" i="0" lang="en-US" sz="1650" u="none" cap="none" strike="noStrike">
                <a:solidFill>
                  <a:srgbClr val="14B8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Canada</a:t>
            </a:r>
            <a:r>
              <a:rPr b="0" i="0" lang="en-US" sz="16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."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285875" y="581025"/>
            <a:ext cx="1064133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Classic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NLP Edge Case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00200"/>
            <a:ext cx="508635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771525" y="2614612"/>
            <a:ext cx="534066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Does this mean FAISS is useless?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71525" y="3100387"/>
            <a:ext cx="5086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Absolutely not. Bi-Encoders have one massive advantage: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Speed.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Because document vectors are pre-computed in RAM, you can search 1 billion documents in 10 milliseconds.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71525" y="4510087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FAISS is the </a:t>
            </a:r>
            <a:r>
              <a:rPr b="1" i="0" lang="en-US" sz="1500" u="none" cap="none" strike="noStrike">
                <a:solidFill>
                  <a:srgbClr val="14B8A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We cast it wide to catch the top 30 roughly relevant chunks instantly.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77025" y="2466975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Heavyweight Judge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677025" y="2952750"/>
            <a:ext cx="4400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 cannot trust the top 3 results from FAISS for a strict "Extract Once" pipeline.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677025" y="3895725"/>
            <a:ext cx="44005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Before handing chunks to the generative LLM, we need a </a:t>
            </a:r>
            <a:r>
              <a:rPr b="1" i="0" lang="en-US" sz="1500" u="none" cap="none" strike="noStrike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Scalpel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to inspect them, score them flawlessly, and throw away the garbage.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567011" y="5143500"/>
            <a:ext cx="462057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5B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Enter the Cross-Encoder.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438275" y="581025"/>
            <a:ext cx="1048131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Net</a:t>
            </a: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vs The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Scalpel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68922"/>
            <a:ext cx="10648950" cy="37775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4425" y="4369147"/>
            <a:ext cx="9963150" cy="1043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68672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771525" y="1530697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Cross-Encoder does not use Cosine Similarity. It Abandons the Bi-Encoder's "blind matchmaking" for the raw, uncompressed power of the Transformer's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Full Self-Attention Mechanism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114425" y="2940397"/>
            <a:ext cx="1046130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Simultaneous Input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114425" y="3426172"/>
            <a:ext cx="9963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do not embed the query and document separately. You concatenate them into a single, massive string of text, separated by a special classification token.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1114425" y="5555902"/>
            <a:ext cx="9963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5B4F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The neural network reads this entire string at the exact same time.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1538287" y="4635847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[CLS]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624512" y="4635847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[SEP]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7981950" y="4910137"/>
            <a:ext cx="523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43F5E"/>
                </a:solidFill>
                <a:latin typeface="Fira Code"/>
                <a:ea typeface="Fira Code"/>
                <a:cs typeface="Fira Code"/>
                <a:sym typeface="Fira Code"/>
              </a:rPr>
              <a:t>[SEP]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333500" y="511522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 of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True Comprehension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771525" y="1187797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838575"/>
            <a:ext cx="1064895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5238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771525" y="1600200"/>
            <a:ext cx="111813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It Works Flawlessly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771525" y="2085975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Inside the layers of the Cross-Encoder, every single word mathematically "looks" at every other word to establish context.</a:t>
            </a:r>
            <a:endParaRPr/>
          </a:p>
        </p:txBody>
      </p:sp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9750" y="4231034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4813339" y="5183534"/>
            <a:ext cx="25653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Attention Crossover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2714625" y="5669309"/>
            <a:ext cx="6762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model perfectly understands directional grammar, solving the Canada/US visa edge case.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200150" y="2886075"/>
            <a:ext cx="10220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word "rate" in the question looks specifically at the number "15%" in the document.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200150" y="3362325"/>
            <a:ext cx="10220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word "OCR" binds directly to "scanners".</a:t>
            </a:r>
            <a:endParaRPr/>
          </a:p>
        </p:txBody>
      </p:sp>
      <p:pic>
        <p:nvPicPr>
          <p:cNvPr descr="image.png" id="248" name="Google Shape;24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29241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34004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1438275" y="581025"/>
            <a:ext cx="1048131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Cross-Attention Matrix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86100"/>
            <a:ext cx="50863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086100"/>
            <a:ext cx="508635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771525" y="2047875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After reading the combined text, the Cross-Encoder does not generate a conversational answer. It outputs a single, highly precise floating-point number (a logit score).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1004411" y="3457575"/>
            <a:ext cx="462057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0.01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1004411" y="4391025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Space Grotesk"/>
                <a:ea typeface="Space Grotesk"/>
                <a:cs typeface="Space Grotesk"/>
                <a:sym typeface="Space Grotesk"/>
              </a:rPr>
              <a:t>Garbage Match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1114425" y="4876800"/>
            <a:ext cx="4400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document absolutely does not answer the user's specific question.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567011" y="3457575"/>
            <a:ext cx="462057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0.99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567011" y="4391025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Perfect Match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677025" y="4876800"/>
            <a:ext cx="4400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document is a flawless, undeniable factual match for the question's exact intent.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Output Score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00200"/>
            <a:ext cx="508635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638175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771525" y="2262187"/>
            <a:ext cx="534066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$O(N)$ Computation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771525" y="2747962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If Cross-Encoders are so brilliant, why don't we use them to search all 1 million corporate PDFs?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771525" y="3500437"/>
            <a:ext cx="50863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 a Cross-Encoder, you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cannot pre-compute anything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The interaction depends entirely on the specific combination of the exact query and the specific document.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771525" y="4862512"/>
            <a:ext cx="5086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must run a full neural network forward pass 1,000,000 times for a single search.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6677025" y="2524125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Time Complexity Comparison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6677025" y="4629150"/>
            <a:ext cx="44005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is physically impossible to use it as a primary search engine.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7105650" y="3200400"/>
            <a:ext cx="39719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FAISS Search: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~5 milliseconds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7105650" y="3676650"/>
            <a:ext cx="39719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Cross-Encoder Search: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~45 minutes of heavy GPU compute time.</a:t>
            </a:r>
            <a:endParaRPr/>
          </a:p>
        </p:txBody>
      </p:sp>
      <p:pic>
        <p:nvPicPr>
          <p:cNvPr descr="image.png" id="286" name="Google Shape;28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2385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714750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1285875" y="581025"/>
            <a:ext cx="1064133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Latency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Nightmare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923282"/>
            <a:ext cx="5086350" cy="306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23282"/>
            <a:ext cx="5086350" cy="3068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38175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771525" y="1885057"/>
            <a:ext cx="10648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Because Cross-Encoders are strictly used for evaluation rather than massive retrieval, they are typically much smaller models than generative LLMs.</a:t>
            </a:r>
            <a:endParaRPr/>
          </a:p>
        </p:txBody>
      </p:sp>
      <p:sp>
        <p:nvSpPr>
          <p:cNvPr id="300" name="Google Shape;300;p25"/>
          <p:cNvSpPr txBox="1"/>
          <p:nvPr/>
        </p:nvSpPr>
        <p:spPr>
          <a:xfrm>
            <a:off x="1114425" y="3294757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Open Source Local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1114425" y="3780532"/>
            <a:ext cx="44005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undisputed king is the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ms-marco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family by Microsoft (cross-encoder/ms-marco-MiniLM-L-6-v2).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114425" y="5018782"/>
            <a:ext cx="44005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Small enough to run entirely on a local CPU, but punches way above its weight class in scoring accuracy.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6677025" y="3304282"/>
            <a:ext cx="462057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Proprietary Cloud APIs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6677025" y="3790057"/>
            <a:ext cx="44005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 massive enterprise deployments, companies use APIs like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Cohere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(rerank-english-v3.0) or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Voyage AI</a:t>
            </a: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6677025" y="5009257"/>
            <a:ext cx="44005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You send the query and the candidate documents to their servers, and they return the sorted array instantly.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1333500" y="581025"/>
            <a:ext cx="10591323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Industry Standard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Models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4" name="Google Shape;31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600200"/>
            <a:ext cx="508635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600200"/>
            <a:ext cx="508635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638175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24187" y="2623244"/>
            <a:ext cx="581025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1874519" y="3480494"/>
            <a:ext cx="2880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59E0B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Blind Matchmaker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2414587" y="4061519"/>
            <a:ext cx="180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Bi-Encoder (FAISS)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1162050" y="4652069"/>
            <a:ext cx="43053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Looks at two separate profiles, sees you both like "Python", and declares a match in 1 second. Fast, but often wrong.</a:t>
            </a:r>
            <a:endParaRPr/>
          </a:p>
        </p:txBody>
      </p:sp>
      <p:pic>
        <p:nvPicPr>
          <p:cNvPr descr="image.png" id="321" name="Google Shape;32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0" y="2501354"/>
            <a:ext cx="41910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/>
        </p:nvSpPr>
        <p:spPr>
          <a:xfrm>
            <a:off x="7854672" y="3358604"/>
            <a:ext cx="20452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Dinner Date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8172450" y="3939629"/>
            <a:ext cx="140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Cross-Encoder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6724650" y="4530179"/>
            <a:ext cx="43053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Puts the Query and Document in the exact same room, forces them to talk, and evaluates their actual chemistry. Flawlessly accurate.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1438275" y="581025"/>
            <a:ext cx="1048131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Ultimate </a:t>
            </a:r>
            <a:r>
              <a:rPr b="0" i="0" lang="en-US" sz="3300" u="none" cap="none" strike="noStrike">
                <a:solidFill>
                  <a:srgbClr val="14B8A6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Analogy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771525" y="1257300"/>
            <a:ext cx="1064895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7"/>
          <p:cNvSpPr txBox="1"/>
          <p:nvPr/>
        </p:nvSpPr>
        <p:spPr>
          <a:xfrm>
            <a:off x="581025" y="581025"/>
            <a:ext cx="554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Enterprise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Funnel</a:t>
            </a:r>
            <a:endParaRPr/>
          </a:p>
        </p:txBody>
      </p:sp>
      <p:pic>
        <p:nvPicPr>
          <p:cNvPr descr="image.png" id="334" name="Google Shape;3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/>
        </p:nvSpPr>
        <p:spPr>
          <a:xfrm>
            <a:off x="581025" y="1814512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 software engineering, when you have two tools with opposite strengths and weaknesses, you don't choose between them.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You chain them.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581025" y="3300412"/>
            <a:ext cx="5277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build a production-grade pipeline, we architect 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Two-Stage Retrieval Pipeline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This mimics how massive commercial search engines (like Google or Bing) process queries.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581025" y="5091112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They don't use their heaviest AI models to search the entire internet; they use a funnel to narrow down the noise.</a:t>
            </a:r>
            <a:endParaRPr/>
          </a:p>
        </p:txBody>
      </p:sp>
      <p:pic>
        <p:nvPicPr>
          <p:cNvPr id="338" name="Google Shape;33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3" name="Google Shape;3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50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581025" y="1065014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Goal: High Recall.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 guarantee the correct answer is somewhere in the results, even if buried under garbage.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581025" y="5840610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result: We have 25 chunks. Most are irrelevant, but the actual perfect chunk is hiding in there (e.g., at Rank #18).</a:t>
            </a:r>
            <a:endParaRPr/>
          </a:p>
        </p:txBody>
      </p:sp>
      <p:sp>
        <p:nvSpPr>
          <p:cNvPr id="347" name="Google Shape;347;p28"/>
          <p:cNvSpPr/>
          <p:nvPr/>
        </p:nvSpPr>
        <p:spPr>
          <a:xfrm>
            <a:off x="1152525" y="2217539"/>
            <a:ext cx="4896000" cy="590700"/>
          </a:xfrm>
          <a:prstGeom prst="roundRect">
            <a:avLst>
              <a:gd fmla="val 1935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 txBox="1"/>
          <p:nvPr/>
        </p:nvSpPr>
        <p:spPr>
          <a:xfrm>
            <a:off x="1628775" y="2360414"/>
            <a:ext cx="422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Hit the FAISS database (Bi-Encoder).</a:t>
            </a:r>
            <a:endParaRPr/>
          </a:p>
        </p:txBody>
      </p:sp>
      <p:sp>
        <p:nvSpPr>
          <p:cNvPr id="349" name="Google Shape;349;p28"/>
          <p:cNvSpPr/>
          <p:nvPr/>
        </p:nvSpPr>
        <p:spPr>
          <a:xfrm>
            <a:off x="1152525" y="2217539"/>
            <a:ext cx="28500" cy="590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1152525" y="2950964"/>
            <a:ext cx="4896000" cy="1278000"/>
          </a:xfrm>
          <a:prstGeom prst="roundRect">
            <a:avLst>
              <a:gd fmla="val 894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1628775" y="3093839"/>
            <a:ext cx="422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Open the floodgates: retrieve 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k=25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chunks instead of just 3.</a:t>
            </a:r>
            <a:endParaRPr/>
          </a:p>
        </p:txBody>
      </p:sp>
      <p:sp>
        <p:nvSpPr>
          <p:cNvPr id="352" name="Google Shape;352;p28"/>
          <p:cNvSpPr/>
          <p:nvPr/>
        </p:nvSpPr>
        <p:spPr>
          <a:xfrm>
            <a:off x="1152525" y="2950964"/>
            <a:ext cx="28500" cy="127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152525" y="4371975"/>
            <a:ext cx="4896000" cy="1278000"/>
          </a:xfrm>
          <a:prstGeom prst="roundRect">
            <a:avLst>
              <a:gd fmla="val 894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 txBox="1"/>
          <p:nvPr/>
        </p:nvSpPr>
        <p:spPr>
          <a:xfrm>
            <a:off x="1628775" y="4514850"/>
            <a:ext cx="422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Blazing fast: takes only </a:t>
            </a: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5-10 milliseconds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55" name="Google Shape;355;p28"/>
          <p:cNvSpPr/>
          <p:nvPr/>
        </p:nvSpPr>
        <p:spPr>
          <a:xfrm>
            <a:off x="1152525" y="4371975"/>
            <a:ext cx="28500" cy="127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56" name="Google Shape;35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14537"/>
            <a:ext cx="525779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3975" y="238422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23975" y="311765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23975" y="453866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8"/>
          <p:cNvSpPr txBox="1"/>
          <p:nvPr/>
        </p:nvSpPr>
        <p:spPr>
          <a:xfrm>
            <a:off x="581025" y="-87510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Stage 1: Base Retrieval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(The Net)</a:t>
            </a:r>
            <a:endParaRPr/>
          </a:p>
        </p:txBody>
      </p:sp>
      <p:pic>
        <p:nvPicPr>
          <p:cNvPr id="361" name="Google Shape;361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9"/>
          <p:cNvSpPr txBox="1"/>
          <p:nvPr/>
        </p:nvSpPr>
        <p:spPr>
          <a:xfrm>
            <a:off x="630316" y="2053679"/>
            <a:ext cx="1093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858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"Lost in the Middle" Risk</a:t>
            </a:r>
            <a:endParaRPr/>
          </a:p>
        </p:txBody>
      </p:sp>
      <p:sp>
        <p:nvSpPr>
          <p:cNvPr id="368" name="Google Shape;368;p29"/>
          <p:cNvSpPr txBox="1"/>
          <p:nvPr/>
        </p:nvSpPr>
        <p:spPr>
          <a:xfrm>
            <a:off x="2286000" y="3368129"/>
            <a:ext cx="76200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If we fed all 25 rough chunks directly to the LLM right now, the immense noise would trigger the dreaded "Lost in the Middle" hallucination phenomenon. We must ruthlessly filter them.</a:t>
            </a:r>
            <a:endParaRPr/>
          </a:p>
        </p:txBody>
      </p:sp>
      <p:pic>
        <p:nvPicPr>
          <p:cNvPr descr="image.png" id="369" name="Google Shape;3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0587" y="2129879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71637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7" name="Google Shape;37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671637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8" name="Google Shape;37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1671637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1250" y="20621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0"/>
          <p:cNvSpPr txBox="1"/>
          <p:nvPr/>
        </p:nvSpPr>
        <p:spPr>
          <a:xfrm>
            <a:off x="805498" y="3062287"/>
            <a:ext cx="297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High Precision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876300" y="3738562"/>
            <a:ext cx="283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goal flips from recall to precision. We take the 25 rough candidates from Stage 1 and evaluate them rigorously.</a:t>
            </a:r>
            <a:endParaRPr/>
          </a:p>
        </p:txBody>
      </p:sp>
      <p:pic>
        <p:nvPicPr>
          <p:cNvPr descr="image.png" id="382" name="Google Shape;382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0621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0"/>
          <p:cNvSpPr txBox="1"/>
          <p:nvPr/>
        </p:nvSpPr>
        <p:spPr>
          <a:xfrm>
            <a:off x="4609099" y="3062287"/>
            <a:ext cx="297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Heavyweight Judge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4679900" y="3738562"/>
            <a:ext cx="2832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use a Cross-Encoder. It concatenates the query with each chunk and runs a deep neural forward pass to output a relevance score.</a:t>
            </a:r>
            <a:endParaRPr/>
          </a:p>
        </p:txBody>
      </p:sp>
      <p:pic>
        <p:nvPicPr>
          <p:cNvPr descr="image.png" id="385" name="Google Shape;385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8451" y="20621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0"/>
          <p:cNvSpPr txBox="1"/>
          <p:nvPr/>
        </p:nvSpPr>
        <p:spPr>
          <a:xfrm>
            <a:off x="8412699" y="3062287"/>
            <a:ext cx="297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Controlled Latency</a:t>
            </a:r>
            <a:endParaRPr/>
          </a:p>
        </p:txBody>
      </p:sp>
      <p:sp>
        <p:nvSpPr>
          <p:cNvPr id="387" name="Google Shape;387;p30"/>
          <p:cNvSpPr txBox="1"/>
          <p:nvPr/>
        </p:nvSpPr>
        <p:spPr>
          <a:xfrm>
            <a:off x="8483500" y="3738562"/>
            <a:ext cx="2832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Because we only run the Cross-Encoder 25 times (instead of 1,000,000), computational latency is drastically reduced to ~100-200ms.</a:t>
            </a:r>
            <a:endParaRPr/>
          </a:p>
        </p:txBody>
      </p:sp>
      <p:pic>
        <p:nvPicPr>
          <p:cNvPr descr="image.png" id="388" name="Google Shape;388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20800" y="22717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81538" y="227171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28001" y="22717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0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Stage 2: Re-ranking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(The Scalpel)</a:t>
            </a:r>
            <a:endParaRPr/>
          </a:p>
        </p:txBody>
      </p:sp>
      <p:pic>
        <p:nvPicPr>
          <p:cNvPr id="392" name="Google Shape;392;p3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7" name="Google Shape;3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1"/>
          <p:cNvSpPr/>
          <p:nvPr/>
        </p:nvSpPr>
        <p:spPr>
          <a:xfrm>
            <a:off x="1333500" y="1421308"/>
            <a:ext cx="9525000" cy="1468500"/>
          </a:xfrm>
          <a:prstGeom prst="roundRect">
            <a:avLst>
              <a:gd fmla="val 778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 txBox="1"/>
          <p:nvPr/>
        </p:nvSpPr>
        <p:spPr>
          <a:xfrm>
            <a:off x="2095500" y="1659433"/>
            <a:ext cx="847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1. Sort by New Scores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Once the Cross-Encoder has scored all 25 chunks, the array is sorted in descending order based on their true semantic relevance.</a:t>
            </a:r>
            <a:endParaRPr/>
          </a:p>
        </p:txBody>
      </p:sp>
      <p:sp>
        <p:nvSpPr>
          <p:cNvPr id="400" name="Google Shape;400;p31"/>
          <p:cNvSpPr/>
          <p:nvPr/>
        </p:nvSpPr>
        <p:spPr>
          <a:xfrm>
            <a:off x="1333500" y="1421308"/>
            <a:ext cx="38100" cy="146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1333500" y="3080444"/>
            <a:ext cx="9525000" cy="1468500"/>
          </a:xfrm>
          <a:prstGeom prst="roundRect">
            <a:avLst>
              <a:gd fmla="val 778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 txBox="1"/>
          <p:nvPr/>
        </p:nvSpPr>
        <p:spPr>
          <a:xfrm>
            <a:off x="2095500" y="3318569"/>
            <a:ext cx="847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2. Promote the Winner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chunk that was originally buried at Rank #18 by the Bi-Encoder can now be ripped from the bottom and promoted to the absolute #1 position.</a:t>
            </a:r>
            <a:endParaRPr/>
          </a:p>
        </p:txBody>
      </p:sp>
      <p:sp>
        <p:nvSpPr>
          <p:cNvPr id="403" name="Google Shape;403;p31"/>
          <p:cNvSpPr/>
          <p:nvPr/>
        </p:nvSpPr>
        <p:spPr>
          <a:xfrm>
            <a:off x="1333500" y="3080444"/>
            <a:ext cx="38100" cy="146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1333500" y="4739580"/>
            <a:ext cx="9525000" cy="1468500"/>
          </a:xfrm>
          <a:prstGeom prst="roundRect">
            <a:avLst>
              <a:gd fmla="val 778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2095500" y="4977705"/>
            <a:ext cx="8477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3. Strict Cutoff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Apply a strict Top-K Cutoff. Throw away the bottom 22 chunks and only keep the Top 3 pristine, flawlessly vetted chunks to inject into the Mega-Prompt.</a:t>
            </a:r>
            <a:endParaRPr/>
          </a:p>
        </p:txBody>
      </p:sp>
      <p:sp>
        <p:nvSpPr>
          <p:cNvPr id="406" name="Google Shape;406;p31"/>
          <p:cNvSpPr/>
          <p:nvPr/>
        </p:nvSpPr>
        <p:spPr>
          <a:xfrm>
            <a:off x="1333500" y="4739580"/>
            <a:ext cx="38100" cy="1468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07" name="Google Shape;40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9725" y="1654671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9725" y="3313807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09725" y="497294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1"/>
          <p:cNvSpPr txBox="1"/>
          <p:nvPr/>
        </p:nvSpPr>
        <p:spPr>
          <a:xfrm>
            <a:off x="581025" y="459283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Final Truncation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(Top-K Cutoff)</a:t>
            </a:r>
            <a:endParaRPr/>
          </a:p>
        </p:txBody>
      </p:sp>
      <p:pic>
        <p:nvPicPr>
          <p:cNvPr id="411" name="Google Shape;41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2"/>
          <p:cNvSpPr txBox="1"/>
          <p:nvPr/>
        </p:nvSpPr>
        <p:spPr>
          <a:xfrm>
            <a:off x="1809750" y="5029200"/>
            <a:ext cx="8572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 a mere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150ms penalty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we transform a blind vector search into a system that physically comprehends the grammatical relationship between query and document before bothering the LLM.</a:t>
            </a:r>
            <a:endParaRPr/>
          </a:p>
        </p:txBody>
      </p:sp>
      <p:graphicFrame>
        <p:nvGraphicFramePr>
          <p:cNvPr id="418" name="Google Shape;418;p32"/>
          <p:cNvGraphicFramePr/>
          <p:nvPr/>
        </p:nvGraphicFramePr>
        <p:xfrm>
          <a:off x="581025" y="1685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{877E07F5-1615-453A-8B85-B993601121FF}</a:tableStyleId>
              </a:tblPr>
              <a:tblGrid>
                <a:gridCol w="2248350"/>
                <a:gridCol w="2573975"/>
                <a:gridCol w="3708800"/>
                <a:gridCol w="2479775"/>
              </a:tblGrid>
              <a:tr h="76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Pipeline Stage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Technology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Core Function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Approx.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76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Stage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FAISS (Bi-Encoder)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Recall Search (k=25)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~10ms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6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Stage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Cross-Encoder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Re-rank top 25 chunks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A855F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~150ms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6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Stage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Gemini LLM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Generative Answer generation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~1500ms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419" name="Google Shape;419;p32"/>
          <p:cNvSpPr/>
          <p:nvPr/>
        </p:nvSpPr>
        <p:spPr>
          <a:xfrm>
            <a:off x="590550" y="2419350"/>
            <a:ext cx="224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2838896" y="2419350"/>
            <a:ext cx="2574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5412878" y="2419350"/>
            <a:ext cx="3708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9121675" y="2419350"/>
            <a:ext cx="247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590550" y="3190875"/>
            <a:ext cx="224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2838896" y="3190875"/>
            <a:ext cx="2574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5412878" y="3190875"/>
            <a:ext cx="3708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9121675" y="3190875"/>
            <a:ext cx="247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590550" y="3962400"/>
            <a:ext cx="224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2838896" y="3962400"/>
            <a:ext cx="2574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5412878" y="3962400"/>
            <a:ext cx="3708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9121675" y="3962400"/>
            <a:ext cx="247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2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Latency vs. Accuracy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Trade-off</a:t>
            </a:r>
            <a:endParaRPr/>
          </a:p>
        </p:txBody>
      </p:sp>
      <p:pic>
        <p:nvPicPr>
          <p:cNvPr id="432" name="Google Shape;43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7" name="Google Shape;4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3"/>
          <p:cNvSpPr txBox="1"/>
          <p:nvPr/>
        </p:nvSpPr>
        <p:spPr>
          <a:xfrm>
            <a:off x="581025" y="2843212"/>
            <a:ext cx="5277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96%</a:t>
            </a:r>
            <a:endParaRPr/>
          </a:p>
        </p:txBody>
      </p:sp>
      <p:sp>
        <p:nvSpPr>
          <p:cNvPr id="439" name="Google Shape;439;p33"/>
          <p:cNvSpPr txBox="1"/>
          <p:nvPr/>
        </p:nvSpPr>
        <p:spPr>
          <a:xfrm>
            <a:off x="581025" y="4652962"/>
            <a:ext cx="527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Useless Token Noise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6334125" y="1966912"/>
            <a:ext cx="554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"Needle in a Haystack" at the Chunk Level</a:t>
            </a:r>
            <a:endParaRPr/>
          </a:p>
        </p:txBody>
      </p:sp>
      <p:sp>
        <p:nvSpPr>
          <p:cNvPr id="441" name="Google Shape;441;p33"/>
          <p:cNvSpPr txBox="1"/>
          <p:nvPr/>
        </p:nvSpPr>
        <p:spPr>
          <a:xfrm>
            <a:off x="6334125" y="2843212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Even the 3 winning chunks have hidden inefficiencies. If our chunks are 1,000 characters long, but the factual answer is only 40 characters...</a:t>
            </a:r>
            <a:endParaRPr/>
          </a:p>
        </p:txBody>
      </p:sp>
      <p:sp>
        <p:nvSpPr>
          <p:cNvPr id="442" name="Google Shape;442;p33"/>
          <p:cNvSpPr txBox="1"/>
          <p:nvPr/>
        </p:nvSpPr>
        <p:spPr>
          <a:xfrm>
            <a:off x="6334125" y="3948112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are forcing the LLM to read through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960 characters of useless filler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(lunch schedules, unrelated milestones) just to find a 40-character fact.</a:t>
            </a:r>
            <a:endParaRPr/>
          </a:p>
        </p:txBody>
      </p:sp>
      <p:sp>
        <p:nvSpPr>
          <p:cNvPr id="443" name="Google Shape;443;p33"/>
          <p:cNvSpPr txBox="1"/>
          <p:nvPr/>
        </p:nvSpPr>
        <p:spPr>
          <a:xfrm>
            <a:off x="6334125" y="5053012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F4444"/>
                </a:solidFill>
                <a:latin typeface="Inter Medium"/>
                <a:ea typeface="Inter Medium"/>
                <a:cs typeface="Inter Medium"/>
                <a:sym typeface="Inter Medium"/>
              </a:rPr>
              <a:t>We pay for every garbage token, and it increases hallucination risks.</a:t>
            </a:r>
            <a:endParaRPr/>
          </a:p>
        </p:txBody>
      </p:sp>
      <p:pic>
        <p:nvPicPr>
          <p:cNvPr descr="image.png" id="444" name="Google Shape;44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511016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3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Contextual Compression: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Trimming the Fat</a:t>
            </a:r>
            <a:endParaRPr/>
          </a:p>
        </p:txBody>
      </p:sp>
      <p:pic>
        <p:nvPicPr>
          <p:cNvPr id="446" name="Google Shape;44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1" name="Google Shape;45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4"/>
          <p:cNvSpPr txBox="1"/>
          <p:nvPr/>
        </p:nvSpPr>
        <p:spPr>
          <a:xfrm>
            <a:off x="581025" y="581025"/>
            <a:ext cx="554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Compression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Laser</a:t>
            </a:r>
            <a:endParaRPr/>
          </a:p>
        </p:txBody>
      </p:sp>
      <p:pic>
        <p:nvPicPr>
          <p:cNvPr descr="image.png" id="453" name="Google Shape;45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4"/>
          <p:cNvSpPr txBox="1"/>
          <p:nvPr/>
        </p:nvSpPr>
        <p:spPr>
          <a:xfrm>
            <a:off x="581025" y="1966912"/>
            <a:ext cx="527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must stop treating chunks as immutable blocks of text.</a:t>
            </a:r>
            <a:endParaRPr/>
          </a:p>
        </p:txBody>
      </p:sp>
      <p:sp>
        <p:nvSpPr>
          <p:cNvPr id="455" name="Google Shape;455;p34"/>
          <p:cNvSpPr txBox="1"/>
          <p:nvPr/>
        </p:nvSpPr>
        <p:spPr>
          <a:xfrm>
            <a:off x="581025" y="3148012"/>
            <a:ext cx="5277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need a system that physically slices the chunk open, extracts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ONLY the sentences relevant to the user's query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and throws the rest in the trash before it hits the Mega-Prompt.</a:t>
            </a:r>
            <a:endParaRPr/>
          </a:p>
        </p:txBody>
      </p:sp>
      <p:sp>
        <p:nvSpPr>
          <p:cNvPr id="456" name="Google Shape;456;p34"/>
          <p:cNvSpPr txBox="1"/>
          <p:nvPr/>
        </p:nvSpPr>
        <p:spPr>
          <a:xfrm>
            <a:off x="581025" y="4938712"/>
            <a:ext cx="5277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If the Cross-Encoder is a "Scalpel", the Contextual Compressor is 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"Laser"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burning away bad sentences inside good chunks.</a:t>
            </a:r>
            <a:endParaRPr/>
          </a:p>
        </p:txBody>
      </p:sp>
      <p:pic>
        <p:nvPicPr>
          <p:cNvPr id="457" name="Google Shape;45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2" name="Google Shape;46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51682"/>
            <a:ext cx="5276850" cy="4716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51682"/>
            <a:ext cx="5276850" cy="471666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5"/>
          <p:cNvSpPr txBox="1"/>
          <p:nvPr/>
        </p:nvSpPr>
        <p:spPr>
          <a:xfrm>
            <a:off x="759142" y="1942207"/>
            <a:ext cx="4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Compressor A: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A855F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LLMChainExtractor</a:t>
            </a:r>
            <a:endParaRPr/>
          </a:p>
        </p:txBody>
      </p:sp>
      <p:sp>
        <p:nvSpPr>
          <p:cNvPr id="466" name="Google Shape;466;p35"/>
          <p:cNvSpPr txBox="1"/>
          <p:nvPr/>
        </p:nvSpPr>
        <p:spPr>
          <a:xfrm>
            <a:off x="876300" y="3151882"/>
            <a:ext cx="46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Maximum Precision</a:t>
            </a:r>
            <a:endParaRPr/>
          </a:p>
        </p:txBody>
      </p:sp>
      <p:sp>
        <p:nvSpPr>
          <p:cNvPr id="467" name="Google Shape;467;p35"/>
          <p:cNvSpPr txBox="1"/>
          <p:nvPr/>
        </p:nvSpPr>
        <p:spPr>
          <a:xfrm>
            <a:off x="876300" y="3790057"/>
            <a:ext cx="46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 a small, fast LLM (like Gemini Flash) with a hidden prompt to physically read the chunk and extract exact answering sentences.</a:t>
            </a:r>
            <a:endParaRPr/>
          </a:p>
        </p:txBody>
      </p:sp>
      <p:sp>
        <p:nvSpPr>
          <p:cNvPr id="468" name="Google Shape;468;p35"/>
          <p:cNvSpPr txBox="1"/>
          <p:nvPr/>
        </p:nvSpPr>
        <p:spPr>
          <a:xfrm>
            <a:off x="876300" y="5237857"/>
            <a:ext cx="4686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Trade-off: High precision, but severe latency and cost. 3 chunks = 3 separate LLM extraction calls.</a:t>
            </a:r>
            <a:endParaRPr/>
          </a:p>
        </p:txBody>
      </p:sp>
      <p:sp>
        <p:nvSpPr>
          <p:cNvPr id="469" name="Google Shape;469;p35"/>
          <p:cNvSpPr txBox="1"/>
          <p:nvPr/>
        </p:nvSpPr>
        <p:spPr>
          <a:xfrm>
            <a:off x="6512242" y="1942207"/>
            <a:ext cx="492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Compressor B: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100" u="none" cap="none" strike="noStrike">
                <a:solidFill>
                  <a:srgbClr val="A855F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EmbeddingsFilter</a:t>
            </a:r>
            <a:endParaRPr/>
          </a:p>
        </p:txBody>
      </p:sp>
      <p:sp>
        <p:nvSpPr>
          <p:cNvPr id="470" name="Google Shape;470;p35"/>
          <p:cNvSpPr txBox="1"/>
          <p:nvPr/>
        </p:nvSpPr>
        <p:spPr>
          <a:xfrm>
            <a:off x="6629400" y="3151882"/>
            <a:ext cx="468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855F7"/>
                </a:solidFill>
                <a:latin typeface="Inter Medium"/>
                <a:ea typeface="Inter Medium"/>
                <a:cs typeface="Inter Medium"/>
                <a:sym typeface="Inter Medium"/>
              </a:rPr>
              <a:t>High Speed</a:t>
            </a:r>
            <a:endParaRPr/>
          </a:p>
        </p:txBody>
      </p:sp>
      <p:sp>
        <p:nvSpPr>
          <p:cNvPr id="471" name="Google Shape;471;p35"/>
          <p:cNvSpPr txBox="1"/>
          <p:nvPr/>
        </p:nvSpPr>
        <p:spPr>
          <a:xfrm>
            <a:off x="6629400" y="3790057"/>
            <a:ext cx="4686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Dynamically splits chunk into sentences, embeds each, and filters them against the query using a strict Cosine Similarity threshold (&gt; 0.85).</a:t>
            </a:r>
            <a:endParaRPr/>
          </a:p>
        </p:txBody>
      </p:sp>
      <p:sp>
        <p:nvSpPr>
          <p:cNvPr id="472" name="Google Shape;472;p35"/>
          <p:cNvSpPr txBox="1"/>
          <p:nvPr/>
        </p:nvSpPr>
        <p:spPr>
          <a:xfrm>
            <a:off x="6629400" y="5237857"/>
            <a:ext cx="4686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Trade-off: Lightning fast (sub-millisecond embedding APIs), but relies entirely on Bi-Encoder math accuracy.</a:t>
            </a:r>
            <a:endParaRPr/>
          </a:p>
        </p:txBody>
      </p:sp>
      <p:pic>
        <p:nvPicPr>
          <p:cNvPr descr="image.png" id="473" name="Google Shape;47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5037" y="320903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4" name="Google Shape;474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29612" y="320903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5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LangChain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Compressor Types</a:t>
            </a:r>
            <a:endParaRPr/>
          </a:p>
        </p:txBody>
      </p:sp>
      <p:pic>
        <p:nvPicPr>
          <p:cNvPr id="476" name="Google Shape;476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1" name="Google Shape;48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24037"/>
            <a:ext cx="34226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3" name="Google Shape;48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824037"/>
            <a:ext cx="34226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1824037"/>
            <a:ext cx="34226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1250" y="22145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6"/>
          <p:cNvSpPr txBox="1"/>
          <p:nvPr/>
        </p:nvSpPr>
        <p:spPr>
          <a:xfrm>
            <a:off x="805498" y="3214687"/>
            <a:ext cx="297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1. Base Retrieval</a:t>
            </a:r>
            <a:endParaRPr/>
          </a:p>
        </p:txBody>
      </p:sp>
      <p:sp>
        <p:nvSpPr>
          <p:cNvPr id="487" name="Google Shape;487;p36"/>
          <p:cNvSpPr txBox="1"/>
          <p:nvPr/>
        </p:nvSpPr>
        <p:spPr>
          <a:xfrm>
            <a:off x="876300" y="3890962"/>
            <a:ext cx="283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Finding the 20 general books in the massive library that merely mention the word "Budgets".</a:t>
            </a:r>
            <a:endParaRPr/>
          </a:p>
        </p:txBody>
      </p:sp>
      <p:pic>
        <p:nvPicPr>
          <p:cNvPr descr="image.png" id="488" name="Google Shape;488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2145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6"/>
          <p:cNvSpPr txBox="1"/>
          <p:nvPr/>
        </p:nvSpPr>
        <p:spPr>
          <a:xfrm>
            <a:off x="4609099" y="3214687"/>
            <a:ext cx="297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2. Cross-Encoder</a:t>
            </a:r>
            <a:endParaRPr/>
          </a:p>
        </p:txBody>
      </p:sp>
      <p:sp>
        <p:nvSpPr>
          <p:cNvPr id="490" name="Google Shape;490;p36"/>
          <p:cNvSpPr txBox="1"/>
          <p:nvPr/>
        </p:nvSpPr>
        <p:spPr>
          <a:xfrm>
            <a:off x="4679900" y="3890962"/>
            <a:ext cx="283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Selecting the 3 absolute best, most relevant books from that pile and throwing the remaining 17 away.</a:t>
            </a:r>
            <a:endParaRPr/>
          </a:p>
        </p:txBody>
      </p:sp>
      <p:pic>
        <p:nvPicPr>
          <p:cNvPr descr="image.png" id="491" name="Google Shape;491;p3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8451" y="22145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6"/>
          <p:cNvSpPr txBox="1"/>
          <p:nvPr/>
        </p:nvSpPr>
        <p:spPr>
          <a:xfrm>
            <a:off x="8412699" y="3214687"/>
            <a:ext cx="297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3. Compression</a:t>
            </a:r>
            <a:endParaRPr/>
          </a:p>
        </p:txBody>
      </p:sp>
      <p:sp>
        <p:nvSpPr>
          <p:cNvPr id="493" name="Google Shape;493;p36"/>
          <p:cNvSpPr txBox="1"/>
          <p:nvPr/>
        </p:nvSpPr>
        <p:spPr>
          <a:xfrm>
            <a:off x="8483500" y="3890962"/>
            <a:ext cx="2832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Taking a yellow highlighter, marking only the specific sentences that answer the question, and ripping those pages out for the CEO.</a:t>
            </a:r>
            <a:endParaRPr/>
          </a:p>
        </p:txBody>
      </p:sp>
      <p:pic>
        <p:nvPicPr>
          <p:cNvPr descr="image.png" id="494" name="Google Shape;494;p3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96988" y="242411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5" name="Google Shape;495;p3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43451" y="242411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3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704189" y="2424112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6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Textbook Highlighting</a:t>
            </a: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Analogy</a:t>
            </a:r>
            <a:endParaRPr/>
          </a:p>
        </p:txBody>
      </p:sp>
      <p:pic>
        <p:nvPicPr>
          <p:cNvPr id="498" name="Google Shape;498;p3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3" name="Google Shape;50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33512"/>
            <a:ext cx="527685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33512"/>
            <a:ext cx="5276850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7"/>
          <p:cNvSpPr txBox="1"/>
          <p:nvPr/>
        </p:nvSpPr>
        <p:spPr>
          <a:xfrm>
            <a:off x="759142" y="1824037"/>
            <a:ext cx="492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Massive Models (Gemini Pro)</a:t>
            </a:r>
            <a:endParaRPr/>
          </a:p>
        </p:txBody>
      </p:sp>
      <p:sp>
        <p:nvSpPr>
          <p:cNvPr id="507" name="Google Shape;507;p37"/>
          <p:cNvSpPr txBox="1"/>
          <p:nvPr/>
        </p:nvSpPr>
        <p:spPr>
          <a:xfrm>
            <a:off x="6512242" y="1824037"/>
            <a:ext cx="492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A855F7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Efficient Models (Gemini Flash)</a:t>
            </a:r>
            <a:endParaRPr/>
          </a:p>
        </p:txBody>
      </p:sp>
      <p:pic>
        <p:nvPicPr>
          <p:cNvPr descr="image.png" id="508" name="Google Shape;50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86100" y="25003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7"/>
          <p:cNvSpPr txBox="1"/>
          <p:nvPr/>
        </p:nvSpPr>
        <p:spPr>
          <a:xfrm>
            <a:off x="1162050" y="3100387"/>
            <a:ext cx="43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Features an industry-leading 1M-2M token context window.</a:t>
            </a:r>
            <a:endParaRPr/>
          </a:p>
        </p:txBody>
      </p:sp>
      <p:sp>
        <p:nvSpPr>
          <p:cNvPr id="510" name="Google Shape;510;p37"/>
          <p:cNvSpPr txBox="1"/>
          <p:nvPr/>
        </p:nvSpPr>
        <p:spPr>
          <a:xfrm>
            <a:off x="1162050" y="3995737"/>
            <a:ext cx="43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Near-perfect needle-in-a-haystack recall out of the box.</a:t>
            </a:r>
            <a:endParaRPr/>
          </a:p>
        </p:txBody>
      </p:sp>
      <p:sp>
        <p:nvSpPr>
          <p:cNvPr id="511" name="Google Shape;511;p37"/>
          <p:cNvSpPr txBox="1"/>
          <p:nvPr/>
        </p:nvSpPr>
        <p:spPr>
          <a:xfrm>
            <a:off x="1162050" y="4891087"/>
            <a:ext cx="43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model can handle the "fat". Compressing 3,000 tokens down to 300 might be over-engineering.</a:t>
            </a:r>
            <a:endParaRPr/>
          </a:p>
        </p:txBody>
      </p:sp>
      <p:pic>
        <p:nvPicPr>
          <p:cNvPr descr="image.png" id="512" name="Google Shape;512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3487" y="250031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7"/>
          <p:cNvSpPr txBox="1"/>
          <p:nvPr/>
        </p:nvSpPr>
        <p:spPr>
          <a:xfrm>
            <a:off x="6915150" y="3100387"/>
            <a:ext cx="43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Ideal for "Extract Once, Judge Many" tasks processing thousands of documents.</a:t>
            </a:r>
            <a:endParaRPr/>
          </a:p>
        </p:txBody>
      </p:sp>
      <p:sp>
        <p:nvSpPr>
          <p:cNvPr id="514" name="Google Shape;514;p37"/>
          <p:cNvSpPr txBox="1"/>
          <p:nvPr/>
        </p:nvSpPr>
        <p:spPr>
          <a:xfrm>
            <a:off x="6915150" y="3995737"/>
            <a:ext cx="43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keep costs low, we use incredibly fast, cheaper models.</a:t>
            </a:r>
            <a:endParaRPr/>
          </a:p>
        </p:txBody>
      </p:sp>
      <p:sp>
        <p:nvSpPr>
          <p:cNvPr id="515" name="Google Shape;515;p37"/>
          <p:cNvSpPr txBox="1"/>
          <p:nvPr/>
        </p:nvSpPr>
        <p:spPr>
          <a:xfrm>
            <a:off x="6915150" y="4891087"/>
            <a:ext cx="43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Compression ensures the cheap, fast LLM only ever sees 100% pure, unadulterated facts.</a:t>
            </a:r>
            <a:endParaRPr/>
          </a:p>
        </p:txBody>
      </p:sp>
      <p:pic>
        <p:nvPicPr>
          <p:cNvPr descr="image.png" id="516" name="Google Shape;516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31289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40243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8" name="Google Shape;518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49196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9" name="Google Shape;519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31289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0" name="Google Shape;520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40243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49196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7"/>
          <p:cNvSpPr txBox="1"/>
          <p:nvPr/>
        </p:nvSpPr>
        <p:spPr>
          <a:xfrm>
            <a:off x="581025" y="471487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MLOps Reality: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When to Compress?</a:t>
            </a:r>
            <a:endParaRPr/>
          </a:p>
        </p:txBody>
      </p:sp>
      <p:pic>
        <p:nvPicPr>
          <p:cNvPr id="523" name="Google Shape;523;p3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8" name="Google Shape;52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18382"/>
            <a:ext cx="3422600" cy="4183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0" name="Google Shape;53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818382"/>
            <a:ext cx="3422600" cy="4183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1" name="Google Shape;531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8225" y="1818382"/>
            <a:ext cx="3422600" cy="4183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6500" y="211365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8"/>
          <p:cNvSpPr txBox="1"/>
          <p:nvPr/>
        </p:nvSpPr>
        <p:spPr>
          <a:xfrm>
            <a:off x="805498" y="2923282"/>
            <a:ext cx="2973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1. The Net (FAISS Base)</a:t>
            </a:r>
            <a:endParaRPr/>
          </a:p>
        </p:txBody>
      </p:sp>
      <p:sp>
        <p:nvSpPr>
          <p:cNvPr id="534" name="Google Shape;534;p38"/>
          <p:cNvSpPr txBox="1"/>
          <p:nvPr/>
        </p:nvSpPr>
        <p:spPr>
          <a:xfrm>
            <a:off x="876300" y="3485257"/>
            <a:ext cx="2832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Initialize FAISS.load_local and configure the Base Retriever.</a:t>
            </a:r>
            <a:endParaRPr/>
          </a:p>
        </p:txBody>
      </p:sp>
      <p:sp>
        <p:nvSpPr>
          <p:cNvPr id="535" name="Google Shape;535;p38"/>
          <p:cNvSpPr txBox="1"/>
          <p:nvPr/>
        </p:nvSpPr>
        <p:spPr>
          <a:xfrm>
            <a:off x="876300" y="4250977"/>
            <a:ext cx="283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cast a wide net to pull the top 20 candidates (k=20) in milliseconds instead of just 3.</a:t>
            </a:r>
            <a:endParaRPr/>
          </a:p>
        </p:txBody>
      </p:sp>
      <p:pic>
        <p:nvPicPr>
          <p:cNvPr descr="image.png" id="536" name="Google Shape;536;p3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101" y="211365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8"/>
          <p:cNvSpPr txBox="1"/>
          <p:nvPr/>
        </p:nvSpPr>
        <p:spPr>
          <a:xfrm>
            <a:off x="4609099" y="2923282"/>
            <a:ext cx="297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2. The Scalpel (Cross-Encoder)</a:t>
            </a:r>
            <a:endParaRPr/>
          </a:p>
        </p:txBody>
      </p:sp>
      <p:sp>
        <p:nvSpPr>
          <p:cNvPr id="538" name="Google Shape;538;p38"/>
          <p:cNvSpPr txBox="1"/>
          <p:nvPr/>
        </p:nvSpPr>
        <p:spPr>
          <a:xfrm>
            <a:off x="4679900" y="3751957"/>
            <a:ext cx="283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Download ms-marco-MiniLM-L-6-v2 directly from HuggingFace, specifically trained for relevance scoring.</a:t>
            </a:r>
            <a:endParaRPr/>
          </a:p>
        </p:txBody>
      </p:sp>
      <p:sp>
        <p:nvSpPr>
          <p:cNvPr id="539" name="Google Shape;539;p38"/>
          <p:cNvSpPr txBox="1"/>
          <p:nvPr/>
        </p:nvSpPr>
        <p:spPr>
          <a:xfrm>
            <a:off x="4679900" y="4761458"/>
            <a:ext cx="283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Configure CrossEncoderReranker to score all 20 but ONLY return the best 3 (top_n=3).</a:t>
            </a:r>
            <a:endParaRPr/>
          </a:p>
        </p:txBody>
      </p:sp>
      <p:pic>
        <p:nvPicPr>
          <p:cNvPr descr="image.png" id="540" name="Google Shape;540;p3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3701" y="211365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8"/>
          <p:cNvSpPr txBox="1"/>
          <p:nvPr/>
        </p:nvSpPr>
        <p:spPr>
          <a:xfrm>
            <a:off x="8412699" y="2923282"/>
            <a:ext cx="2973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3. The Compressor Wrap</a:t>
            </a:r>
            <a:endParaRPr/>
          </a:p>
        </p:txBody>
      </p:sp>
      <p:sp>
        <p:nvSpPr>
          <p:cNvPr id="542" name="Google Shape;542;p38"/>
          <p:cNvSpPr txBox="1"/>
          <p:nvPr/>
        </p:nvSpPr>
        <p:spPr>
          <a:xfrm>
            <a:off x="8483500" y="3485257"/>
            <a:ext cx="2832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Wrap the FAISS base retriever inside a ContextualCompressionRetriever.</a:t>
            </a:r>
            <a:endParaRPr/>
          </a:p>
        </p:txBody>
      </p:sp>
      <p:sp>
        <p:nvSpPr>
          <p:cNvPr id="543" name="Google Shape;543;p38"/>
          <p:cNvSpPr txBox="1"/>
          <p:nvPr/>
        </p:nvSpPr>
        <p:spPr>
          <a:xfrm>
            <a:off x="8483500" y="4250977"/>
            <a:ext cx="28320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unified retriever is now ready to query, slice, and re-rank the document chunks on the fly.</a:t>
            </a:r>
            <a:endParaRPr/>
          </a:p>
        </p:txBody>
      </p:sp>
      <p:pic>
        <p:nvPicPr>
          <p:cNvPr descr="image.png" id="544" name="Google Shape;544;p3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70864" y="2285107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8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Initializing the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Two-Stage</a:t>
            </a: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Retriever</a:t>
            </a:r>
            <a:endParaRPr/>
          </a:p>
        </p:txBody>
      </p:sp>
      <p:pic>
        <p:nvPicPr>
          <p:cNvPr id="546" name="Google Shape;546;p3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1" name="Google Shape;55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2" name="Google Shape;552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501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9"/>
          <p:cNvSpPr txBox="1"/>
          <p:nvPr/>
        </p:nvSpPr>
        <p:spPr>
          <a:xfrm>
            <a:off x="581025" y="1178421"/>
            <a:ext cx="5277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final step is wiring our brand new, highly accurate compression_retriever into our standard LCEL flow.</a:t>
            </a:r>
            <a:endParaRPr/>
          </a:p>
        </p:txBody>
      </p:sp>
      <p:sp>
        <p:nvSpPr>
          <p:cNvPr id="554" name="Google Shape;554;p39"/>
          <p:cNvSpPr txBox="1"/>
          <p:nvPr/>
        </p:nvSpPr>
        <p:spPr>
          <a:xfrm>
            <a:off x="581025" y="6032000"/>
            <a:ext cx="7983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Pipeline Success: 20 chunks retrieved, 17 discarded, 3 injected, 0 hallucinations.</a:t>
            </a:r>
            <a:endParaRPr/>
          </a:p>
        </p:txBody>
      </p:sp>
      <p:sp>
        <p:nvSpPr>
          <p:cNvPr id="555" name="Google Shape;555;p39"/>
          <p:cNvSpPr/>
          <p:nvPr/>
        </p:nvSpPr>
        <p:spPr>
          <a:xfrm>
            <a:off x="962025" y="2026146"/>
            <a:ext cx="4896000" cy="973200"/>
          </a:xfrm>
          <a:prstGeom prst="roundRect">
            <a:avLst>
              <a:gd fmla="val 1174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9"/>
          <p:cNvSpPr txBox="1"/>
          <p:nvPr/>
        </p:nvSpPr>
        <p:spPr>
          <a:xfrm>
            <a:off x="1438275" y="2169021"/>
            <a:ext cx="422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1. Search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FAISS pulls 20 initial chunks.</a:t>
            </a:r>
            <a:endParaRPr/>
          </a:p>
        </p:txBody>
      </p:sp>
      <p:sp>
        <p:nvSpPr>
          <p:cNvPr id="557" name="Google Shape;557;p39"/>
          <p:cNvSpPr/>
          <p:nvPr/>
        </p:nvSpPr>
        <p:spPr>
          <a:xfrm>
            <a:off x="962025" y="2026146"/>
            <a:ext cx="28500" cy="973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9"/>
          <p:cNvSpPr/>
          <p:nvPr/>
        </p:nvSpPr>
        <p:spPr>
          <a:xfrm>
            <a:off x="962025" y="3142357"/>
            <a:ext cx="4896000" cy="1278000"/>
          </a:xfrm>
          <a:prstGeom prst="roundRect">
            <a:avLst>
              <a:gd fmla="val 894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9"/>
          <p:cNvSpPr txBox="1"/>
          <p:nvPr/>
        </p:nvSpPr>
        <p:spPr>
          <a:xfrm>
            <a:off x="1438275" y="3285232"/>
            <a:ext cx="422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2. Re-rank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Cross-Encoder compresses down to 3 chunks.</a:t>
            </a:r>
            <a:endParaRPr/>
          </a:p>
        </p:txBody>
      </p:sp>
      <p:sp>
        <p:nvSpPr>
          <p:cNvPr id="560" name="Google Shape;560;p39"/>
          <p:cNvSpPr/>
          <p:nvPr/>
        </p:nvSpPr>
        <p:spPr>
          <a:xfrm>
            <a:off x="962025" y="3142357"/>
            <a:ext cx="28500" cy="127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9"/>
          <p:cNvSpPr/>
          <p:nvPr/>
        </p:nvSpPr>
        <p:spPr>
          <a:xfrm>
            <a:off x="962025" y="4563367"/>
            <a:ext cx="4896000" cy="1278000"/>
          </a:xfrm>
          <a:prstGeom prst="roundRect">
            <a:avLst>
              <a:gd fmla="val 894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9"/>
          <p:cNvSpPr txBox="1"/>
          <p:nvPr/>
        </p:nvSpPr>
        <p:spPr>
          <a:xfrm>
            <a:off x="1438275" y="4706242"/>
            <a:ext cx="4229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3. Generate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Feeds the 3 pristine chunks to Gemini 2.5 Flash via a PromptTemplate.</a:t>
            </a:r>
            <a:endParaRPr/>
          </a:p>
        </p:txBody>
      </p:sp>
      <p:sp>
        <p:nvSpPr>
          <p:cNvPr id="563" name="Google Shape;563;p39"/>
          <p:cNvSpPr/>
          <p:nvPr/>
        </p:nvSpPr>
        <p:spPr>
          <a:xfrm>
            <a:off x="962025" y="4563367"/>
            <a:ext cx="28500" cy="127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64" name="Google Shape;56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089153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5" name="Google Shape;565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014537"/>
            <a:ext cx="5257799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6" name="Google Shape;566;p3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3475" y="219283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7" name="Google Shape;567;p3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3475" y="33090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8" name="Google Shape;568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" y="473005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9"/>
          <p:cNvSpPr txBox="1"/>
          <p:nvPr/>
        </p:nvSpPr>
        <p:spPr>
          <a:xfrm>
            <a:off x="581025" y="241244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Wiring the </a:t>
            </a:r>
            <a:r>
              <a:rPr b="1" i="0" lang="en-US" sz="3600" u="none" cap="none" strike="noStrike">
                <a:solidFill>
                  <a:srgbClr val="A855F7"/>
                </a:solidFill>
                <a:latin typeface="Space Grotesk"/>
                <a:ea typeface="Space Grotesk"/>
                <a:cs typeface="Space Grotesk"/>
                <a:sym typeface="Space Grotesk"/>
              </a:rPr>
              <a:t>LCEL</a:t>
            </a:r>
            <a:r>
              <a:rPr b="1" i="0" lang="en-US" sz="36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Pipeline</a:t>
            </a:r>
            <a:endParaRPr/>
          </a:p>
        </p:txBody>
      </p:sp>
      <p:pic>
        <p:nvPicPr>
          <p:cNvPr id="570" name="Google Shape;570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5" name="Google Shape;57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0"/>
          <p:cNvSpPr txBox="1"/>
          <p:nvPr/>
        </p:nvSpPr>
        <p:spPr>
          <a:xfrm>
            <a:off x="3235642" y="2053530"/>
            <a:ext cx="57207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Thank You.</a:t>
            </a:r>
            <a:endParaRPr/>
          </a:p>
        </p:txBody>
      </p:sp>
      <p:sp>
        <p:nvSpPr>
          <p:cNvPr id="577" name="Google Shape;577;p40"/>
          <p:cNvSpPr txBox="1"/>
          <p:nvPr/>
        </p:nvSpPr>
        <p:spPr>
          <a:xfrm>
            <a:off x="1871662" y="3672780"/>
            <a:ext cx="844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Ready to build wildly accurate, highly cost-efficient RAG pipelines?</a:t>
            </a:r>
            <a:endParaRPr/>
          </a:p>
        </p:txBody>
      </p:sp>
      <p:sp>
        <p:nvSpPr>
          <p:cNvPr id="578" name="Google Shape;578;p40"/>
          <p:cNvSpPr txBox="1"/>
          <p:nvPr/>
        </p:nvSpPr>
        <p:spPr>
          <a:xfrm>
            <a:off x="3595687" y="4575720"/>
            <a:ext cx="500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Session 3.2 Complete • MLOps Engineering Track</a:t>
            </a:r>
            <a:endParaRPr/>
          </a:p>
        </p:txBody>
      </p:sp>
      <p:pic>
        <p:nvPicPr>
          <p:cNvPr id="579" name="Google Shape;57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