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Plus Jakarta Sans"/>
      <p:regular r:id="rId19"/>
      <p:bold r:id="rId20"/>
      <p:italic r:id="rId21"/>
      <p:boldItalic r:id="rId22"/>
    </p:embeddedFont>
    <p:embeddedFont>
      <p:font typeface="Plus Jakarta Sans SemiBold"/>
      <p:regular r:id="rId23"/>
      <p:bold r:id="rId24"/>
      <p:italic r:id="rId25"/>
      <p:boldItalic r:id="rId26"/>
    </p:embeddedFont>
    <p:embeddedFont>
      <p:font typeface="Fira Code"/>
      <p:regular r:id="rId27"/>
      <p:bold r:id="rId28"/>
    </p:embeddedFont>
    <p:embeddedFont>
      <p:font typeface="Space Grotesk"/>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bold.fntdata"/><Relationship Id="rId22" Type="http://schemas.openxmlformats.org/officeDocument/2006/relationships/font" Target="fonts/PlusJakartaSans-boldItalic.fntdata"/><Relationship Id="rId21" Type="http://schemas.openxmlformats.org/officeDocument/2006/relationships/font" Target="fonts/PlusJakartaSans-italic.fntdata"/><Relationship Id="rId24" Type="http://schemas.openxmlformats.org/officeDocument/2006/relationships/font" Target="fonts/PlusJakartaSansSemiBold-bold.fntdata"/><Relationship Id="rId23" Type="http://schemas.openxmlformats.org/officeDocument/2006/relationships/font" Target="fonts/PlusJakartaSans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usJakartaSansSemiBold-boldItalic.fntdata"/><Relationship Id="rId25" Type="http://schemas.openxmlformats.org/officeDocument/2006/relationships/font" Target="fonts/PlusJakartaSansSemiBold-italic.fntdata"/><Relationship Id="rId28" Type="http://schemas.openxmlformats.org/officeDocument/2006/relationships/font" Target="fonts/FiraCode-bold.fntdata"/><Relationship Id="rId27" Type="http://schemas.openxmlformats.org/officeDocument/2006/relationships/font" Target="fonts/FiraCod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paceGrotesk-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lusJakartaSa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png"/><Relationship Id="rId9"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24.png"/><Relationship Id="rId7"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9.png"/><Relationship Id="rId10" Type="http://schemas.openxmlformats.org/officeDocument/2006/relationships/image" Target="../media/image2.png"/><Relationship Id="rId9" Type="http://schemas.openxmlformats.org/officeDocument/2006/relationships/image" Target="../media/image23.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7.png"/><Relationship Id="rId9" Type="http://schemas.openxmlformats.org/officeDocument/2006/relationships/image" Target="../media/image2.png"/><Relationship Id="rId5" Type="http://schemas.openxmlformats.org/officeDocument/2006/relationships/image" Target="../media/image26.png"/><Relationship Id="rId6" Type="http://schemas.openxmlformats.org/officeDocument/2006/relationships/image" Target="../media/image25.png"/><Relationship Id="rId7" Type="http://schemas.openxmlformats.org/officeDocument/2006/relationships/image" Target="../media/image43.png"/><Relationship Id="rId8"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31.png"/><Relationship Id="rId7" Type="http://schemas.openxmlformats.org/officeDocument/2006/relationships/image" Target="../media/image30.png"/><Relationship Id="rId8"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45.png"/><Relationship Id="rId5" Type="http://schemas.openxmlformats.org/officeDocument/2006/relationships/image" Target="../media/image38.png"/><Relationship Id="rId6" Type="http://schemas.openxmlformats.org/officeDocument/2006/relationships/image" Target="../media/image48.png"/><Relationship Id="rId7" Type="http://schemas.openxmlformats.org/officeDocument/2006/relationships/image" Target="../media/image42.png"/><Relationship Id="rId8"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41.png"/><Relationship Id="rId9" Type="http://schemas.openxmlformats.org/officeDocument/2006/relationships/image" Target="../media/image2.png"/><Relationship Id="rId5" Type="http://schemas.openxmlformats.org/officeDocument/2006/relationships/image" Target="../media/image40.png"/><Relationship Id="rId6" Type="http://schemas.openxmlformats.org/officeDocument/2006/relationships/image" Target="../media/image46.png"/><Relationship Id="rId7" Type="http://schemas.openxmlformats.org/officeDocument/2006/relationships/image" Target="../media/image29.png"/><Relationship Id="rId8"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44.png"/><Relationship Id="rId5" Type="http://schemas.openxmlformats.org/officeDocument/2006/relationships/image" Target="../media/image32.png"/><Relationship Id="rId6" Type="http://schemas.openxmlformats.org/officeDocument/2006/relationships/image" Target="../media/image47.png"/><Relationship Id="rId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39.png"/><Relationship Id="rId5" Type="http://schemas.openxmlformats.org/officeDocument/2006/relationships/image" Target="../media/image33.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49.png"/><Relationship Id="rId9" Type="http://schemas.openxmlformats.org/officeDocument/2006/relationships/image" Target="../media/image2.png"/><Relationship Id="rId5" Type="http://schemas.openxmlformats.org/officeDocument/2006/relationships/image" Target="../media/image51.png"/><Relationship Id="rId6" Type="http://schemas.openxmlformats.org/officeDocument/2006/relationships/image" Target="../media/image50.png"/><Relationship Id="rId7" Type="http://schemas.openxmlformats.org/officeDocument/2006/relationships/image" Target="../media/image52.png"/><Relationship Id="rId8"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130379" y="2453729"/>
            <a:ext cx="9931241" cy="1424880"/>
          </a:xfrm>
          <a:prstGeom prst="rect">
            <a:avLst/>
          </a:prstGeom>
          <a:noFill/>
          <a:ln>
            <a:noFill/>
          </a:ln>
        </p:spPr>
        <p:txBody>
          <a:bodyPr anchorCtr="0" anchor="t" bIns="0" lIns="0" spcFirstLastPara="1" rIns="0" wrap="square" tIns="0">
            <a:spAutoFit/>
          </a:bodyPr>
          <a:lstStyle/>
          <a:p>
            <a:pPr indent="0" lvl="0" marL="0" marR="0" rtl="0" algn="ctr">
              <a:lnSpc>
                <a:spcPct val="109980"/>
              </a:lnSpc>
              <a:spcBef>
                <a:spcPts val="0"/>
              </a:spcBef>
              <a:spcAft>
                <a:spcPts val="0"/>
              </a:spcAft>
              <a:buNone/>
            </a:pPr>
            <a:r>
              <a:rPr b="0" i="0" lang="en-US" sz="5100" u="none" cap="none" strike="noStrike">
                <a:solidFill>
                  <a:srgbClr val="F8FAFC"/>
                </a:solidFill>
                <a:latin typeface="Space Grotesk"/>
                <a:ea typeface="Space Grotesk"/>
                <a:cs typeface="Space Grotesk"/>
                <a:sym typeface="Space Grotesk"/>
              </a:rPr>
              <a:t>Session 2.2: FAISS Index Setup</a:t>
            </a:r>
            <a:br>
              <a:rPr b="0" i="0" lang="en-US" sz="1800" u="none" cap="none" strike="noStrike">
                <a:solidFill>
                  <a:schemeClr val="dk1"/>
                </a:solidFill>
                <a:latin typeface="Calibri"/>
                <a:ea typeface="Calibri"/>
                <a:cs typeface="Calibri"/>
                <a:sym typeface="Calibri"/>
              </a:rPr>
            </a:br>
            <a:r>
              <a:rPr b="0" i="0" lang="en-US" sz="5100" u="none" cap="none" strike="noStrike">
                <a:solidFill>
                  <a:srgbClr val="F8FAFC"/>
                </a:solidFill>
                <a:latin typeface="Space Grotesk"/>
                <a:ea typeface="Space Grotesk"/>
                <a:cs typeface="Space Grotesk"/>
                <a:sym typeface="Space Grotesk"/>
              </a:rPr>
              <a:t> &amp; </a:t>
            </a:r>
            <a:r>
              <a:rPr b="0" i="0" lang="en-US" sz="5100" u="none" cap="none" strike="noStrike">
                <a:solidFill>
                  <a:srgbClr val="6366F1"/>
                </a:solidFill>
                <a:latin typeface="Space Grotesk"/>
                <a:ea typeface="Space Grotesk"/>
                <a:cs typeface="Space Grotesk"/>
                <a:sym typeface="Space Grotesk"/>
              </a:rPr>
              <a:t>Vector Databases</a:t>
            </a:r>
            <a:endParaRPr/>
          </a:p>
        </p:txBody>
      </p:sp>
      <p:sp>
        <p:nvSpPr>
          <p:cNvPr id="86" name="Google Shape;86;p13"/>
          <p:cNvSpPr txBox="1"/>
          <p:nvPr/>
        </p:nvSpPr>
        <p:spPr>
          <a:xfrm>
            <a:off x="1809750" y="4211984"/>
            <a:ext cx="8572500" cy="7923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94A3B8"/>
                </a:solidFill>
                <a:latin typeface="Plus Jakarta Sans"/>
                <a:ea typeface="Plus Jakarta Sans"/>
                <a:cs typeface="Plus Jakarta Sans"/>
                <a:sym typeface="Plus Jakarta Sans"/>
              </a:rPr>
              <a:t>Conquering the Search Bottleneck: From Exhaustive Math to Approximate Nearest Neighbors.</a:t>
            </a:r>
            <a:endParaRPr/>
          </a:p>
        </p:txBody>
      </p:sp>
      <p:pic>
        <p:nvPicPr>
          <p:cNvPr id="87" name="Google Shape;87;p13"/>
          <p:cNvPicPr preferRelativeResize="0"/>
          <p:nvPr/>
        </p:nvPicPr>
        <p:blipFill>
          <a:blip r:embed="rId4">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771525" y="1634728"/>
            <a:ext cx="5133975" cy="4502794"/>
          </a:xfrm>
          <a:prstGeom prst="rect">
            <a:avLst/>
          </a:prstGeom>
          <a:noFill/>
          <a:ln>
            <a:noFill/>
          </a:ln>
        </p:spPr>
      </p:pic>
      <p:pic>
        <p:nvPicPr>
          <p:cNvPr descr="image.png" id="94" name="Google Shape;94;p14"/>
          <p:cNvPicPr preferRelativeResize="0"/>
          <p:nvPr/>
        </p:nvPicPr>
        <p:blipFill rotWithShape="1">
          <a:blip r:embed="rId5">
            <a:alphaModFix/>
          </a:blip>
          <a:srcRect b="0" l="0" r="0" t="0"/>
          <a:stretch/>
        </p:blipFill>
        <p:spPr>
          <a:xfrm>
            <a:off x="6286500" y="1634728"/>
            <a:ext cx="5133975" cy="4502794"/>
          </a:xfrm>
          <a:prstGeom prst="rect">
            <a:avLst/>
          </a:prstGeom>
          <a:noFill/>
          <a:ln>
            <a:noFill/>
          </a:ln>
        </p:spPr>
      </p:pic>
      <p:sp>
        <p:nvSpPr>
          <p:cNvPr id="95" name="Google Shape;95;p14"/>
          <p:cNvSpPr txBox="1"/>
          <p:nvPr/>
        </p:nvSpPr>
        <p:spPr>
          <a:xfrm>
            <a:off x="1543050" y="581025"/>
            <a:ext cx="10371296"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Session </a:t>
            </a:r>
            <a:r>
              <a:rPr b="0" i="0" lang="en-US" sz="3150" u="none" cap="none" strike="noStrike">
                <a:solidFill>
                  <a:srgbClr val="14B8A6"/>
                </a:solidFill>
                <a:latin typeface="Space Grotesk"/>
                <a:ea typeface="Space Grotesk"/>
                <a:cs typeface="Space Grotesk"/>
                <a:sym typeface="Space Grotesk"/>
              </a:rPr>
              <a:t>Agenda</a:t>
            </a:r>
            <a:endParaRPr/>
          </a:p>
        </p:txBody>
      </p:sp>
      <p:pic>
        <p:nvPicPr>
          <p:cNvPr descr="image.png" id="96" name="Google Shape;96;p14"/>
          <p:cNvPicPr preferRelativeResize="0"/>
          <p:nvPr/>
        </p:nvPicPr>
        <p:blipFill rotWithShape="1">
          <a:blip r:embed="rId6">
            <a:alphaModFix/>
          </a:blip>
          <a:srcRect b="0" l="0" r="0" t="0"/>
          <a:stretch/>
        </p:blipFill>
        <p:spPr>
          <a:xfrm>
            <a:off x="771525" y="581025"/>
            <a:ext cx="628650" cy="628650"/>
          </a:xfrm>
          <a:prstGeom prst="rect">
            <a:avLst/>
          </a:prstGeom>
          <a:noFill/>
          <a:ln>
            <a:noFill/>
          </a:ln>
        </p:spPr>
      </p:pic>
      <p:sp>
        <p:nvSpPr>
          <p:cNvPr id="97" name="Google Shape;97;p14"/>
          <p:cNvSpPr txBox="1"/>
          <p:nvPr/>
        </p:nvSpPr>
        <p:spPr>
          <a:xfrm>
            <a:off x="1066800" y="1958578"/>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1. The Scalability Crisis</a:t>
            </a:r>
            <a:endParaRPr/>
          </a:p>
        </p:txBody>
      </p:sp>
      <p:sp>
        <p:nvSpPr>
          <p:cNvPr id="98" name="Google Shape;98;p14"/>
          <p:cNvSpPr txBox="1"/>
          <p:nvPr/>
        </p:nvSpPr>
        <p:spPr>
          <a:xfrm>
            <a:off x="1066800" y="2387203"/>
            <a:ext cx="45434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Understanding why exact mathematical comparisons fail at an enterprise scale.</a:t>
            </a:r>
            <a:endParaRPr/>
          </a:p>
        </p:txBody>
      </p:sp>
      <p:sp>
        <p:nvSpPr>
          <p:cNvPr id="99" name="Google Shape;99;p14"/>
          <p:cNvSpPr txBox="1"/>
          <p:nvPr/>
        </p:nvSpPr>
        <p:spPr>
          <a:xfrm>
            <a:off x="1066800" y="3251894"/>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2. Enter FAISS &amp; ANN</a:t>
            </a:r>
            <a:endParaRPr/>
          </a:p>
        </p:txBody>
      </p:sp>
      <p:sp>
        <p:nvSpPr>
          <p:cNvPr id="100" name="Google Shape;100;p14"/>
          <p:cNvSpPr txBox="1"/>
          <p:nvPr/>
        </p:nvSpPr>
        <p:spPr>
          <a:xfrm>
            <a:off x="1066800" y="3680519"/>
            <a:ext cx="45434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Trading 1% accuracy for a 99.9% reduction in computational latency using Approximate Nearest Neighbors.</a:t>
            </a:r>
            <a:endParaRPr/>
          </a:p>
        </p:txBody>
      </p:sp>
      <p:sp>
        <p:nvSpPr>
          <p:cNvPr id="101" name="Google Shape;101;p14"/>
          <p:cNvSpPr txBox="1"/>
          <p:nvPr/>
        </p:nvSpPr>
        <p:spPr>
          <a:xfrm>
            <a:off x="1066800" y="4834681"/>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3. In-Memory Constraints</a:t>
            </a:r>
            <a:endParaRPr/>
          </a:p>
        </p:txBody>
      </p:sp>
      <p:sp>
        <p:nvSpPr>
          <p:cNvPr id="102" name="Google Shape;102;p14"/>
          <p:cNvSpPr txBox="1"/>
          <p:nvPr/>
        </p:nvSpPr>
        <p:spPr>
          <a:xfrm>
            <a:off x="1066800" y="5263306"/>
            <a:ext cx="45434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Managing the volatile nature of RAM-based vector operations.</a:t>
            </a:r>
            <a:endParaRPr/>
          </a:p>
        </p:txBody>
      </p:sp>
      <p:sp>
        <p:nvSpPr>
          <p:cNvPr id="103" name="Google Shape;103;p14"/>
          <p:cNvSpPr txBox="1"/>
          <p:nvPr/>
        </p:nvSpPr>
        <p:spPr>
          <a:xfrm>
            <a:off x="6581775" y="1958578"/>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4. Index Architectures</a:t>
            </a:r>
            <a:endParaRPr/>
          </a:p>
        </p:txBody>
      </p:sp>
      <p:sp>
        <p:nvSpPr>
          <p:cNvPr id="104" name="Google Shape;104;p14"/>
          <p:cNvSpPr txBox="1"/>
          <p:nvPr/>
        </p:nvSpPr>
        <p:spPr>
          <a:xfrm>
            <a:off x="6581775" y="2387203"/>
            <a:ext cx="45434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Deep dive into the math behind Flat L2, Inverted File Indexes (IVF), and HNSW Graphs.</a:t>
            </a:r>
            <a:endParaRPr/>
          </a:p>
        </p:txBody>
      </p:sp>
      <p:sp>
        <p:nvSpPr>
          <p:cNvPr id="105" name="Google Shape;105;p14"/>
          <p:cNvSpPr txBox="1"/>
          <p:nvPr/>
        </p:nvSpPr>
        <p:spPr>
          <a:xfrm>
            <a:off x="6581775" y="3251894"/>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5. State Management</a:t>
            </a:r>
            <a:endParaRPr/>
          </a:p>
        </p:txBody>
      </p:sp>
      <p:sp>
        <p:nvSpPr>
          <p:cNvPr id="106" name="Google Shape;106;p14"/>
          <p:cNvSpPr txBox="1"/>
          <p:nvPr/>
        </p:nvSpPr>
        <p:spPr>
          <a:xfrm>
            <a:off x="6581775" y="3680519"/>
            <a:ext cx="4543425" cy="59412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Serializing the mathematical graph (.faiss) and the Python lookup dictionary (.pkl).</a:t>
            </a:r>
            <a:endParaRPr/>
          </a:p>
        </p:txBody>
      </p:sp>
      <p:sp>
        <p:nvSpPr>
          <p:cNvPr id="107" name="Google Shape;107;p14"/>
          <p:cNvSpPr txBox="1"/>
          <p:nvPr/>
        </p:nvSpPr>
        <p:spPr>
          <a:xfrm>
            <a:off x="6581775" y="4560391"/>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6. Implementation Lab</a:t>
            </a:r>
            <a:endParaRPr/>
          </a:p>
        </p:txBody>
      </p:sp>
      <p:sp>
        <p:nvSpPr>
          <p:cNvPr id="108" name="Google Shape;108;p14"/>
          <p:cNvSpPr txBox="1"/>
          <p:nvPr/>
        </p:nvSpPr>
        <p:spPr>
          <a:xfrm>
            <a:off x="6581775" y="4989016"/>
            <a:ext cx="45434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Building, querying, and storing a production-ready LangChain FAISS index.</a:t>
            </a:r>
            <a:endParaRPr/>
          </a:p>
        </p:txBody>
      </p:sp>
      <p:pic>
        <p:nvPicPr>
          <p:cNvPr id="109" name="Google Shape;109;p14"/>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13" name="Shape 113"/>
        <p:cNvGrpSpPr/>
        <p:nvPr/>
      </p:nvGrpSpPr>
      <p:grpSpPr>
        <a:xfrm>
          <a:off x="0" y="0"/>
          <a:ext cx="0" cy="0"/>
          <a:chOff x="0" y="0"/>
          <a:chExt cx="0" cy="0"/>
        </a:xfrm>
      </p:grpSpPr>
      <p:pic>
        <p:nvPicPr>
          <p:cNvPr descr="image.png" id="114" name="Google Shape;114;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5" name="Google Shape;115;p15"/>
          <p:cNvPicPr preferRelativeResize="0"/>
          <p:nvPr/>
        </p:nvPicPr>
        <p:blipFill rotWithShape="1">
          <a:blip r:embed="rId4">
            <a:alphaModFix/>
          </a:blip>
          <a:srcRect b="0" l="0" r="0" t="0"/>
          <a:stretch/>
        </p:blipFill>
        <p:spPr>
          <a:xfrm>
            <a:off x="771525" y="2687091"/>
            <a:ext cx="5133975" cy="3310532"/>
          </a:xfrm>
          <a:prstGeom prst="rect">
            <a:avLst/>
          </a:prstGeom>
          <a:noFill/>
          <a:ln>
            <a:noFill/>
          </a:ln>
        </p:spPr>
      </p:pic>
      <p:pic>
        <p:nvPicPr>
          <p:cNvPr descr="image.png" id="116" name="Google Shape;116;p15"/>
          <p:cNvPicPr preferRelativeResize="0"/>
          <p:nvPr/>
        </p:nvPicPr>
        <p:blipFill rotWithShape="1">
          <a:blip r:embed="rId5">
            <a:alphaModFix/>
          </a:blip>
          <a:srcRect b="0" l="0" r="0" t="0"/>
          <a:stretch/>
        </p:blipFill>
        <p:spPr>
          <a:xfrm>
            <a:off x="1066800" y="4787949"/>
            <a:ext cx="4543425" cy="723900"/>
          </a:xfrm>
          <a:prstGeom prst="rect">
            <a:avLst/>
          </a:prstGeom>
          <a:noFill/>
          <a:ln>
            <a:noFill/>
          </a:ln>
        </p:spPr>
      </p:pic>
      <p:sp>
        <p:nvSpPr>
          <p:cNvPr id="117" name="Google Shape;117;p15"/>
          <p:cNvSpPr txBox="1"/>
          <p:nvPr/>
        </p:nvSpPr>
        <p:spPr>
          <a:xfrm>
            <a:off x="1447800" y="581025"/>
            <a:ext cx="10471308"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Search </a:t>
            </a:r>
            <a:r>
              <a:rPr b="0" i="0" lang="en-US" sz="3150" u="none" cap="none" strike="noStrike">
                <a:solidFill>
                  <a:srgbClr val="14B8A6"/>
                </a:solidFill>
                <a:latin typeface="Space Grotesk"/>
                <a:ea typeface="Space Grotesk"/>
                <a:cs typeface="Space Grotesk"/>
                <a:sym typeface="Space Grotesk"/>
              </a:rPr>
              <a:t>Bottleneck</a:t>
            </a:r>
            <a:endParaRPr/>
          </a:p>
        </p:txBody>
      </p:sp>
      <p:pic>
        <p:nvPicPr>
          <p:cNvPr descr="image.png" id="118" name="Google Shape;118;p15"/>
          <p:cNvPicPr preferRelativeResize="0"/>
          <p:nvPr/>
        </p:nvPicPr>
        <p:blipFill rotWithShape="1">
          <a:blip r:embed="rId6">
            <a:alphaModFix/>
          </a:blip>
          <a:srcRect b="0" l="0" r="0" t="0"/>
          <a:stretch/>
        </p:blipFill>
        <p:spPr>
          <a:xfrm>
            <a:off x="771525" y="581025"/>
            <a:ext cx="533400" cy="628650"/>
          </a:xfrm>
          <a:prstGeom prst="rect">
            <a:avLst/>
          </a:prstGeom>
          <a:noFill/>
          <a:ln>
            <a:noFill/>
          </a:ln>
        </p:spPr>
      </p:pic>
      <p:sp>
        <p:nvSpPr>
          <p:cNvPr id="119" name="Google Shape;119;p15"/>
          <p:cNvSpPr txBox="1"/>
          <p:nvPr/>
        </p:nvSpPr>
        <p:spPr>
          <a:xfrm>
            <a:off x="771525" y="1774775"/>
            <a:ext cx="106489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know Cosine Similarity works perfectly for comparing two vectors. But what happens when a user prompts a database containing </a:t>
            </a:r>
            <a:r>
              <a:rPr b="1" i="0" lang="en-US" sz="1425" u="none" cap="none" strike="noStrike">
                <a:solidFill>
                  <a:srgbClr val="CBD5E1"/>
                </a:solidFill>
                <a:latin typeface="Plus Jakarta Sans"/>
                <a:ea typeface="Plus Jakarta Sans"/>
                <a:cs typeface="Plus Jakarta Sans"/>
                <a:sym typeface="Plus Jakarta Sans"/>
              </a:rPr>
              <a:t>10 million document chunks?</a:t>
            </a:r>
            <a:endParaRPr/>
          </a:p>
        </p:txBody>
      </p:sp>
      <p:sp>
        <p:nvSpPr>
          <p:cNvPr id="120" name="Google Shape;120;p15"/>
          <p:cNvSpPr txBox="1"/>
          <p:nvPr/>
        </p:nvSpPr>
        <p:spPr>
          <a:xfrm>
            <a:off x="1066800" y="3010941"/>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Exhaustive Search (Flat Search)</a:t>
            </a:r>
            <a:endParaRPr/>
          </a:p>
        </p:txBody>
      </p:sp>
      <p:sp>
        <p:nvSpPr>
          <p:cNvPr id="121" name="Google Shape;121;p15"/>
          <p:cNvSpPr txBox="1"/>
          <p:nvPr/>
        </p:nvSpPr>
        <p:spPr>
          <a:xfrm>
            <a:off x="1066800" y="3439566"/>
            <a:ext cx="4543425"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CPU must perform complex floating-point calculus between the prompt vector and </a:t>
            </a:r>
            <a:r>
              <a:rPr b="0" i="1" lang="en-US" sz="1425" u="none" cap="none" strike="noStrike">
                <a:solidFill>
                  <a:srgbClr val="CBD5E1"/>
                </a:solidFill>
                <a:latin typeface="Plus Jakarta Sans"/>
                <a:ea typeface="Plus Jakarta Sans"/>
                <a:cs typeface="Plus Jakarta Sans"/>
                <a:sym typeface="Plus Jakarta Sans"/>
              </a:rPr>
              <a:t>every single one</a:t>
            </a:r>
            <a:r>
              <a:rPr b="0" i="0" lang="en-US" sz="1425" u="none" cap="none" strike="noStrike">
                <a:solidFill>
                  <a:srgbClr val="CBD5E1"/>
                </a:solidFill>
                <a:latin typeface="Plus Jakarta Sans"/>
                <a:ea typeface="Plus Jakarta Sans"/>
                <a:cs typeface="Plus Jakarta Sans"/>
                <a:sym typeface="Plus Jakarta Sans"/>
              </a:rPr>
              <a:t> of the 10 million saved vectors to find the absolute closest match.</a:t>
            </a:r>
            <a:endParaRPr/>
          </a:p>
        </p:txBody>
      </p:sp>
      <p:sp>
        <p:nvSpPr>
          <p:cNvPr id="122" name="Google Shape;122;p15"/>
          <p:cNvSpPr txBox="1"/>
          <p:nvPr/>
        </p:nvSpPr>
        <p:spPr>
          <a:xfrm>
            <a:off x="6225063" y="3099345"/>
            <a:ext cx="2580322" cy="314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Enterprise Failure</a:t>
            </a:r>
            <a:endParaRPr/>
          </a:p>
        </p:txBody>
      </p:sp>
      <p:pic>
        <p:nvPicPr>
          <p:cNvPr descr="image.png" id="123" name="Google Shape;123;p15"/>
          <p:cNvPicPr preferRelativeResize="0"/>
          <p:nvPr/>
        </p:nvPicPr>
        <p:blipFill rotWithShape="1">
          <a:blip r:embed="rId7">
            <a:alphaModFix/>
          </a:blip>
          <a:srcRect b="0" l="0" r="0" t="0"/>
          <a:stretch/>
        </p:blipFill>
        <p:spPr>
          <a:xfrm>
            <a:off x="3562350" y="5054649"/>
            <a:ext cx="859035" cy="247650"/>
          </a:xfrm>
          <a:prstGeom prst="rect">
            <a:avLst/>
          </a:prstGeom>
          <a:noFill/>
          <a:ln>
            <a:noFill/>
          </a:ln>
        </p:spPr>
      </p:pic>
      <p:sp>
        <p:nvSpPr>
          <p:cNvPr id="124" name="Google Shape;124;p15"/>
          <p:cNvSpPr txBox="1"/>
          <p:nvPr/>
        </p:nvSpPr>
        <p:spPr>
          <a:xfrm>
            <a:off x="6619875" y="3527970"/>
            <a:ext cx="48006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As your document database grows, search time grows linearly.</a:t>
            </a:r>
            <a:endParaRPr/>
          </a:p>
        </p:txBody>
      </p:sp>
      <p:sp>
        <p:nvSpPr>
          <p:cNvPr id="125" name="Google Shape;125;p15"/>
          <p:cNvSpPr txBox="1"/>
          <p:nvPr/>
        </p:nvSpPr>
        <p:spPr>
          <a:xfrm>
            <a:off x="6619875" y="4213770"/>
            <a:ext cx="48006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If 1,000 users query the system simultaneously, the server's RAM will max out instantly.</a:t>
            </a:r>
            <a:endParaRPr/>
          </a:p>
        </p:txBody>
      </p:sp>
      <p:sp>
        <p:nvSpPr>
          <p:cNvPr id="126" name="Google Shape;126;p15"/>
          <p:cNvSpPr txBox="1"/>
          <p:nvPr/>
        </p:nvSpPr>
        <p:spPr>
          <a:xfrm>
            <a:off x="6619875" y="4899570"/>
            <a:ext cx="48006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pipeline crashes before the LLM even receives the data.</a:t>
            </a:r>
            <a:endParaRPr/>
          </a:p>
        </p:txBody>
      </p:sp>
      <p:pic>
        <p:nvPicPr>
          <p:cNvPr descr="image.png" id="127" name="Google Shape;127;p15"/>
          <p:cNvPicPr preferRelativeResize="0"/>
          <p:nvPr/>
        </p:nvPicPr>
        <p:blipFill rotWithShape="1">
          <a:blip r:embed="rId8">
            <a:alphaModFix/>
          </a:blip>
          <a:srcRect b="0" l="0" r="0" t="0"/>
          <a:stretch/>
        </p:blipFill>
        <p:spPr>
          <a:xfrm>
            <a:off x="6286500" y="3570833"/>
            <a:ext cx="123825" cy="180975"/>
          </a:xfrm>
          <a:prstGeom prst="rect">
            <a:avLst/>
          </a:prstGeom>
          <a:noFill/>
          <a:ln>
            <a:noFill/>
          </a:ln>
        </p:spPr>
      </p:pic>
      <p:pic>
        <p:nvPicPr>
          <p:cNvPr descr="image.png" id="128" name="Google Shape;128;p15"/>
          <p:cNvPicPr preferRelativeResize="0"/>
          <p:nvPr/>
        </p:nvPicPr>
        <p:blipFill rotWithShape="1">
          <a:blip r:embed="rId8">
            <a:alphaModFix/>
          </a:blip>
          <a:srcRect b="0" l="0" r="0" t="0"/>
          <a:stretch/>
        </p:blipFill>
        <p:spPr>
          <a:xfrm>
            <a:off x="6286500" y="4256633"/>
            <a:ext cx="123825" cy="180975"/>
          </a:xfrm>
          <a:prstGeom prst="rect">
            <a:avLst/>
          </a:prstGeom>
          <a:noFill/>
          <a:ln>
            <a:noFill/>
          </a:ln>
        </p:spPr>
      </p:pic>
      <p:pic>
        <p:nvPicPr>
          <p:cNvPr descr="image.png" id="129" name="Google Shape;129;p15"/>
          <p:cNvPicPr preferRelativeResize="0"/>
          <p:nvPr/>
        </p:nvPicPr>
        <p:blipFill rotWithShape="1">
          <a:blip r:embed="rId8">
            <a:alphaModFix/>
          </a:blip>
          <a:srcRect b="0" l="0" r="0" t="0"/>
          <a:stretch/>
        </p:blipFill>
        <p:spPr>
          <a:xfrm>
            <a:off x="6286500" y="4942433"/>
            <a:ext cx="123825" cy="180975"/>
          </a:xfrm>
          <a:prstGeom prst="rect">
            <a:avLst/>
          </a:prstGeom>
          <a:noFill/>
          <a:ln>
            <a:noFill/>
          </a:ln>
        </p:spPr>
      </p:pic>
      <p:pic>
        <p:nvPicPr>
          <p:cNvPr id="130" name="Google Shape;130;p15"/>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34" name="Shape 134"/>
        <p:cNvGrpSpPr/>
        <p:nvPr/>
      </p:nvGrpSpPr>
      <p:grpSpPr>
        <a:xfrm>
          <a:off x="0" y="0"/>
          <a:ext cx="0" cy="0"/>
          <a:chOff x="0" y="0"/>
          <a:chExt cx="0" cy="0"/>
        </a:xfrm>
      </p:grpSpPr>
      <p:pic>
        <p:nvPicPr>
          <p:cNvPr descr="image.png" id="135" name="Google Shape;135;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6" name="Google Shape;136;p16"/>
          <p:cNvPicPr preferRelativeResize="0"/>
          <p:nvPr/>
        </p:nvPicPr>
        <p:blipFill rotWithShape="1">
          <a:blip r:embed="rId4">
            <a:alphaModFix/>
          </a:blip>
          <a:srcRect b="0" l="0" r="0" t="0"/>
          <a:stretch/>
        </p:blipFill>
        <p:spPr>
          <a:xfrm>
            <a:off x="771525" y="2277665"/>
            <a:ext cx="5133975" cy="3216919"/>
          </a:xfrm>
          <a:prstGeom prst="rect">
            <a:avLst/>
          </a:prstGeom>
          <a:noFill/>
          <a:ln>
            <a:noFill/>
          </a:ln>
        </p:spPr>
      </p:pic>
      <p:pic>
        <p:nvPicPr>
          <p:cNvPr descr="image.png" id="137" name="Google Shape;137;p16"/>
          <p:cNvPicPr preferRelativeResize="0"/>
          <p:nvPr/>
        </p:nvPicPr>
        <p:blipFill rotWithShape="1">
          <a:blip r:embed="rId5">
            <a:alphaModFix/>
          </a:blip>
          <a:srcRect b="0" l="0" r="0" t="0"/>
          <a:stretch/>
        </p:blipFill>
        <p:spPr>
          <a:xfrm>
            <a:off x="6286500" y="2277665"/>
            <a:ext cx="5133975" cy="3216919"/>
          </a:xfrm>
          <a:prstGeom prst="rect">
            <a:avLst/>
          </a:prstGeom>
          <a:noFill/>
          <a:ln>
            <a:noFill/>
          </a:ln>
        </p:spPr>
      </p:pic>
      <p:sp>
        <p:nvSpPr>
          <p:cNvPr id="138" name="Google Shape;138;p16"/>
          <p:cNvSpPr txBox="1"/>
          <p:nvPr/>
        </p:nvSpPr>
        <p:spPr>
          <a:xfrm>
            <a:off x="1495425" y="581025"/>
            <a:ext cx="10421302"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Why Not </a:t>
            </a:r>
            <a:r>
              <a:rPr b="0" i="0" lang="en-US" sz="3150" u="none" cap="none" strike="noStrike">
                <a:solidFill>
                  <a:srgbClr val="14B8A6"/>
                </a:solidFill>
                <a:latin typeface="Space Grotesk"/>
                <a:ea typeface="Space Grotesk"/>
                <a:cs typeface="Space Grotesk"/>
                <a:sym typeface="Space Grotesk"/>
              </a:rPr>
              <a:t>Standard SQL?</a:t>
            </a:r>
            <a:endParaRPr/>
          </a:p>
        </p:txBody>
      </p:sp>
      <p:pic>
        <p:nvPicPr>
          <p:cNvPr descr="image.png" id="139" name="Google Shape;139;p16"/>
          <p:cNvPicPr preferRelativeResize="0"/>
          <p:nvPr/>
        </p:nvPicPr>
        <p:blipFill rotWithShape="1">
          <a:blip r:embed="rId6">
            <a:alphaModFix/>
          </a:blip>
          <a:srcRect b="0" l="0" r="0" t="0"/>
          <a:stretch/>
        </p:blipFill>
        <p:spPr>
          <a:xfrm>
            <a:off x="771525" y="581025"/>
            <a:ext cx="581025" cy="628650"/>
          </a:xfrm>
          <a:prstGeom prst="rect">
            <a:avLst/>
          </a:prstGeom>
          <a:noFill/>
          <a:ln>
            <a:noFill/>
          </a:ln>
        </p:spPr>
      </p:pic>
      <p:sp>
        <p:nvSpPr>
          <p:cNvPr id="140" name="Google Shape;140;p16"/>
          <p:cNvSpPr txBox="1"/>
          <p:nvPr/>
        </p:nvSpPr>
        <p:spPr>
          <a:xfrm>
            <a:off x="1066800" y="2572940"/>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Relational DBs (PostgreSQL)</a:t>
            </a:r>
            <a:endParaRPr/>
          </a:p>
        </p:txBody>
      </p:sp>
      <p:sp>
        <p:nvSpPr>
          <p:cNvPr id="141" name="Google Shape;141;p16"/>
          <p:cNvSpPr txBox="1"/>
          <p:nvPr/>
        </p:nvSpPr>
        <p:spPr>
          <a:xfrm>
            <a:off x="1066800" y="3001565"/>
            <a:ext cx="45434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Built using </a:t>
            </a:r>
            <a:r>
              <a:rPr b="1" i="0" lang="en-US" sz="1425" u="none" cap="none" strike="noStrike">
                <a:solidFill>
                  <a:srgbClr val="CBD5E1"/>
                </a:solidFill>
                <a:latin typeface="Plus Jakarta Sans"/>
                <a:ea typeface="Plus Jakarta Sans"/>
                <a:cs typeface="Plus Jakarta Sans"/>
                <a:sym typeface="Plus Jakarta Sans"/>
              </a:rPr>
              <a:t>B-Trees</a:t>
            </a:r>
            <a:r>
              <a:rPr b="0" i="0" lang="en-US" sz="1425" u="none" cap="none" strike="noStrike">
                <a:solidFill>
                  <a:srgbClr val="CBD5E1"/>
                </a:solidFill>
                <a:latin typeface="Plus Jakarta Sans"/>
                <a:ea typeface="Plus Jakarta Sans"/>
                <a:cs typeface="Plus Jakarta Sans"/>
                <a:sym typeface="Plus Jakarta Sans"/>
              </a:rPr>
              <a:t> to index exact strings and integers.</a:t>
            </a:r>
            <a:endParaRPr/>
          </a:p>
        </p:txBody>
      </p:sp>
      <p:sp>
        <p:nvSpPr>
          <p:cNvPr id="142" name="Google Shape;142;p16"/>
          <p:cNvSpPr txBox="1"/>
          <p:nvPr/>
        </p:nvSpPr>
        <p:spPr>
          <a:xfrm>
            <a:off x="1066800" y="4152007"/>
            <a:ext cx="45434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It physically traverses a tree looking for an exact, binary match. It is completely useless for abstract high-dimensional coordinates.</a:t>
            </a:r>
            <a:endParaRPr/>
          </a:p>
        </p:txBody>
      </p:sp>
      <p:sp>
        <p:nvSpPr>
          <p:cNvPr id="143" name="Google Shape;143;p16"/>
          <p:cNvSpPr txBox="1"/>
          <p:nvPr/>
        </p:nvSpPr>
        <p:spPr>
          <a:xfrm>
            <a:off x="6581775" y="2601515"/>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Vector DBs (FAISS)</a:t>
            </a:r>
            <a:endParaRPr/>
          </a:p>
        </p:txBody>
      </p:sp>
      <p:sp>
        <p:nvSpPr>
          <p:cNvPr id="144" name="Google Shape;144;p16"/>
          <p:cNvSpPr txBox="1"/>
          <p:nvPr/>
        </p:nvSpPr>
        <p:spPr>
          <a:xfrm>
            <a:off x="6581775" y="3030140"/>
            <a:ext cx="45434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A vector is a 768-dimensional array of floats. A user's prompt vector will </a:t>
            </a:r>
            <a:r>
              <a:rPr b="1" i="0" lang="en-US" sz="1425" u="none" cap="none" strike="noStrike">
                <a:solidFill>
                  <a:srgbClr val="CBD5E1"/>
                </a:solidFill>
                <a:latin typeface="Plus Jakarta Sans"/>
                <a:ea typeface="Plus Jakarta Sans"/>
                <a:cs typeface="Plus Jakarta Sans"/>
                <a:sym typeface="Plus Jakarta Sans"/>
              </a:rPr>
              <a:t>never exactly match</a:t>
            </a:r>
            <a:r>
              <a:rPr b="0" i="0" lang="en-US" sz="1425" u="none" cap="none" strike="noStrike">
                <a:solidFill>
                  <a:srgbClr val="CBD5E1"/>
                </a:solidFill>
                <a:latin typeface="Plus Jakarta Sans"/>
                <a:ea typeface="Plus Jakarta Sans"/>
                <a:cs typeface="Plus Jakarta Sans"/>
                <a:sym typeface="Plus Jakarta Sans"/>
              </a:rPr>
              <a:t> a saved document vector.</a:t>
            </a:r>
            <a:endParaRPr/>
          </a:p>
        </p:txBody>
      </p:sp>
      <p:sp>
        <p:nvSpPr>
          <p:cNvPr id="145" name="Google Shape;145;p16"/>
          <p:cNvSpPr txBox="1"/>
          <p:nvPr/>
        </p:nvSpPr>
        <p:spPr>
          <a:xfrm>
            <a:off x="6581775" y="4041427"/>
            <a:ext cx="4543425"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are not searching for an exact match; we are searching for the </a:t>
            </a:r>
            <a:r>
              <a:rPr b="1" i="0" lang="en-US" sz="1425" u="none" cap="none" strike="noStrike">
                <a:solidFill>
                  <a:srgbClr val="CBD5E1"/>
                </a:solidFill>
                <a:latin typeface="Plus Jakarta Sans"/>
                <a:ea typeface="Plus Jakarta Sans"/>
                <a:cs typeface="Plus Jakarta Sans"/>
                <a:sym typeface="Plus Jakarta Sans"/>
              </a:rPr>
              <a:t>"Closest Neighborhood."</a:t>
            </a:r>
            <a:r>
              <a:rPr b="0" i="0" lang="en-US" sz="1425" u="none" cap="none" strike="noStrike">
                <a:solidFill>
                  <a:srgbClr val="CBD5E1"/>
                </a:solidFill>
                <a:latin typeface="Plus Jakarta Sans"/>
                <a:ea typeface="Plus Jakarta Sans"/>
                <a:cs typeface="Plus Jakarta Sans"/>
                <a:sym typeface="Plus Jakarta Sans"/>
              </a:rPr>
              <a:t> Vector databases are specifically engineered to map and traverse these neighborhoods.</a:t>
            </a:r>
            <a:endParaRPr/>
          </a:p>
        </p:txBody>
      </p:sp>
      <p:pic>
        <p:nvPicPr>
          <p:cNvPr id="146" name="Google Shape;146;p16"/>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50" name="Shape 150"/>
        <p:cNvGrpSpPr/>
        <p:nvPr/>
      </p:nvGrpSpPr>
      <p:grpSpPr>
        <a:xfrm>
          <a:off x="0" y="0"/>
          <a:ext cx="0" cy="0"/>
          <a:chOff x="0" y="0"/>
          <a:chExt cx="0" cy="0"/>
        </a:xfrm>
      </p:grpSpPr>
      <p:pic>
        <p:nvPicPr>
          <p:cNvPr descr="image.png" id="151" name="Google Shape;151;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2" name="Google Shape;152;p17"/>
          <p:cNvPicPr preferRelativeResize="0"/>
          <p:nvPr/>
        </p:nvPicPr>
        <p:blipFill rotWithShape="1">
          <a:blip r:embed="rId4">
            <a:alphaModFix/>
          </a:blip>
          <a:srcRect b="0" l="0" r="0" t="0"/>
          <a:stretch/>
        </p:blipFill>
        <p:spPr>
          <a:xfrm>
            <a:off x="771525" y="4161383"/>
            <a:ext cx="5133975" cy="2003970"/>
          </a:xfrm>
          <a:prstGeom prst="rect">
            <a:avLst/>
          </a:prstGeom>
          <a:noFill/>
          <a:ln>
            <a:noFill/>
          </a:ln>
        </p:spPr>
      </p:pic>
      <p:pic>
        <p:nvPicPr>
          <p:cNvPr descr="image.png" id="153" name="Google Shape;153;p17"/>
          <p:cNvPicPr preferRelativeResize="0"/>
          <p:nvPr/>
        </p:nvPicPr>
        <p:blipFill rotWithShape="1">
          <a:blip r:embed="rId5">
            <a:alphaModFix/>
          </a:blip>
          <a:srcRect b="0" l="0" r="0" t="0"/>
          <a:stretch/>
        </p:blipFill>
        <p:spPr>
          <a:xfrm>
            <a:off x="6286500" y="4161383"/>
            <a:ext cx="5133975" cy="2003970"/>
          </a:xfrm>
          <a:prstGeom prst="rect">
            <a:avLst/>
          </a:prstGeom>
          <a:noFill/>
          <a:ln>
            <a:noFill/>
          </a:ln>
        </p:spPr>
      </p:pic>
      <p:sp>
        <p:nvSpPr>
          <p:cNvPr id="154" name="Google Shape;154;p17"/>
          <p:cNvSpPr txBox="1"/>
          <p:nvPr/>
        </p:nvSpPr>
        <p:spPr>
          <a:xfrm>
            <a:off x="1647825" y="581025"/>
            <a:ext cx="10261282"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Engineering </a:t>
            </a:r>
            <a:r>
              <a:rPr b="0" i="0" lang="en-US" sz="3150" u="none" cap="none" strike="noStrike">
                <a:solidFill>
                  <a:srgbClr val="14B8A6"/>
                </a:solidFill>
                <a:latin typeface="Space Grotesk"/>
                <a:ea typeface="Space Grotesk"/>
                <a:cs typeface="Space Grotesk"/>
                <a:sym typeface="Space Grotesk"/>
              </a:rPr>
              <a:t>Compromise</a:t>
            </a:r>
            <a:endParaRPr/>
          </a:p>
        </p:txBody>
      </p:sp>
      <p:pic>
        <p:nvPicPr>
          <p:cNvPr descr="image.png" id="155" name="Google Shape;155;p17"/>
          <p:cNvPicPr preferRelativeResize="0"/>
          <p:nvPr/>
        </p:nvPicPr>
        <p:blipFill rotWithShape="1">
          <a:blip r:embed="rId6">
            <a:alphaModFix/>
          </a:blip>
          <a:srcRect b="0" l="0" r="0" t="0"/>
          <a:stretch/>
        </p:blipFill>
        <p:spPr>
          <a:xfrm>
            <a:off x="771525" y="581025"/>
            <a:ext cx="733425" cy="628650"/>
          </a:xfrm>
          <a:prstGeom prst="rect">
            <a:avLst/>
          </a:prstGeom>
          <a:noFill/>
          <a:ln>
            <a:noFill/>
          </a:ln>
        </p:spPr>
      </p:pic>
      <p:sp>
        <p:nvSpPr>
          <p:cNvPr id="156" name="Google Shape;156;p17"/>
          <p:cNvSpPr txBox="1"/>
          <p:nvPr/>
        </p:nvSpPr>
        <p:spPr>
          <a:xfrm>
            <a:off x="2968109" y="1607046"/>
            <a:ext cx="6255781" cy="4286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700" u="none" cap="none" strike="noStrike">
                <a:solidFill>
                  <a:srgbClr val="A5B4FC"/>
                </a:solidFill>
                <a:latin typeface="Plus Jakarta Sans"/>
                <a:ea typeface="Plus Jakarta Sans"/>
                <a:cs typeface="Plus Jakarta Sans"/>
                <a:sym typeface="Plus Jakarta Sans"/>
              </a:rPr>
              <a:t>ANN: Approximate Nearest Neighbor</a:t>
            </a:r>
            <a:endParaRPr/>
          </a:p>
        </p:txBody>
      </p:sp>
      <p:sp>
        <p:nvSpPr>
          <p:cNvPr id="157" name="Google Shape;157;p17"/>
          <p:cNvSpPr txBox="1"/>
          <p:nvPr/>
        </p:nvSpPr>
        <p:spPr>
          <a:xfrm>
            <a:off x="1809750" y="2578596"/>
            <a:ext cx="8572500" cy="868412"/>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cannot do exhaustive math in production. We need a shortcut. ANN algorithms trade a microscopic amount of mathematical accuracy for an absolutely massive explosion in computational speed.</a:t>
            </a:r>
            <a:endParaRPr/>
          </a:p>
        </p:txBody>
      </p:sp>
      <p:pic>
        <p:nvPicPr>
          <p:cNvPr descr="image.png" id="158" name="Google Shape;158;p17"/>
          <p:cNvPicPr preferRelativeResize="0"/>
          <p:nvPr/>
        </p:nvPicPr>
        <p:blipFill rotWithShape="1">
          <a:blip r:embed="rId7">
            <a:alphaModFix/>
          </a:blip>
          <a:srcRect b="0" l="0" r="0" t="0"/>
          <a:stretch/>
        </p:blipFill>
        <p:spPr>
          <a:xfrm>
            <a:off x="3100387" y="4485233"/>
            <a:ext cx="476250" cy="476250"/>
          </a:xfrm>
          <a:prstGeom prst="rect">
            <a:avLst/>
          </a:prstGeom>
          <a:noFill/>
          <a:ln>
            <a:noFill/>
          </a:ln>
        </p:spPr>
      </p:pic>
      <p:sp>
        <p:nvSpPr>
          <p:cNvPr id="159" name="Google Shape;159;p17"/>
          <p:cNvSpPr txBox="1"/>
          <p:nvPr/>
        </p:nvSpPr>
        <p:spPr>
          <a:xfrm>
            <a:off x="953214" y="5151983"/>
            <a:ext cx="4770596" cy="314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Sacrifice</a:t>
            </a:r>
            <a:endParaRPr/>
          </a:p>
        </p:txBody>
      </p:sp>
      <p:sp>
        <p:nvSpPr>
          <p:cNvPr id="160" name="Google Shape;160;p17"/>
          <p:cNvSpPr txBox="1"/>
          <p:nvPr/>
        </p:nvSpPr>
        <p:spPr>
          <a:xfrm>
            <a:off x="1066800" y="5580608"/>
            <a:ext cx="4543425"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Lose ~1% of "perfect" accuracy.</a:t>
            </a:r>
            <a:endParaRPr/>
          </a:p>
        </p:txBody>
      </p:sp>
      <p:pic>
        <p:nvPicPr>
          <p:cNvPr descr="image.png" id="161" name="Google Shape;161;p17"/>
          <p:cNvPicPr preferRelativeResize="0"/>
          <p:nvPr/>
        </p:nvPicPr>
        <p:blipFill rotWithShape="1">
          <a:blip r:embed="rId8">
            <a:alphaModFix/>
          </a:blip>
          <a:srcRect b="0" l="0" r="0" t="0"/>
          <a:stretch/>
        </p:blipFill>
        <p:spPr>
          <a:xfrm>
            <a:off x="8643937" y="4485233"/>
            <a:ext cx="419100" cy="476250"/>
          </a:xfrm>
          <a:prstGeom prst="rect">
            <a:avLst/>
          </a:prstGeom>
          <a:noFill/>
          <a:ln>
            <a:noFill/>
          </a:ln>
        </p:spPr>
      </p:pic>
      <p:sp>
        <p:nvSpPr>
          <p:cNvPr id="162" name="Google Shape;162;p17"/>
          <p:cNvSpPr txBox="1"/>
          <p:nvPr/>
        </p:nvSpPr>
        <p:spPr>
          <a:xfrm>
            <a:off x="6468189" y="5151983"/>
            <a:ext cx="4770596" cy="314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Gain</a:t>
            </a:r>
            <a:endParaRPr/>
          </a:p>
        </p:txBody>
      </p:sp>
      <p:sp>
        <p:nvSpPr>
          <p:cNvPr id="163" name="Google Shape;163;p17"/>
          <p:cNvSpPr txBox="1"/>
          <p:nvPr/>
        </p:nvSpPr>
        <p:spPr>
          <a:xfrm>
            <a:off x="6581775" y="5580608"/>
            <a:ext cx="4543425"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Search 10 million vectors in </a:t>
            </a:r>
            <a:r>
              <a:rPr b="1" i="0" lang="en-US" sz="1425" u="none" cap="none" strike="noStrike">
                <a:solidFill>
                  <a:srgbClr val="CBD5E1"/>
                </a:solidFill>
                <a:latin typeface="Plus Jakarta Sans"/>
                <a:ea typeface="Plus Jakarta Sans"/>
                <a:cs typeface="Plus Jakarta Sans"/>
                <a:sym typeface="Plus Jakarta Sans"/>
              </a:rPr>
              <a:t>5 milliseconds</a:t>
            </a:r>
            <a:r>
              <a:rPr b="0" i="0" lang="en-US" sz="1425" u="none" cap="none" strike="noStrike">
                <a:solidFill>
                  <a:srgbClr val="CBD5E1"/>
                </a:solidFill>
                <a:latin typeface="Plus Jakarta Sans"/>
                <a:ea typeface="Plus Jakarta Sans"/>
                <a:cs typeface="Plus Jakarta Sans"/>
                <a:sym typeface="Plus Jakarta Sans"/>
              </a:rPr>
              <a:t>.</a:t>
            </a:r>
            <a:endParaRPr/>
          </a:p>
        </p:txBody>
      </p:sp>
      <p:pic>
        <p:nvPicPr>
          <p:cNvPr id="164" name="Google Shape;164;p17"/>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68" name="Shape 168"/>
        <p:cNvGrpSpPr/>
        <p:nvPr/>
      </p:nvGrpSpPr>
      <p:grpSpPr>
        <a:xfrm>
          <a:off x="0" y="0"/>
          <a:ext cx="0" cy="0"/>
          <a:chOff x="0" y="0"/>
          <a:chExt cx="0" cy="0"/>
        </a:xfrm>
      </p:grpSpPr>
      <p:pic>
        <p:nvPicPr>
          <p:cNvPr descr="image.png" id="169" name="Google Shape;169;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0" name="Google Shape;170;p18"/>
          <p:cNvPicPr preferRelativeResize="0"/>
          <p:nvPr/>
        </p:nvPicPr>
        <p:blipFill rotWithShape="1">
          <a:blip r:embed="rId4">
            <a:alphaModFix/>
          </a:blip>
          <a:srcRect b="0" l="0" r="0" t="0"/>
          <a:stretch/>
        </p:blipFill>
        <p:spPr>
          <a:xfrm>
            <a:off x="6286500" y="2002631"/>
            <a:ext cx="5133975" cy="3767137"/>
          </a:xfrm>
          <a:prstGeom prst="rect">
            <a:avLst/>
          </a:prstGeom>
          <a:noFill/>
          <a:ln>
            <a:noFill/>
          </a:ln>
        </p:spPr>
      </p:pic>
      <p:pic>
        <p:nvPicPr>
          <p:cNvPr descr="image.png" id="171" name="Google Shape;171;p18"/>
          <p:cNvPicPr preferRelativeResize="0"/>
          <p:nvPr/>
        </p:nvPicPr>
        <p:blipFill rotWithShape="1">
          <a:blip r:embed="rId5">
            <a:alphaModFix/>
          </a:blip>
          <a:srcRect b="0" l="0" r="0" t="0"/>
          <a:stretch/>
        </p:blipFill>
        <p:spPr>
          <a:xfrm>
            <a:off x="6581775" y="3814018"/>
            <a:ext cx="4543425" cy="1321593"/>
          </a:xfrm>
          <a:prstGeom prst="rect">
            <a:avLst/>
          </a:prstGeom>
          <a:noFill/>
          <a:ln>
            <a:noFill/>
          </a:ln>
        </p:spPr>
      </p:pic>
      <p:sp>
        <p:nvSpPr>
          <p:cNvPr id="172" name="Google Shape;172;p18"/>
          <p:cNvSpPr txBox="1"/>
          <p:nvPr/>
        </p:nvSpPr>
        <p:spPr>
          <a:xfrm>
            <a:off x="1647825" y="581025"/>
            <a:ext cx="10261282"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 Enter </a:t>
            </a:r>
            <a:r>
              <a:rPr b="0" i="0" lang="en-US" sz="3150" u="none" cap="none" strike="noStrike">
                <a:solidFill>
                  <a:srgbClr val="14B8A6"/>
                </a:solidFill>
                <a:latin typeface="Space Grotesk"/>
                <a:ea typeface="Space Grotesk"/>
                <a:cs typeface="Space Grotesk"/>
                <a:sym typeface="Space Grotesk"/>
              </a:rPr>
              <a:t>FAISS</a:t>
            </a:r>
            <a:endParaRPr/>
          </a:p>
        </p:txBody>
      </p:sp>
      <p:pic>
        <p:nvPicPr>
          <p:cNvPr descr="image.png" id="173" name="Google Shape;173;p18"/>
          <p:cNvPicPr preferRelativeResize="0"/>
          <p:nvPr/>
        </p:nvPicPr>
        <p:blipFill rotWithShape="1">
          <a:blip r:embed="rId6">
            <a:alphaModFix/>
          </a:blip>
          <a:srcRect b="0" l="0" r="0" t="0"/>
          <a:stretch/>
        </p:blipFill>
        <p:spPr>
          <a:xfrm>
            <a:off x="771525" y="581025"/>
            <a:ext cx="733425" cy="628650"/>
          </a:xfrm>
          <a:prstGeom prst="rect">
            <a:avLst/>
          </a:prstGeom>
          <a:noFill/>
          <a:ln>
            <a:noFill/>
          </a:ln>
        </p:spPr>
      </p:pic>
      <p:sp>
        <p:nvSpPr>
          <p:cNvPr id="174" name="Google Shape;174;p18"/>
          <p:cNvSpPr txBox="1"/>
          <p:nvPr/>
        </p:nvSpPr>
        <p:spPr>
          <a:xfrm>
            <a:off x="771525" y="2002631"/>
            <a:ext cx="5390673" cy="838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6000" u="none" cap="none" strike="noStrike">
                <a:solidFill>
                  <a:srgbClr val="F8FAFC"/>
                </a:solidFill>
                <a:latin typeface="Space Grotesk"/>
                <a:ea typeface="Space Grotesk"/>
                <a:cs typeface="Space Grotesk"/>
                <a:sym typeface="Space Grotesk"/>
              </a:rPr>
              <a:t>FAISS</a:t>
            </a:r>
            <a:endParaRPr/>
          </a:p>
        </p:txBody>
      </p:sp>
      <p:sp>
        <p:nvSpPr>
          <p:cNvPr id="175" name="Google Shape;175;p18"/>
          <p:cNvSpPr txBox="1"/>
          <p:nvPr/>
        </p:nvSpPr>
        <p:spPr>
          <a:xfrm>
            <a:off x="771525" y="2840831"/>
            <a:ext cx="539067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94A3B8"/>
                </a:solidFill>
                <a:latin typeface="Plus Jakarta Sans"/>
                <a:ea typeface="Plus Jakarta Sans"/>
                <a:cs typeface="Plus Jakarta Sans"/>
                <a:sym typeface="Plus Jakarta Sans"/>
              </a:rPr>
              <a:t>Facebook AI Similarity Search</a:t>
            </a:r>
            <a:endParaRPr/>
          </a:p>
        </p:txBody>
      </p:sp>
      <p:sp>
        <p:nvSpPr>
          <p:cNvPr id="176" name="Google Shape;176;p18"/>
          <p:cNvSpPr txBox="1"/>
          <p:nvPr/>
        </p:nvSpPr>
        <p:spPr>
          <a:xfrm>
            <a:off x="6581775" y="2326481"/>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In-Memory Reality</a:t>
            </a:r>
            <a:endParaRPr/>
          </a:p>
        </p:txBody>
      </p:sp>
      <p:sp>
        <p:nvSpPr>
          <p:cNvPr id="177" name="Google Shape;177;p18"/>
          <p:cNvSpPr txBox="1"/>
          <p:nvPr/>
        </p:nvSpPr>
        <p:spPr>
          <a:xfrm>
            <a:off x="6581775" y="2755106"/>
            <a:ext cx="45434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FAISS is primarily an </a:t>
            </a:r>
            <a:r>
              <a:rPr b="1" i="0" lang="en-US" sz="1425" u="none" cap="none" strike="noStrike">
                <a:solidFill>
                  <a:srgbClr val="CBD5E1"/>
                </a:solidFill>
                <a:latin typeface="Plus Jakarta Sans"/>
                <a:ea typeface="Plus Jakarta Sans"/>
                <a:cs typeface="Plus Jakarta Sans"/>
                <a:sym typeface="Plus Jakarta Sans"/>
              </a:rPr>
              <a:t>in-memory index</a:t>
            </a:r>
            <a:r>
              <a:rPr b="0" i="0" lang="en-US" sz="1425" u="none" cap="none" strike="noStrike">
                <a:solidFill>
                  <a:srgbClr val="CBD5E1"/>
                </a:solidFill>
                <a:latin typeface="Plus Jakarta Sans"/>
                <a:ea typeface="Plus Jakarta Sans"/>
                <a:cs typeface="Plus Jakarta Sans"/>
                <a:sym typeface="Plus Jakarta Sans"/>
              </a:rPr>
              <a:t>. The entire mathematical graph of millions of vectors lives in your server's RAM.</a:t>
            </a:r>
            <a:endParaRPr/>
          </a:p>
        </p:txBody>
      </p:sp>
      <p:sp>
        <p:nvSpPr>
          <p:cNvPr id="178" name="Google Shape;178;p18"/>
          <p:cNvSpPr txBox="1"/>
          <p:nvPr/>
        </p:nvSpPr>
        <p:spPr>
          <a:xfrm>
            <a:off x="1104900" y="3440906"/>
            <a:ext cx="48006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1" i="0" lang="en-US" sz="1425" u="none" cap="none" strike="noStrike">
                <a:solidFill>
                  <a:srgbClr val="CBD5E1"/>
                </a:solidFill>
                <a:latin typeface="Plus Jakarta Sans"/>
                <a:ea typeface="Plus Jakarta Sans"/>
                <a:cs typeface="Plus Jakarta Sans"/>
                <a:sym typeface="Plus Jakarta Sans"/>
              </a:rPr>
              <a:t>Open-Source C++ Core:</a:t>
            </a:r>
            <a:r>
              <a:rPr b="0" i="0" lang="en-US" sz="1425" u="none" cap="none" strike="noStrike">
                <a:solidFill>
                  <a:srgbClr val="CBD5E1"/>
                </a:solidFill>
                <a:latin typeface="Plus Jakarta Sans"/>
                <a:ea typeface="Plus Jakarta Sans"/>
                <a:cs typeface="Plus Jakarta Sans"/>
                <a:sym typeface="Plus Jakarta Sans"/>
              </a:rPr>
              <a:t> Blisteringly fast engine with simple Python wrappers.</a:t>
            </a:r>
            <a:endParaRPr/>
          </a:p>
        </p:txBody>
      </p:sp>
      <p:sp>
        <p:nvSpPr>
          <p:cNvPr id="179" name="Google Shape;179;p18"/>
          <p:cNvSpPr txBox="1"/>
          <p:nvPr/>
        </p:nvSpPr>
        <p:spPr>
          <a:xfrm>
            <a:off x="1104900" y="4126706"/>
            <a:ext cx="4800600"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1" i="0" lang="en-US" sz="1425" u="none" cap="none" strike="noStrike">
                <a:solidFill>
                  <a:srgbClr val="CBD5E1"/>
                </a:solidFill>
                <a:latin typeface="Plus Jakarta Sans"/>
                <a:ea typeface="Plus Jakarta Sans"/>
                <a:cs typeface="Plus Jakarta Sans"/>
                <a:sym typeface="Plus Jakarta Sans"/>
              </a:rPr>
              <a:t>The Industry Standard:</a:t>
            </a:r>
            <a:r>
              <a:rPr b="0" i="0" lang="en-US" sz="1425" u="none" cap="none" strike="noStrike">
                <a:solidFill>
                  <a:srgbClr val="CBD5E1"/>
                </a:solidFill>
                <a:latin typeface="Plus Jakarta Sans"/>
                <a:ea typeface="Plus Jakarta Sans"/>
                <a:cs typeface="Plus Jakarta Sans"/>
                <a:sym typeface="Plus Jakarta Sans"/>
              </a:rPr>
              <a:t> Commercial DBs like Pinecone, ChromaDB, and Weaviate are heavily inspired by or directly utilize FAISS under the hood.</a:t>
            </a:r>
            <a:endParaRPr/>
          </a:p>
        </p:txBody>
      </p:sp>
      <p:sp>
        <p:nvSpPr>
          <p:cNvPr id="180" name="Google Shape;180;p18"/>
          <p:cNvSpPr txBox="1"/>
          <p:nvPr/>
        </p:nvSpPr>
        <p:spPr>
          <a:xfrm>
            <a:off x="1104900" y="5083968"/>
            <a:ext cx="48006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Designed explicitly to search dense vectors at a scale that defies human comprehension.</a:t>
            </a:r>
            <a:endParaRPr/>
          </a:p>
        </p:txBody>
      </p:sp>
      <p:sp>
        <p:nvSpPr>
          <p:cNvPr id="181" name="Google Shape;181;p18"/>
          <p:cNvSpPr txBox="1"/>
          <p:nvPr/>
        </p:nvSpPr>
        <p:spPr>
          <a:xfrm>
            <a:off x="6762750" y="3956893"/>
            <a:ext cx="4219575" cy="1035843"/>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1" i="0" lang="en-US" sz="1275" u="none" cap="none" strike="noStrike">
                <a:solidFill>
                  <a:srgbClr val="FDA4AF"/>
                </a:solidFill>
                <a:latin typeface="Plus Jakarta Sans"/>
                <a:ea typeface="Plus Jakarta Sans"/>
                <a:cs typeface="Plus Jakarta Sans"/>
                <a:sym typeface="Plus Jakarta Sans"/>
              </a:rPr>
              <a:t>Volatility Warning:</a:t>
            </a:r>
            <a:r>
              <a:rPr b="0" i="0" lang="en-US" sz="1275" u="none" cap="none" strike="noStrike">
                <a:solidFill>
                  <a:srgbClr val="FDA4AF"/>
                </a:solidFill>
                <a:latin typeface="Plus Jakarta Sans"/>
                <a:ea typeface="Plus Jakarta Sans"/>
                <a:cs typeface="Plus Jakarta Sans"/>
                <a:sym typeface="Plus Jakarta Sans"/>
              </a:rPr>
              <a:t> Because it lives in RAM, if your Python script finishes or the server restarts, the entire database is erased instantly. (We fix this via Serialization).</a:t>
            </a:r>
            <a:endParaRPr/>
          </a:p>
        </p:txBody>
      </p:sp>
      <p:pic>
        <p:nvPicPr>
          <p:cNvPr descr="image.png" id="182" name="Google Shape;182;p18"/>
          <p:cNvPicPr preferRelativeResize="0"/>
          <p:nvPr/>
        </p:nvPicPr>
        <p:blipFill rotWithShape="1">
          <a:blip r:embed="rId7">
            <a:alphaModFix/>
          </a:blip>
          <a:srcRect b="0" l="0" r="0" t="0"/>
          <a:stretch/>
        </p:blipFill>
        <p:spPr>
          <a:xfrm>
            <a:off x="771525" y="3483768"/>
            <a:ext cx="171450" cy="180975"/>
          </a:xfrm>
          <a:prstGeom prst="rect">
            <a:avLst/>
          </a:prstGeom>
          <a:noFill/>
          <a:ln>
            <a:noFill/>
          </a:ln>
        </p:spPr>
      </p:pic>
      <p:pic>
        <p:nvPicPr>
          <p:cNvPr descr="image.png" id="183" name="Google Shape;183;p18"/>
          <p:cNvPicPr preferRelativeResize="0"/>
          <p:nvPr/>
        </p:nvPicPr>
        <p:blipFill rotWithShape="1">
          <a:blip r:embed="rId8">
            <a:alphaModFix/>
          </a:blip>
          <a:srcRect b="0" l="0" r="0" t="0"/>
          <a:stretch/>
        </p:blipFill>
        <p:spPr>
          <a:xfrm>
            <a:off x="771525" y="4169568"/>
            <a:ext cx="190500" cy="180975"/>
          </a:xfrm>
          <a:prstGeom prst="rect">
            <a:avLst/>
          </a:prstGeom>
          <a:noFill/>
          <a:ln>
            <a:noFill/>
          </a:ln>
        </p:spPr>
      </p:pic>
      <p:pic>
        <p:nvPicPr>
          <p:cNvPr descr="image.png" id="184" name="Google Shape;184;p18"/>
          <p:cNvPicPr preferRelativeResize="0"/>
          <p:nvPr/>
        </p:nvPicPr>
        <p:blipFill rotWithShape="1">
          <a:blip r:embed="rId9">
            <a:alphaModFix/>
          </a:blip>
          <a:srcRect b="0" l="0" r="0" t="0"/>
          <a:stretch/>
        </p:blipFill>
        <p:spPr>
          <a:xfrm>
            <a:off x="771525" y="5126831"/>
            <a:ext cx="171450" cy="180975"/>
          </a:xfrm>
          <a:prstGeom prst="rect">
            <a:avLst/>
          </a:prstGeom>
          <a:noFill/>
          <a:ln>
            <a:noFill/>
          </a:ln>
        </p:spPr>
      </p:pic>
      <p:pic>
        <p:nvPicPr>
          <p:cNvPr id="185" name="Google Shape;185;p18"/>
          <p:cNvPicPr preferRelativeResize="0"/>
          <p:nvPr/>
        </p:nvPicPr>
        <p:blipFill>
          <a:blip r:embed="rId10">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89" name="Shape 189"/>
        <p:cNvGrpSpPr/>
        <p:nvPr/>
      </p:nvGrpSpPr>
      <p:grpSpPr>
        <a:xfrm>
          <a:off x="0" y="0"/>
          <a:ext cx="0" cy="0"/>
          <a:chOff x="0" y="0"/>
          <a:chExt cx="0" cy="0"/>
        </a:xfrm>
      </p:grpSpPr>
      <p:pic>
        <p:nvPicPr>
          <p:cNvPr descr="image.png" id="190" name="Google Shape;19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1" name="Google Shape;191;p19"/>
          <p:cNvPicPr preferRelativeResize="0"/>
          <p:nvPr/>
        </p:nvPicPr>
        <p:blipFill rotWithShape="1">
          <a:blip r:embed="rId4">
            <a:alphaModFix/>
          </a:blip>
          <a:srcRect b="0" l="0" r="0" t="0"/>
          <a:stretch/>
        </p:blipFill>
        <p:spPr>
          <a:xfrm>
            <a:off x="771525" y="2370385"/>
            <a:ext cx="5133975" cy="3031628"/>
          </a:xfrm>
          <a:prstGeom prst="rect">
            <a:avLst/>
          </a:prstGeom>
          <a:noFill/>
          <a:ln>
            <a:noFill/>
          </a:ln>
        </p:spPr>
      </p:pic>
      <p:sp>
        <p:nvSpPr>
          <p:cNvPr id="192" name="Google Shape;192;p19"/>
          <p:cNvSpPr txBox="1"/>
          <p:nvPr/>
        </p:nvSpPr>
        <p:spPr>
          <a:xfrm>
            <a:off x="1495425" y="581025"/>
            <a:ext cx="10421302"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Architecture 1: </a:t>
            </a:r>
            <a:r>
              <a:rPr b="0" i="0" lang="en-US" sz="3150" u="none" cap="none" strike="noStrike">
                <a:solidFill>
                  <a:srgbClr val="14B8A6"/>
                </a:solidFill>
                <a:latin typeface="Space Grotesk"/>
                <a:ea typeface="Space Grotesk"/>
                <a:cs typeface="Space Grotesk"/>
                <a:sym typeface="Space Grotesk"/>
              </a:rPr>
              <a:t>Flat Search</a:t>
            </a:r>
            <a:endParaRPr/>
          </a:p>
        </p:txBody>
      </p:sp>
      <p:pic>
        <p:nvPicPr>
          <p:cNvPr descr="image.png" id="193" name="Google Shape;193;p19"/>
          <p:cNvPicPr preferRelativeResize="0"/>
          <p:nvPr/>
        </p:nvPicPr>
        <p:blipFill rotWithShape="1">
          <a:blip r:embed="rId5">
            <a:alphaModFix/>
          </a:blip>
          <a:srcRect b="0" l="0" r="0" t="0"/>
          <a:stretch/>
        </p:blipFill>
        <p:spPr>
          <a:xfrm>
            <a:off x="771525" y="581025"/>
            <a:ext cx="581025" cy="628650"/>
          </a:xfrm>
          <a:prstGeom prst="rect">
            <a:avLst/>
          </a:prstGeom>
          <a:noFill/>
          <a:ln>
            <a:noFill/>
          </a:ln>
        </p:spPr>
      </p:pic>
      <p:sp>
        <p:nvSpPr>
          <p:cNvPr id="194" name="Google Shape;194;p19"/>
          <p:cNvSpPr txBox="1"/>
          <p:nvPr/>
        </p:nvSpPr>
        <p:spPr>
          <a:xfrm>
            <a:off x="1066800" y="2665660"/>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IndexFlatL2 / IndexFlatIP</a:t>
            </a:r>
            <a:endParaRPr/>
          </a:p>
        </p:txBody>
      </p:sp>
      <p:sp>
        <p:nvSpPr>
          <p:cNvPr id="195" name="Google Shape;195;p19"/>
          <p:cNvSpPr txBox="1"/>
          <p:nvPr/>
        </p:nvSpPr>
        <p:spPr>
          <a:xfrm>
            <a:off x="1066800" y="3094285"/>
            <a:ext cx="45434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This is the baseline. It performs brute-force exhaustive search across the entire dataset.</a:t>
            </a:r>
            <a:endParaRPr/>
          </a:p>
        </p:txBody>
      </p:sp>
      <p:sp>
        <p:nvSpPr>
          <p:cNvPr id="196" name="Google Shape;196;p19"/>
          <p:cNvSpPr txBox="1"/>
          <p:nvPr/>
        </p:nvSpPr>
        <p:spPr>
          <a:xfrm>
            <a:off x="6286500" y="2370385"/>
            <a:ext cx="539067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When to use it?</a:t>
            </a:r>
            <a:endParaRPr/>
          </a:p>
        </p:txBody>
      </p:sp>
      <p:sp>
        <p:nvSpPr>
          <p:cNvPr id="197" name="Google Shape;197;p19"/>
          <p:cNvSpPr txBox="1"/>
          <p:nvPr/>
        </p:nvSpPr>
        <p:spPr>
          <a:xfrm>
            <a:off x="6286500" y="2799010"/>
            <a:ext cx="51339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Only during local testing, or if your enterprise dataset is strictly under </a:t>
            </a:r>
            <a:r>
              <a:rPr b="1" i="0" lang="en-US" sz="1425" u="none" cap="none" strike="noStrike">
                <a:solidFill>
                  <a:srgbClr val="CBD5E1"/>
                </a:solidFill>
                <a:latin typeface="Plus Jakarta Sans"/>
                <a:ea typeface="Plus Jakarta Sans"/>
                <a:cs typeface="Plus Jakarta Sans"/>
                <a:sym typeface="Plus Jakarta Sans"/>
              </a:rPr>
              <a:t>50,000 vectors</a:t>
            </a:r>
            <a:r>
              <a:rPr b="0" i="0" lang="en-US" sz="1425" u="none" cap="none" strike="noStrike">
                <a:solidFill>
                  <a:srgbClr val="CBD5E1"/>
                </a:solidFill>
                <a:latin typeface="Plus Jakarta Sans"/>
                <a:ea typeface="Plus Jakarta Sans"/>
                <a:cs typeface="Plus Jakarta Sans"/>
                <a:sym typeface="Plus Jakarta Sans"/>
              </a:rPr>
              <a:t>.</a:t>
            </a:r>
            <a:endParaRPr/>
          </a:p>
        </p:txBody>
      </p:sp>
      <p:sp>
        <p:nvSpPr>
          <p:cNvPr id="198" name="Google Shape;198;p19"/>
          <p:cNvSpPr txBox="1"/>
          <p:nvPr/>
        </p:nvSpPr>
        <p:spPr>
          <a:xfrm>
            <a:off x="6286500" y="3520826"/>
            <a:ext cx="5133975"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It simply does not scale for production workloads.</a:t>
            </a:r>
            <a:endParaRPr/>
          </a:p>
        </p:txBody>
      </p:sp>
      <p:sp>
        <p:nvSpPr>
          <p:cNvPr id="199" name="Google Shape;199;p19"/>
          <p:cNvSpPr txBox="1"/>
          <p:nvPr/>
        </p:nvSpPr>
        <p:spPr>
          <a:xfrm>
            <a:off x="1400175" y="3863726"/>
            <a:ext cx="421005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1" i="0" lang="en-US" sz="1425" u="none" cap="none" strike="noStrike">
                <a:solidFill>
                  <a:srgbClr val="CBD5E1"/>
                </a:solidFill>
                <a:latin typeface="Plus Jakarta Sans"/>
                <a:ea typeface="Plus Jakarta Sans"/>
                <a:cs typeface="Plus Jakarta Sans"/>
                <a:sym typeface="Plus Jakarta Sans"/>
              </a:rPr>
              <a:t>L2:</a:t>
            </a:r>
            <a:r>
              <a:rPr b="0" i="0" lang="en-US" sz="1425" u="none" cap="none" strike="noStrike">
                <a:solidFill>
                  <a:srgbClr val="CBD5E1"/>
                </a:solidFill>
                <a:latin typeface="Plus Jakarta Sans"/>
                <a:ea typeface="Plus Jakarta Sans"/>
                <a:cs typeface="Plus Jakarta Sans"/>
                <a:sym typeface="Plus Jakarta Sans"/>
              </a:rPr>
              <a:t> Euclidean Distance</a:t>
            </a:r>
            <a:endParaRPr/>
          </a:p>
        </p:txBody>
      </p:sp>
      <p:sp>
        <p:nvSpPr>
          <p:cNvPr id="200" name="Google Shape;200;p19"/>
          <p:cNvSpPr txBox="1"/>
          <p:nvPr/>
        </p:nvSpPr>
        <p:spPr>
          <a:xfrm>
            <a:off x="1400175" y="4278064"/>
            <a:ext cx="421005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1" i="0" lang="en-US" sz="1425" u="none" cap="none" strike="noStrike">
                <a:solidFill>
                  <a:srgbClr val="CBD5E1"/>
                </a:solidFill>
                <a:latin typeface="Plus Jakarta Sans"/>
                <a:ea typeface="Plus Jakarta Sans"/>
                <a:cs typeface="Plus Jakarta Sans"/>
                <a:sym typeface="Plus Jakarta Sans"/>
              </a:rPr>
              <a:t>IP:</a:t>
            </a:r>
            <a:r>
              <a:rPr b="0" i="0" lang="en-US" sz="1425" u="none" cap="none" strike="noStrike">
                <a:solidFill>
                  <a:srgbClr val="CBD5E1"/>
                </a:solidFill>
                <a:latin typeface="Plus Jakarta Sans"/>
                <a:ea typeface="Plus Jakarta Sans"/>
                <a:cs typeface="Plus Jakarta Sans"/>
                <a:sym typeface="Plus Jakarta Sans"/>
              </a:rPr>
              <a:t> Inner Product (Cosine if normalized)</a:t>
            </a:r>
            <a:endParaRPr/>
          </a:p>
        </p:txBody>
      </p:sp>
      <p:sp>
        <p:nvSpPr>
          <p:cNvPr id="201" name="Google Shape;201;p19"/>
          <p:cNvSpPr txBox="1"/>
          <p:nvPr/>
        </p:nvSpPr>
        <p:spPr>
          <a:xfrm>
            <a:off x="1400175" y="4692401"/>
            <a:ext cx="421005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Guarantees 100% perfect accuracy.</a:t>
            </a:r>
            <a:endParaRPr/>
          </a:p>
        </p:txBody>
      </p:sp>
      <p:pic>
        <p:nvPicPr>
          <p:cNvPr descr="image.png" id="202" name="Google Shape;202;p19"/>
          <p:cNvPicPr preferRelativeResize="0"/>
          <p:nvPr/>
        </p:nvPicPr>
        <p:blipFill rotWithShape="1">
          <a:blip r:embed="rId6">
            <a:alphaModFix/>
          </a:blip>
          <a:srcRect b="0" l="0" r="0" t="0"/>
          <a:stretch/>
        </p:blipFill>
        <p:spPr>
          <a:xfrm>
            <a:off x="1066800" y="3906589"/>
            <a:ext cx="171450" cy="180975"/>
          </a:xfrm>
          <a:prstGeom prst="rect">
            <a:avLst/>
          </a:prstGeom>
          <a:noFill/>
          <a:ln>
            <a:noFill/>
          </a:ln>
        </p:spPr>
      </p:pic>
      <p:pic>
        <p:nvPicPr>
          <p:cNvPr descr="image.png" id="203" name="Google Shape;203;p19"/>
          <p:cNvPicPr preferRelativeResize="0"/>
          <p:nvPr/>
        </p:nvPicPr>
        <p:blipFill rotWithShape="1">
          <a:blip r:embed="rId7">
            <a:alphaModFix/>
          </a:blip>
          <a:srcRect b="0" l="0" r="0" t="0"/>
          <a:stretch/>
        </p:blipFill>
        <p:spPr>
          <a:xfrm>
            <a:off x="1066800" y="4320926"/>
            <a:ext cx="171450" cy="180975"/>
          </a:xfrm>
          <a:prstGeom prst="rect">
            <a:avLst/>
          </a:prstGeom>
          <a:noFill/>
          <a:ln>
            <a:noFill/>
          </a:ln>
        </p:spPr>
      </p:pic>
      <p:pic>
        <p:nvPicPr>
          <p:cNvPr descr="image.png" id="204" name="Google Shape;204;p19"/>
          <p:cNvPicPr preferRelativeResize="0"/>
          <p:nvPr/>
        </p:nvPicPr>
        <p:blipFill rotWithShape="1">
          <a:blip r:embed="rId8">
            <a:alphaModFix/>
          </a:blip>
          <a:srcRect b="0" l="0" r="0" t="0"/>
          <a:stretch/>
        </p:blipFill>
        <p:spPr>
          <a:xfrm>
            <a:off x="1066800" y="4735264"/>
            <a:ext cx="152400" cy="180975"/>
          </a:xfrm>
          <a:prstGeom prst="rect">
            <a:avLst/>
          </a:prstGeom>
          <a:noFill/>
          <a:ln>
            <a:noFill/>
          </a:ln>
        </p:spPr>
      </p:pic>
      <p:pic>
        <p:nvPicPr>
          <p:cNvPr id="205" name="Google Shape;205;p19"/>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09" name="Shape 209"/>
        <p:cNvGrpSpPr/>
        <p:nvPr/>
      </p:nvGrpSpPr>
      <p:grpSpPr>
        <a:xfrm>
          <a:off x="0" y="0"/>
          <a:ext cx="0" cy="0"/>
          <a:chOff x="0" y="0"/>
          <a:chExt cx="0" cy="0"/>
        </a:xfrm>
      </p:grpSpPr>
      <p:pic>
        <p:nvPicPr>
          <p:cNvPr descr="image.png" id="210" name="Google Shape;21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1" name="Google Shape;211;p20"/>
          <p:cNvPicPr preferRelativeResize="0"/>
          <p:nvPr/>
        </p:nvPicPr>
        <p:blipFill rotWithShape="1">
          <a:blip r:embed="rId4">
            <a:alphaModFix/>
          </a:blip>
          <a:srcRect b="0" l="0" r="0" t="0"/>
          <a:stretch/>
        </p:blipFill>
        <p:spPr>
          <a:xfrm>
            <a:off x="6286500" y="2636787"/>
            <a:ext cx="5133975" cy="3216919"/>
          </a:xfrm>
          <a:prstGeom prst="rect">
            <a:avLst/>
          </a:prstGeom>
          <a:noFill/>
          <a:ln>
            <a:noFill/>
          </a:ln>
        </p:spPr>
      </p:pic>
      <p:sp>
        <p:nvSpPr>
          <p:cNvPr id="212" name="Google Shape;212;p20"/>
          <p:cNvSpPr txBox="1"/>
          <p:nvPr/>
        </p:nvSpPr>
        <p:spPr>
          <a:xfrm>
            <a:off x="1495425" y="581025"/>
            <a:ext cx="10421302"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Architecture 2: </a:t>
            </a:r>
            <a:r>
              <a:rPr b="0" i="0" lang="en-US" sz="3150" u="none" cap="none" strike="noStrike">
                <a:solidFill>
                  <a:srgbClr val="14B8A6"/>
                </a:solidFill>
                <a:latin typeface="Space Grotesk"/>
                <a:ea typeface="Space Grotesk"/>
                <a:cs typeface="Space Grotesk"/>
                <a:sym typeface="Space Grotesk"/>
              </a:rPr>
              <a:t>IVF &amp; Voronoi</a:t>
            </a:r>
            <a:endParaRPr/>
          </a:p>
        </p:txBody>
      </p:sp>
      <p:pic>
        <p:nvPicPr>
          <p:cNvPr descr="image.png" id="213" name="Google Shape;213;p20"/>
          <p:cNvPicPr preferRelativeResize="0"/>
          <p:nvPr/>
        </p:nvPicPr>
        <p:blipFill rotWithShape="1">
          <a:blip r:embed="rId5">
            <a:alphaModFix/>
          </a:blip>
          <a:srcRect b="0" l="0" r="0" t="0"/>
          <a:stretch/>
        </p:blipFill>
        <p:spPr>
          <a:xfrm>
            <a:off x="771525" y="581025"/>
            <a:ext cx="581025" cy="628650"/>
          </a:xfrm>
          <a:prstGeom prst="rect">
            <a:avLst/>
          </a:prstGeom>
          <a:noFill/>
          <a:ln>
            <a:noFill/>
          </a:ln>
        </p:spPr>
      </p:pic>
      <p:sp>
        <p:nvSpPr>
          <p:cNvPr id="214" name="Google Shape;214;p20"/>
          <p:cNvSpPr txBox="1"/>
          <p:nvPr/>
        </p:nvSpPr>
        <p:spPr>
          <a:xfrm>
            <a:off x="771525" y="1918692"/>
            <a:ext cx="106489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Plus Jakarta Sans"/>
                <a:ea typeface="Plus Jakarta Sans"/>
                <a:cs typeface="Plus Jakarta Sans"/>
                <a:sym typeface="Plus Jakarta Sans"/>
              </a:rPr>
              <a:t>IVF (Inverted File Index)</a:t>
            </a:r>
            <a:r>
              <a:rPr b="0" i="0" lang="en-US" sz="1425" u="none" cap="none" strike="noStrike">
                <a:solidFill>
                  <a:srgbClr val="CBD5E1"/>
                </a:solidFill>
                <a:latin typeface="Plus Jakarta Sans"/>
                <a:ea typeface="Plus Jakarta Sans"/>
                <a:cs typeface="Plus Jakarta Sans"/>
                <a:sym typeface="Plus Jakarta Sans"/>
              </a:rPr>
              <a:t> solves the scaling issue by clustering vectors into neighborhoods.</a:t>
            </a:r>
            <a:endParaRPr/>
          </a:p>
        </p:txBody>
      </p:sp>
      <p:sp>
        <p:nvSpPr>
          <p:cNvPr id="215" name="Google Shape;215;p20"/>
          <p:cNvSpPr txBox="1"/>
          <p:nvPr/>
        </p:nvSpPr>
        <p:spPr>
          <a:xfrm>
            <a:off x="6581775" y="2960637"/>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Search Shortcut</a:t>
            </a:r>
            <a:endParaRPr/>
          </a:p>
        </p:txBody>
      </p:sp>
      <p:sp>
        <p:nvSpPr>
          <p:cNvPr id="216" name="Google Shape;216;p20"/>
          <p:cNvSpPr txBox="1"/>
          <p:nvPr/>
        </p:nvSpPr>
        <p:spPr>
          <a:xfrm>
            <a:off x="6581775" y="3389262"/>
            <a:ext cx="45434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When searching for "OCR failures," FAISS does not search 1 million vectors. It only looks at the 1,000 centroids.</a:t>
            </a:r>
            <a:endParaRPr/>
          </a:p>
        </p:txBody>
      </p:sp>
      <p:sp>
        <p:nvSpPr>
          <p:cNvPr id="217" name="Google Shape;217;p20"/>
          <p:cNvSpPr txBox="1"/>
          <p:nvPr/>
        </p:nvSpPr>
        <p:spPr>
          <a:xfrm>
            <a:off x="6581775" y="4400550"/>
            <a:ext cx="4543425"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It finds the closest centroid, walks inside that specific neighborhood, and only calculates math for the vectors living in that one block. </a:t>
            </a:r>
            <a:r>
              <a:rPr b="1" i="0" lang="en-US" sz="1425" u="none" cap="none" strike="noStrike">
                <a:solidFill>
                  <a:srgbClr val="CBD5E1"/>
                </a:solidFill>
                <a:latin typeface="Plus Jakarta Sans"/>
                <a:ea typeface="Plus Jakarta Sans"/>
                <a:cs typeface="Plus Jakarta Sans"/>
                <a:sym typeface="Plus Jakarta Sans"/>
              </a:rPr>
              <a:t>We just skipped 99.9% of the math.</a:t>
            </a:r>
            <a:endParaRPr/>
          </a:p>
        </p:txBody>
      </p:sp>
      <p:sp>
        <p:nvSpPr>
          <p:cNvPr id="218" name="Google Shape;218;p20"/>
          <p:cNvSpPr txBox="1"/>
          <p:nvPr/>
        </p:nvSpPr>
        <p:spPr>
          <a:xfrm>
            <a:off x="1104900" y="2636787"/>
            <a:ext cx="48006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1" i="0" lang="en-US" sz="1425" u="none" cap="none" strike="noStrike">
                <a:solidFill>
                  <a:srgbClr val="CBD5E1"/>
                </a:solidFill>
                <a:latin typeface="Plus Jakarta Sans"/>
                <a:ea typeface="Plus Jakarta Sans"/>
                <a:cs typeface="Plus Jakarta Sans"/>
                <a:sym typeface="Plus Jakarta Sans"/>
              </a:rPr>
              <a:t>Centroids:</a:t>
            </a:r>
            <a:r>
              <a:rPr b="0" i="0" lang="en-US" sz="1425" u="none" cap="none" strike="noStrike">
                <a:solidFill>
                  <a:srgbClr val="CBD5E1"/>
                </a:solidFill>
                <a:latin typeface="Plus Jakarta Sans"/>
                <a:ea typeface="Plus Jakarta Sans"/>
                <a:cs typeface="Plus Jakarta Sans"/>
                <a:sym typeface="Plus Jakarta Sans"/>
              </a:rPr>
              <a:t> IVF drops 1,000 "center points" onto the massive mathematical map.</a:t>
            </a:r>
            <a:endParaRPr/>
          </a:p>
        </p:txBody>
      </p:sp>
      <p:sp>
        <p:nvSpPr>
          <p:cNvPr id="219" name="Google Shape;219;p20"/>
          <p:cNvSpPr txBox="1"/>
          <p:nvPr/>
        </p:nvSpPr>
        <p:spPr>
          <a:xfrm>
            <a:off x="1104900" y="3322587"/>
            <a:ext cx="4800600"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1" i="0" lang="en-US" sz="1425" u="none" cap="none" strike="noStrike">
                <a:solidFill>
                  <a:srgbClr val="CBD5E1"/>
                </a:solidFill>
                <a:latin typeface="Plus Jakarta Sans"/>
                <a:ea typeface="Plus Jakarta Sans"/>
                <a:cs typeface="Plus Jakarta Sans"/>
                <a:sym typeface="Plus Jakarta Sans"/>
              </a:rPr>
              <a:t>Voronoi Cells:</a:t>
            </a:r>
            <a:r>
              <a:rPr b="0" i="0" lang="en-US" sz="1425" u="none" cap="none" strike="noStrike">
                <a:solidFill>
                  <a:srgbClr val="CBD5E1"/>
                </a:solidFill>
                <a:latin typeface="Plus Jakarta Sans"/>
                <a:ea typeface="Plus Jakarta Sans"/>
                <a:cs typeface="Plus Jakarta Sans"/>
                <a:sym typeface="Plus Jakarta Sans"/>
              </a:rPr>
              <a:t> Every single vector is assigned to the centroid it is physically closest to, creating massive polygonal neighborhoods.</a:t>
            </a:r>
            <a:endParaRPr/>
          </a:p>
        </p:txBody>
      </p:sp>
      <p:pic>
        <p:nvPicPr>
          <p:cNvPr descr="image.png" id="220" name="Google Shape;220;p20"/>
          <p:cNvPicPr preferRelativeResize="0"/>
          <p:nvPr/>
        </p:nvPicPr>
        <p:blipFill rotWithShape="1">
          <a:blip r:embed="rId6">
            <a:alphaModFix/>
          </a:blip>
          <a:srcRect b="0" l="0" r="0" t="0"/>
          <a:stretch/>
        </p:blipFill>
        <p:spPr>
          <a:xfrm>
            <a:off x="771525" y="2679650"/>
            <a:ext cx="104775" cy="180975"/>
          </a:xfrm>
          <a:prstGeom prst="rect">
            <a:avLst/>
          </a:prstGeom>
          <a:noFill/>
          <a:ln>
            <a:noFill/>
          </a:ln>
        </p:spPr>
      </p:pic>
      <p:pic>
        <p:nvPicPr>
          <p:cNvPr descr="image.png" id="221" name="Google Shape;221;p20"/>
          <p:cNvPicPr preferRelativeResize="0"/>
          <p:nvPr/>
        </p:nvPicPr>
        <p:blipFill rotWithShape="1">
          <a:blip r:embed="rId7">
            <a:alphaModFix/>
          </a:blip>
          <a:srcRect b="0" l="0" r="0" t="0"/>
          <a:stretch/>
        </p:blipFill>
        <p:spPr>
          <a:xfrm>
            <a:off x="771525" y="3365450"/>
            <a:ext cx="152400" cy="180975"/>
          </a:xfrm>
          <a:prstGeom prst="rect">
            <a:avLst/>
          </a:prstGeom>
          <a:noFill/>
          <a:ln>
            <a:noFill/>
          </a:ln>
        </p:spPr>
      </p:pic>
      <p:pic>
        <p:nvPicPr>
          <p:cNvPr id="222" name="Google Shape;222;p20"/>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26" name="Shape 226"/>
        <p:cNvGrpSpPr/>
        <p:nvPr/>
      </p:nvGrpSpPr>
      <p:grpSpPr>
        <a:xfrm>
          <a:off x="0" y="0"/>
          <a:ext cx="0" cy="0"/>
          <a:chOff x="0" y="0"/>
          <a:chExt cx="0" cy="0"/>
        </a:xfrm>
      </p:grpSpPr>
      <p:pic>
        <p:nvPicPr>
          <p:cNvPr descr="image.png" id="227" name="Google Shape;227;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8" name="Google Shape;228;p21"/>
          <p:cNvPicPr preferRelativeResize="0"/>
          <p:nvPr/>
        </p:nvPicPr>
        <p:blipFill rotWithShape="1">
          <a:blip r:embed="rId4">
            <a:alphaModFix/>
          </a:blip>
          <a:srcRect b="0" l="0" r="0" t="0"/>
          <a:stretch/>
        </p:blipFill>
        <p:spPr>
          <a:xfrm>
            <a:off x="2901255" y="3178373"/>
            <a:ext cx="6389340" cy="504825"/>
          </a:xfrm>
          <a:prstGeom prst="rect">
            <a:avLst/>
          </a:prstGeom>
          <a:noFill/>
          <a:ln>
            <a:noFill/>
          </a:ln>
        </p:spPr>
      </p:pic>
      <p:pic>
        <p:nvPicPr>
          <p:cNvPr descr="image.png" id="229" name="Google Shape;229;p21"/>
          <p:cNvPicPr preferRelativeResize="0"/>
          <p:nvPr/>
        </p:nvPicPr>
        <p:blipFill rotWithShape="1">
          <a:blip r:embed="rId5">
            <a:alphaModFix/>
          </a:blip>
          <a:srcRect b="0" l="0" r="0" t="0"/>
          <a:stretch/>
        </p:blipFill>
        <p:spPr>
          <a:xfrm>
            <a:off x="1836390" y="3826073"/>
            <a:ext cx="8519070" cy="504825"/>
          </a:xfrm>
          <a:prstGeom prst="rect">
            <a:avLst/>
          </a:prstGeom>
          <a:noFill/>
          <a:ln>
            <a:noFill/>
          </a:ln>
        </p:spPr>
      </p:pic>
      <p:pic>
        <p:nvPicPr>
          <p:cNvPr descr="image.png" id="230" name="Google Shape;230;p21"/>
          <p:cNvPicPr preferRelativeResize="0"/>
          <p:nvPr/>
        </p:nvPicPr>
        <p:blipFill rotWithShape="1">
          <a:blip r:embed="rId6">
            <a:alphaModFix/>
          </a:blip>
          <a:srcRect b="0" l="0" r="0" t="0"/>
          <a:stretch/>
        </p:blipFill>
        <p:spPr>
          <a:xfrm>
            <a:off x="771525" y="4473773"/>
            <a:ext cx="10648950" cy="504825"/>
          </a:xfrm>
          <a:prstGeom prst="rect">
            <a:avLst/>
          </a:prstGeom>
          <a:noFill/>
          <a:ln>
            <a:noFill/>
          </a:ln>
        </p:spPr>
      </p:pic>
      <p:sp>
        <p:nvSpPr>
          <p:cNvPr id="231" name="Google Shape;231;p21"/>
          <p:cNvSpPr txBox="1"/>
          <p:nvPr/>
        </p:nvSpPr>
        <p:spPr>
          <a:xfrm>
            <a:off x="1590675" y="581025"/>
            <a:ext cx="10321290"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Architecture 3: </a:t>
            </a:r>
            <a:r>
              <a:rPr b="0" i="0" lang="en-US" sz="3150" u="none" cap="none" strike="noStrike">
                <a:solidFill>
                  <a:srgbClr val="14B8A6"/>
                </a:solidFill>
                <a:latin typeface="Space Grotesk"/>
                <a:ea typeface="Space Grotesk"/>
                <a:cs typeface="Space Grotesk"/>
                <a:sym typeface="Space Grotesk"/>
              </a:rPr>
              <a:t>HNSW Graph</a:t>
            </a:r>
            <a:endParaRPr/>
          </a:p>
        </p:txBody>
      </p:sp>
      <p:pic>
        <p:nvPicPr>
          <p:cNvPr descr="image.png" id="232" name="Google Shape;232;p21"/>
          <p:cNvPicPr preferRelativeResize="0"/>
          <p:nvPr/>
        </p:nvPicPr>
        <p:blipFill rotWithShape="1">
          <a:blip r:embed="rId7">
            <a:alphaModFix/>
          </a:blip>
          <a:srcRect b="0" l="0" r="0" t="0"/>
          <a:stretch/>
        </p:blipFill>
        <p:spPr>
          <a:xfrm>
            <a:off x="771525" y="581025"/>
            <a:ext cx="676275" cy="628650"/>
          </a:xfrm>
          <a:prstGeom prst="rect">
            <a:avLst/>
          </a:prstGeom>
          <a:noFill/>
          <a:ln>
            <a:noFill/>
          </a:ln>
        </p:spPr>
      </p:pic>
      <p:sp>
        <p:nvSpPr>
          <p:cNvPr id="233" name="Google Shape;233;p21"/>
          <p:cNvSpPr txBox="1"/>
          <p:nvPr/>
        </p:nvSpPr>
        <p:spPr>
          <a:xfrm>
            <a:off x="771525" y="2075557"/>
            <a:ext cx="106489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Plus Jakarta Sans"/>
                <a:ea typeface="Plus Jakarta Sans"/>
                <a:cs typeface="Plus Jakarta Sans"/>
                <a:sym typeface="Plus Jakarta Sans"/>
              </a:rPr>
              <a:t>Hierarchical Navigable Small World (HNSW)</a:t>
            </a:r>
            <a:r>
              <a:rPr b="0" i="0" lang="en-US" sz="1425" u="none" cap="none" strike="noStrike">
                <a:solidFill>
                  <a:srgbClr val="CBD5E1"/>
                </a:solidFill>
                <a:latin typeface="Plus Jakarta Sans"/>
                <a:ea typeface="Plus Jakarta Sans"/>
                <a:cs typeface="Plus Jakarta Sans"/>
                <a:sym typeface="Plus Jakarta Sans"/>
              </a:rPr>
              <a:t> is the undisputed king of modern AI search. It organizes vectors into a multi-layered graph, exactly like human road networks.</a:t>
            </a:r>
            <a:endParaRPr/>
          </a:p>
        </p:txBody>
      </p:sp>
      <p:sp>
        <p:nvSpPr>
          <p:cNvPr id="234" name="Google Shape;234;p21"/>
          <p:cNvSpPr txBox="1"/>
          <p:nvPr/>
        </p:nvSpPr>
        <p:spPr>
          <a:xfrm>
            <a:off x="771525" y="5407223"/>
            <a:ext cx="10648950"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A5B4FC"/>
                </a:solidFill>
                <a:latin typeface="Plus Jakarta Sans"/>
                <a:ea typeface="Plus Jakarta Sans"/>
                <a:cs typeface="Plus Jakarta Sans"/>
                <a:sym typeface="Plus Jakarta Sans"/>
              </a:rPr>
              <a:t>HNSW is the default architecture powering almost every massive Enterprise RAG pipeline today.</a:t>
            </a:r>
            <a:endParaRPr/>
          </a:p>
        </p:txBody>
      </p:sp>
      <p:sp>
        <p:nvSpPr>
          <p:cNvPr id="235" name="Google Shape;235;p21"/>
          <p:cNvSpPr txBox="1"/>
          <p:nvPr/>
        </p:nvSpPr>
        <p:spPr>
          <a:xfrm>
            <a:off x="3196530" y="3330773"/>
            <a:ext cx="161925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43F5E"/>
                </a:solidFill>
                <a:latin typeface="Plus Jakarta Sans SemiBold"/>
                <a:ea typeface="Plus Jakarta Sans SemiBold"/>
                <a:cs typeface="Plus Jakarta Sans SemiBold"/>
                <a:sym typeface="Plus Jakarta Sans SemiBold"/>
              </a:rPr>
              <a:t>Layer 3: The Interstate</a:t>
            </a:r>
            <a:endParaRPr/>
          </a:p>
        </p:txBody>
      </p:sp>
      <p:sp>
        <p:nvSpPr>
          <p:cNvPr id="236" name="Google Shape;236;p21"/>
          <p:cNvSpPr txBox="1"/>
          <p:nvPr/>
        </p:nvSpPr>
        <p:spPr>
          <a:xfrm>
            <a:off x="5461545" y="3340298"/>
            <a:ext cx="3533775"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F43F5E"/>
                </a:solidFill>
                <a:latin typeface="Plus Jakarta Sans"/>
                <a:ea typeface="Plus Jakarta Sans"/>
                <a:cs typeface="Plus Jakarta Sans"/>
                <a:sym typeface="Plus Jakarta Sans"/>
              </a:rPr>
              <a:t>Few vectors, massive leaps. Finds the general state.</a:t>
            </a:r>
            <a:endParaRPr/>
          </a:p>
        </p:txBody>
      </p:sp>
      <p:sp>
        <p:nvSpPr>
          <p:cNvPr id="237" name="Google Shape;237;p21"/>
          <p:cNvSpPr txBox="1"/>
          <p:nvPr/>
        </p:nvSpPr>
        <p:spPr>
          <a:xfrm>
            <a:off x="2131665" y="3978473"/>
            <a:ext cx="14763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59E0B"/>
                </a:solidFill>
                <a:latin typeface="Plus Jakarta Sans SemiBold"/>
                <a:ea typeface="Plus Jakarta Sans SemiBold"/>
                <a:cs typeface="Plus Jakarta Sans SemiBold"/>
                <a:sym typeface="Plus Jakarta Sans SemiBold"/>
              </a:rPr>
              <a:t>Layer 2: City Streets</a:t>
            </a:r>
            <a:endParaRPr/>
          </a:p>
        </p:txBody>
      </p:sp>
      <p:sp>
        <p:nvSpPr>
          <p:cNvPr id="238" name="Google Shape;238;p21"/>
          <p:cNvSpPr txBox="1"/>
          <p:nvPr/>
        </p:nvSpPr>
        <p:spPr>
          <a:xfrm>
            <a:off x="6069210" y="3987998"/>
            <a:ext cx="3990975"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F59E0B"/>
                </a:solidFill>
                <a:latin typeface="Plus Jakarta Sans"/>
                <a:ea typeface="Plus Jakarta Sans"/>
                <a:cs typeface="Plus Jakarta Sans"/>
                <a:sym typeface="Plus Jakarta Sans"/>
              </a:rPr>
              <a:t>More vectors. Narrows down to the correct neighborhood.</a:t>
            </a:r>
            <a:endParaRPr/>
          </a:p>
        </p:txBody>
      </p:sp>
      <p:sp>
        <p:nvSpPr>
          <p:cNvPr id="239" name="Google Shape;239;p21"/>
          <p:cNvSpPr txBox="1"/>
          <p:nvPr/>
        </p:nvSpPr>
        <p:spPr>
          <a:xfrm>
            <a:off x="1066800" y="4626173"/>
            <a:ext cx="17811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14B8A6"/>
                </a:solidFill>
                <a:latin typeface="Plus Jakarta Sans SemiBold"/>
                <a:ea typeface="Plus Jakarta Sans SemiBold"/>
                <a:cs typeface="Plus Jakarta Sans SemiBold"/>
                <a:sym typeface="Plus Jakarta Sans SemiBold"/>
              </a:rPr>
              <a:t>Layer 1: Local Driveways</a:t>
            </a:r>
            <a:endParaRPr/>
          </a:p>
        </p:txBody>
      </p:sp>
      <p:sp>
        <p:nvSpPr>
          <p:cNvPr id="240" name="Google Shape;240;p21"/>
          <p:cNvSpPr txBox="1"/>
          <p:nvPr/>
        </p:nvSpPr>
        <p:spPr>
          <a:xfrm>
            <a:off x="7439025" y="4635698"/>
            <a:ext cx="3686175"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14B8A6"/>
                </a:solidFill>
                <a:latin typeface="Plus Jakarta Sans"/>
                <a:ea typeface="Plus Jakarta Sans"/>
                <a:cs typeface="Plus Jakarta Sans"/>
                <a:sym typeface="Plus Jakarta Sans"/>
              </a:rPr>
              <a:t>Every single vector. Finds the exact nearest neighbors.</a:t>
            </a:r>
            <a:endParaRPr/>
          </a:p>
        </p:txBody>
      </p:sp>
      <p:pic>
        <p:nvPicPr>
          <p:cNvPr id="241" name="Google Shape;241;p21"/>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45" name="Shape 245"/>
        <p:cNvGrpSpPr/>
        <p:nvPr/>
      </p:nvGrpSpPr>
      <p:grpSpPr>
        <a:xfrm>
          <a:off x="0" y="0"/>
          <a:ext cx="0" cy="0"/>
          <a:chOff x="0" y="0"/>
          <a:chExt cx="0" cy="0"/>
        </a:xfrm>
      </p:grpSpPr>
      <p:pic>
        <p:nvPicPr>
          <p:cNvPr descr="image.png" id="246" name="Google Shape;246;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7" name="Google Shape;247;p22"/>
          <p:cNvPicPr preferRelativeResize="0"/>
          <p:nvPr/>
        </p:nvPicPr>
        <p:blipFill rotWithShape="1">
          <a:blip r:embed="rId4">
            <a:alphaModFix/>
          </a:blip>
          <a:srcRect b="0" l="0" r="0" t="0"/>
          <a:stretch/>
        </p:blipFill>
        <p:spPr>
          <a:xfrm>
            <a:off x="6286500" y="2976562"/>
            <a:ext cx="5133975" cy="1819275"/>
          </a:xfrm>
          <a:prstGeom prst="rect">
            <a:avLst/>
          </a:prstGeom>
          <a:noFill/>
          <a:ln>
            <a:noFill/>
          </a:ln>
        </p:spPr>
      </p:pic>
      <p:sp>
        <p:nvSpPr>
          <p:cNvPr id="248" name="Google Shape;248;p22"/>
          <p:cNvSpPr txBox="1"/>
          <p:nvPr/>
        </p:nvSpPr>
        <p:spPr>
          <a:xfrm>
            <a:off x="1495425" y="581025"/>
            <a:ext cx="10421302"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State Management &amp; </a:t>
            </a:r>
            <a:r>
              <a:rPr b="0" i="0" lang="en-US" sz="3150" u="none" cap="none" strike="noStrike">
                <a:solidFill>
                  <a:srgbClr val="14B8A6"/>
                </a:solidFill>
                <a:latin typeface="Space Grotesk"/>
                <a:ea typeface="Space Grotesk"/>
                <a:cs typeface="Space Grotesk"/>
                <a:sym typeface="Space Grotesk"/>
              </a:rPr>
              <a:t>Serialization</a:t>
            </a:r>
            <a:endParaRPr/>
          </a:p>
        </p:txBody>
      </p:sp>
      <p:pic>
        <p:nvPicPr>
          <p:cNvPr descr="image.png" id="249" name="Google Shape;249;p22"/>
          <p:cNvPicPr preferRelativeResize="0"/>
          <p:nvPr/>
        </p:nvPicPr>
        <p:blipFill rotWithShape="1">
          <a:blip r:embed="rId5">
            <a:alphaModFix/>
          </a:blip>
          <a:srcRect b="0" l="0" r="0" t="0"/>
          <a:stretch/>
        </p:blipFill>
        <p:spPr>
          <a:xfrm>
            <a:off x="771525" y="581025"/>
            <a:ext cx="581025" cy="628650"/>
          </a:xfrm>
          <a:prstGeom prst="rect">
            <a:avLst/>
          </a:prstGeom>
          <a:noFill/>
          <a:ln>
            <a:noFill/>
          </a:ln>
        </p:spPr>
      </p:pic>
      <p:sp>
        <p:nvSpPr>
          <p:cNvPr id="250" name="Google Shape;250;p22"/>
          <p:cNvSpPr txBox="1"/>
          <p:nvPr/>
        </p:nvSpPr>
        <p:spPr>
          <a:xfrm>
            <a:off x="771525" y="2976562"/>
            <a:ext cx="539067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Why Serialize?</a:t>
            </a:r>
            <a:endParaRPr/>
          </a:p>
        </p:txBody>
      </p:sp>
      <p:sp>
        <p:nvSpPr>
          <p:cNvPr id="251" name="Google Shape;251;p22"/>
          <p:cNvSpPr txBox="1"/>
          <p:nvPr/>
        </p:nvSpPr>
        <p:spPr>
          <a:xfrm>
            <a:off x="771525" y="3405187"/>
            <a:ext cx="5133975"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Because FAISS operates in RAM, we must save our work to the hard drive when the pipeline finishes ingesting PDFs. This allows the chatbot application to load the "brain" instantly the next day.</a:t>
            </a:r>
            <a:endParaRPr/>
          </a:p>
        </p:txBody>
      </p:sp>
      <p:sp>
        <p:nvSpPr>
          <p:cNvPr id="252" name="Google Shape;252;p22"/>
          <p:cNvSpPr txBox="1"/>
          <p:nvPr/>
        </p:nvSpPr>
        <p:spPr>
          <a:xfrm>
            <a:off x="8133397" y="4062412"/>
            <a:ext cx="1440180"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RAM → Disk</a:t>
            </a:r>
            <a:endParaRPr/>
          </a:p>
        </p:txBody>
      </p:sp>
      <p:pic>
        <p:nvPicPr>
          <p:cNvPr descr="image.png" id="253" name="Google Shape;253;p22"/>
          <p:cNvPicPr preferRelativeResize="0"/>
          <p:nvPr/>
        </p:nvPicPr>
        <p:blipFill rotWithShape="1">
          <a:blip r:embed="rId6">
            <a:alphaModFix/>
          </a:blip>
          <a:srcRect b="0" l="0" r="0" t="0"/>
          <a:stretch/>
        </p:blipFill>
        <p:spPr>
          <a:xfrm>
            <a:off x="7862887" y="3300412"/>
            <a:ext cx="647700" cy="571500"/>
          </a:xfrm>
          <a:prstGeom prst="rect">
            <a:avLst/>
          </a:prstGeom>
          <a:noFill/>
          <a:ln>
            <a:noFill/>
          </a:ln>
        </p:spPr>
      </p:pic>
      <p:pic>
        <p:nvPicPr>
          <p:cNvPr descr="image.png" id="254" name="Google Shape;254;p22"/>
          <p:cNvPicPr preferRelativeResize="0"/>
          <p:nvPr/>
        </p:nvPicPr>
        <p:blipFill rotWithShape="1">
          <a:blip r:embed="rId7">
            <a:alphaModFix/>
          </a:blip>
          <a:srcRect b="0" l="0" r="0" t="0"/>
          <a:stretch/>
        </p:blipFill>
        <p:spPr>
          <a:xfrm>
            <a:off x="8701087" y="3395662"/>
            <a:ext cx="381000" cy="381000"/>
          </a:xfrm>
          <a:prstGeom prst="rect">
            <a:avLst/>
          </a:prstGeom>
          <a:noFill/>
          <a:ln>
            <a:noFill/>
          </a:ln>
        </p:spPr>
      </p:pic>
      <p:pic>
        <p:nvPicPr>
          <p:cNvPr descr="image.png" id="255" name="Google Shape;255;p22"/>
          <p:cNvPicPr preferRelativeResize="0"/>
          <p:nvPr/>
        </p:nvPicPr>
        <p:blipFill rotWithShape="1">
          <a:blip r:embed="rId8">
            <a:alphaModFix/>
          </a:blip>
          <a:srcRect b="0" l="0" r="0" t="0"/>
          <a:stretch/>
        </p:blipFill>
        <p:spPr>
          <a:xfrm>
            <a:off x="9272587" y="3300412"/>
            <a:ext cx="571500" cy="571500"/>
          </a:xfrm>
          <a:prstGeom prst="rect">
            <a:avLst/>
          </a:prstGeom>
          <a:noFill/>
          <a:ln>
            <a:noFill/>
          </a:ln>
        </p:spPr>
      </p:pic>
      <p:pic>
        <p:nvPicPr>
          <p:cNvPr id="256" name="Google Shape;256;p22"/>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60" name="Shape 260"/>
        <p:cNvGrpSpPr/>
        <p:nvPr/>
      </p:nvGrpSpPr>
      <p:grpSpPr>
        <a:xfrm>
          <a:off x="0" y="0"/>
          <a:ext cx="0" cy="0"/>
          <a:chOff x="0" y="0"/>
          <a:chExt cx="0" cy="0"/>
        </a:xfrm>
      </p:grpSpPr>
      <p:pic>
        <p:nvPicPr>
          <p:cNvPr descr="image.png" id="261" name="Google Shape;261;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2" name="Google Shape;262;p23"/>
          <p:cNvPicPr preferRelativeResize="0"/>
          <p:nvPr/>
        </p:nvPicPr>
        <p:blipFill rotWithShape="1">
          <a:blip r:embed="rId4">
            <a:alphaModFix/>
          </a:blip>
          <a:srcRect b="0" l="0" r="0" t="0"/>
          <a:stretch/>
        </p:blipFill>
        <p:spPr>
          <a:xfrm>
            <a:off x="771525" y="3141464"/>
            <a:ext cx="5133975" cy="2504628"/>
          </a:xfrm>
          <a:prstGeom prst="rect">
            <a:avLst/>
          </a:prstGeom>
          <a:noFill/>
          <a:ln>
            <a:noFill/>
          </a:ln>
        </p:spPr>
      </p:pic>
      <p:pic>
        <p:nvPicPr>
          <p:cNvPr descr="image.png" id="263" name="Google Shape;263;p23"/>
          <p:cNvPicPr preferRelativeResize="0"/>
          <p:nvPr/>
        </p:nvPicPr>
        <p:blipFill rotWithShape="1">
          <a:blip r:embed="rId5">
            <a:alphaModFix/>
          </a:blip>
          <a:srcRect b="0" l="0" r="0" t="0"/>
          <a:stretch/>
        </p:blipFill>
        <p:spPr>
          <a:xfrm>
            <a:off x="6286500" y="3141464"/>
            <a:ext cx="5133975" cy="2504628"/>
          </a:xfrm>
          <a:prstGeom prst="rect">
            <a:avLst/>
          </a:prstGeom>
          <a:noFill/>
          <a:ln>
            <a:noFill/>
          </a:ln>
        </p:spPr>
      </p:pic>
      <p:sp>
        <p:nvSpPr>
          <p:cNvPr id="264" name="Google Shape;264;p23"/>
          <p:cNvSpPr txBox="1"/>
          <p:nvPr/>
        </p:nvSpPr>
        <p:spPr>
          <a:xfrm>
            <a:off x="1447800" y="581025"/>
            <a:ext cx="10471308"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Anatomy of the </a:t>
            </a:r>
            <a:r>
              <a:rPr b="0" i="0" lang="en-US" sz="3150" u="none" cap="none" strike="noStrike">
                <a:solidFill>
                  <a:srgbClr val="14B8A6"/>
                </a:solidFill>
                <a:latin typeface="Space Grotesk"/>
                <a:ea typeface="Space Grotesk"/>
                <a:cs typeface="Space Grotesk"/>
                <a:sym typeface="Space Grotesk"/>
              </a:rPr>
              <a:t>Saved Index</a:t>
            </a:r>
            <a:endParaRPr/>
          </a:p>
        </p:txBody>
      </p:sp>
      <p:pic>
        <p:nvPicPr>
          <p:cNvPr descr="image.png" id="265" name="Google Shape;265;p23"/>
          <p:cNvPicPr preferRelativeResize="0"/>
          <p:nvPr/>
        </p:nvPicPr>
        <p:blipFill rotWithShape="1">
          <a:blip r:embed="rId6">
            <a:alphaModFix/>
          </a:blip>
          <a:srcRect b="0" l="0" r="0" t="0"/>
          <a:stretch/>
        </p:blipFill>
        <p:spPr>
          <a:xfrm>
            <a:off x="771525" y="581025"/>
            <a:ext cx="533400" cy="628650"/>
          </a:xfrm>
          <a:prstGeom prst="rect">
            <a:avLst/>
          </a:prstGeom>
          <a:noFill/>
          <a:ln>
            <a:noFill/>
          </a:ln>
        </p:spPr>
      </p:pic>
      <p:sp>
        <p:nvSpPr>
          <p:cNvPr id="266" name="Google Shape;266;p23"/>
          <p:cNvSpPr txBox="1"/>
          <p:nvPr/>
        </p:nvSpPr>
        <p:spPr>
          <a:xfrm>
            <a:off x="771525" y="2126307"/>
            <a:ext cx="10648950" cy="58653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When we serialize a LangChain FAISS index using vectorstore.save_local(), it creates a folder with two highly distinct files. An MLOps engineer must understand both:</a:t>
            </a:r>
            <a:endParaRPr/>
          </a:p>
        </p:txBody>
      </p:sp>
      <p:sp>
        <p:nvSpPr>
          <p:cNvPr id="267" name="Google Shape;267;p23"/>
          <p:cNvSpPr txBox="1"/>
          <p:nvPr/>
        </p:nvSpPr>
        <p:spPr>
          <a:xfrm>
            <a:off x="1066800" y="3465314"/>
            <a:ext cx="4770596"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Fira Code"/>
                <a:ea typeface="Fira Code"/>
                <a:cs typeface="Fira Code"/>
                <a:sym typeface="Fira Code"/>
              </a:rPr>
              <a:t>index.faiss</a:t>
            </a:r>
            <a:endParaRPr/>
          </a:p>
        </p:txBody>
      </p:sp>
      <p:sp>
        <p:nvSpPr>
          <p:cNvPr id="268" name="Google Shape;268;p23"/>
          <p:cNvSpPr txBox="1"/>
          <p:nvPr/>
        </p:nvSpPr>
        <p:spPr>
          <a:xfrm>
            <a:off x="1066800" y="3903464"/>
            <a:ext cx="45434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highly optimized C++ binary file. It contains </a:t>
            </a:r>
            <a:r>
              <a:rPr b="1" i="0" lang="en-US" sz="1425" u="none" cap="none" strike="noStrike">
                <a:solidFill>
                  <a:srgbClr val="CBD5E1"/>
                </a:solidFill>
                <a:latin typeface="Plus Jakarta Sans"/>
                <a:ea typeface="Plus Jakarta Sans"/>
                <a:cs typeface="Plus Jakarta Sans"/>
                <a:sym typeface="Plus Jakarta Sans"/>
              </a:rPr>
              <a:t>ONLY the math</a:t>
            </a:r>
            <a:r>
              <a:rPr b="0" i="0" lang="en-US" sz="1425" u="none" cap="none" strike="noStrike">
                <a:solidFill>
                  <a:srgbClr val="CBD5E1"/>
                </a:solidFill>
                <a:latin typeface="Plus Jakarta Sans"/>
                <a:ea typeface="Plus Jakarta Sans"/>
                <a:cs typeface="Plus Jakarta Sans"/>
                <a:sym typeface="Plus Jakarta Sans"/>
              </a:rPr>
              <a:t> (the HNSW graphs, Voronoi cells, and 768-D coordinates). It contains absolutely NO English text.</a:t>
            </a:r>
            <a:endParaRPr/>
          </a:p>
        </p:txBody>
      </p:sp>
      <p:sp>
        <p:nvSpPr>
          <p:cNvPr id="269" name="Google Shape;269;p23"/>
          <p:cNvSpPr txBox="1"/>
          <p:nvPr/>
        </p:nvSpPr>
        <p:spPr>
          <a:xfrm>
            <a:off x="6581775" y="3465314"/>
            <a:ext cx="4770596"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Fira Code"/>
                <a:ea typeface="Fira Code"/>
                <a:cs typeface="Fira Code"/>
                <a:sym typeface="Fira Code"/>
              </a:rPr>
              <a:t>index.pkl</a:t>
            </a:r>
            <a:endParaRPr/>
          </a:p>
        </p:txBody>
      </p:sp>
      <p:sp>
        <p:nvSpPr>
          <p:cNvPr id="270" name="Google Shape;270;p23"/>
          <p:cNvSpPr txBox="1"/>
          <p:nvPr/>
        </p:nvSpPr>
        <p:spPr>
          <a:xfrm>
            <a:off x="6581775" y="3903464"/>
            <a:ext cx="4543425" cy="1447353"/>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Pickle file is a serialized Python dictionary. It serves as a </a:t>
            </a:r>
            <a:r>
              <a:rPr b="1" i="0" lang="en-US" sz="1425" u="none" cap="none" strike="noStrike">
                <a:solidFill>
                  <a:srgbClr val="CBD5E1"/>
                </a:solidFill>
                <a:latin typeface="Plus Jakarta Sans"/>
                <a:ea typeface="Plus Jakarta Sans"/>
                <a:cs typeface="Plus Jakarta Sans"/>
                <a:sym typeface="Plus Jakarta Sans"/>
              </a:rPr>
              <a:t>Lookup Table</a:t>
            </a:r>
            <a:r>
              <a:rPr b="0" i="0" lang="en-US" sz="1425" u="none" cap="none" strike="noStrike">
                <a:solidFill>
                  <a:srgbClr val="CBD5E1"/>
                </a:solidFill>
                <a:latin typeface="Plus Jakarta Sans"/>
                <a:ea typeface="Plus Jakarta Sans"/>
                <a:cs typeface="Plus Jakarta Sans"/>
                <a:sym typeface="Plus Jakarta Sans"/>
              </a:rPr>
              <a:t>, mapping the mathematical Vector ID (e.g., #402) to the actual LangChain Document object containing the English text and Metadata.</a:t>
            </a:r>
            <a:endParaRPr/>
          </a:p>
        </p:txBody>
      </p:sp>
      <p:pic>
        <p:nvPicPr>
          <p:cNvPr id="271" name="Google Shape;271;p23"/>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75" name="Shape 275"/>
        <p:cNvGrpSpPr/>
        <p:nvPr/>
      </p:nvGrpSpPr>
      <p:grpSpPr>
        <a:xfrm>
          <a:off x="0" y="0"/>
          <a:ext cx="0" cy="0"/>
          <a:chOff x="0" y="0"/>
          <a:chExt cx="0" cy="0"/>
        </a:xfrm>
      </p:grpSpPr>
      <p:pic>
        <p:nvPicPr>
          <p:cNvPr descr="image.png" id="276" name="Google Shape;276;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7" name="Google Shape;277;p24"/>
          <p:cNvPicPr preferRelativeResize="0"/>
          <p:nvPr/>
        </p:nvPicPr>
        <p:blipFill rotWithShape="1">
          <a:blip r:embed="rId4">
            <a:alphaModFix/>
          </a:blip>
          <a:srcRect b="0" l="0" r="0" t="0"/>
          <a:stretch/>
        </p:blipFill>
        <p:spPr>
          <a:xfrm>
            <a:off x="1836390" y="1495425"/>
            <a:ext cx="8519070" cy="4781550"/>
          </a:xfrm>
          <a:prstGeom prst="rect">
            <a:avLst/>
          </a:prstGeom>
          <a:noFill/>
          <a:ln>
            <a:noFill/>
          </a:ln>
        </p:spPr>
      </p:pic>
      <p:sp>
        <p:nvSpPr>
          <p:cNvPr id="278" name="Google Shape;278;p24"/>
          <p:cNvSpPr txBox="1"/>
          <p:nvPr/>
        </p:nvSpPr>
        <p:spPr>
          <a:xfrm>
            <a:off x="1543050" y="581025"/>
            <a:ext cx="10371296"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Deserialization </a:t>
            </a:r>
            <a:r>
              <a:rPr b="0" i="0" lang="en-US" sz="3150" u="none" cap="none" strike="noStrike">
                <a:solidFill>
                  <a:srgbClr val="F43F5E"/>
                </a:solidFill>
                <a:latin typeface="Space Grotesk"/>
                <a:ea typeface="Space Grotesk"/>
                <a:cs typeface="Space Grotesk"/>
                <a:sym typeface="Space Grotesk"/>
              </a:rPr>
              <a:t>Warning</a:t>
            </a:r>
            <a:endParaRPr/>
          </a:p>
        </p:txBody>
      </p:sp>
      <p:pic>
        <p:nvPicPr>
          <p:cNvPr descr="image.png" id="279" name="Google Shape;279;p24"/>
          <p:cNvPicPr preferRelativeResize="0"/>
          <p:nvPr/>
        </p:nvPicPr>
        <p:blipFill rotWithShape="1">
          <a:blip r:embed="rId5">
            <a:alphaModFix/>
          </a:blip>
          <a:srcRect b="0" l="0" r="0" t="0"/>
          <a:stretch/>
        </p:blipFill>
        <p:spPr>
          <a:xfrm>
            <a:off x="771525" y="581025"/>
            <a:ext cx="628650" cy="628650"/>
          </a:xfrm>
          <a:prstGeom prst="rect">
            <a:avLst/>
          </a:prstGeom>
          <a:noFill/>
          <a:ln>
            <a:noFill/>
          </a:ln>
        </p:spPr>
      </p:pic>
      <p:sp>
        <p:nvSpPr>
          <p:cNvPr id="280" name="Google Shape;280;p24"/>
          <p:cNvSpPr txBox="1"/>
          <p:nvPr/>
        </p:nvSpPr>
        <p:spPr>
          <a:xfrm>
            <a:off x="2131665" y="1819275"/>
            <a:ext cx="832494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allow_dangerous_deserialization=True</a:t>
            </a:r>
            <a:endParaRPr/>
          </a:p>
        </p:txBody>
      </p:sp>
      <p:sp>
        <p:nvSpPr>
          <p:cNvPr id="281" name="Google Shape;281;p24"/>
          <p:cNvSpPr txBox="1"/>
          <p:nvPr/>
        </p:nvSpPr>
        <p:spPr>
          <a:xfrm>
            <a:off x="2131665" y="2276475"/>
            <a:ext cx="792852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Why does LangChain force us to write this flag when loading the database?</a:t>
            </a:r>
            <a:endParaRPr/>
          </a:p>
        </p:txBody>
      </p:sp>
      <p:sp>
        <p:nvSpPr>
          <p:cNvPr id="282" name="Google Shape;282;p24"/>
          <p:cNvSpPr txBox="1"/>
          <p:nvPr/>
        </p:nvSpPr>
        <p:spPr>
          <a:xfrm>
            <a:off x="2131665" y="2708820"/>
            <a:ext cx="7928520" cy="58653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.pkl file uses Python's native Pickle module. Pickle files can execute arbitrary, malicious code if you download them from an untrusted source over the internet.</a:t>
            </a:r>
            <a:endParaRPr/>
          </a:p>
        </p:txBody>
      </p:sp>
      <p:sp>
        <p:nvSpPr>
          <p:cNvPr id="283" name="Google Shape;283;p24"/>
          <p:cNvSpPr txBox="1"/>
          <p:nvPr/>
        </p:nvSpPr>
        <p:spPr>
          <a:xfrm>
            <a:off x="2131665" y="3438227"/>
            <a:ext cx="792852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Because </a:t>
            </a:r>
            <a:r>
              <a:rPr b="1" i="0" lang="en-US" sz="1425" u="none" cap="none" strike="noStrike">
                <a:solidFill>
                  <a:srgbClr val="CBD5E1"/>
                </a:solidFill>
                <a:latin typeface="Plus Jakarta Sans"/>
                <a:ea typeface="Plus Jakarta Sans"/>
                <a:cs typeface="Plus Jakarta Sans"/>
                <a:sym typeface="Plus Jakarta Sans"/>
              </a:rPr>
              <a:t>WE</a:t>
            </a:r>
            <a:r>
              <a:rPr b="0" i="0" lang="en-US" sz="1425" u="none" cap="none" strike="noStrike">
                <a:solidFill>
                  <a:srgbClr val="CBD5E1"/>
                </a:solidFill>
                <a:latin typeface="Plus Jakarta Sans"/>
                <a:ea typeface="Plus Jakarta Sans"/>
                <a:cs typeface="Plus Jakarta Sans"/>
                <a:sym typeface="Plus Jakarta Sans"/>
              </a:rPr>
              <a:t> created this index locally in our own pipeline, it is 100% safe to load. But you must explicitly acknowledge the risk in code.</a:t>
            </a:r>
            <a:endParaRPr/>
          </a:p>
        </p:txBody>
      </p:sp>
      <p:pic>
        <p:nvPicPr>
          <p:cNvPr id="284" name="Google Shape;284;p24"/>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88" name="Shape 288"/>
        <p:cNvGrpSpPr/>
        <p:nvPr/>
      </p:nvGrpSpPr>
      <p:grpSpPr>
        <a:xfrm>
          <a:off x="0" y="0"/>
          <a:ext cx="0" cy="0"/>
          <a:chOff x="0" y="0"/>
          <a:chExt cx="0" cy="0"/>
        </a:xfrm>
      </p:grpSpPr>
      <p:pic>
        <p:nvPicPr>
          <p:cNvPr descr="image.png" id="289" name="Google Shape;289;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0" name="Google Shape;290;p25"/>
          <p:cNvPicPr preferRelativeResize="0"/>
          <p:nvPr/>
        </p:nvPicPr>
        <p:blipFill rotWithShape="1">
          <a:blip r:embed="rId4">
            <a:alphaModFix/>
          </a:blip>
          <a:srcRect b="0" l="0" r="0" t="0"/>
          <a:stretch/>
        </p:blipFill>
        <p:spPr>
          <a:xfrm>
            <a:off x="3824287" y="5127128"/>
            <a:ext cx="1895475" cy="409575"/>
          </a:xfrm>
          <a:prstGeom prst="rect">
            <a:avLst/>
          </a:prstGeom>
          <a:noFill/>
          <a:ln>
            <a:noFill/>
          </a:ln>
        </p:spPr>
      </p:pic>
      <p:pic>
        <p:nvPicPr>
          <p:cNvPr descr="image.png" id="291" name="Google Shape;291;p25"/>
          <p:cNvPicPr preferRelativeResize="0"/>
          <p:nvPr/>
        </p:nvPicPr>
        <p:blipFill rotWithShape="1">
          <a:blip r:embed="rId5">
            <a:alphaModFix/>
          </a:blip>
          <a:srcRect b="0" l="0" r="0" t="0"/>
          <a:stretch/>
        </p:blipFill>
        <p:spPr>
          <a:xfrm>
            <a:off x="6005512" y="5127128"/>
            <a:ext cx="2362200" cy="409575"/>
          </a:xfrm>
          <a:prstGeom prst="rect">
            <a:avLst/>
          </a:prstGeom>
          <a:noFill/>
          <a:ln>
            <a:noFill/>
          </a:ln>
        </p:spPr>
      </p:pic>
      <p:pic>
        <p:nvPicPr>
          <p:cNvPr descr="image.png" id="292" name="Google Shape;292;p25"/>
          <p:cNvPicPr preferRelativeResize="0"/>
          <p:nvPr/>
        </p:nvPicPr>
        <p:blipFill rotWithShape="1">
          <a:blip r:embed="rId6">
            <a:alphaModFix/>
          </a:blip>
          <a:srcRect b="0" l="0" r="0" t="0"/>
          <a:stretch/>
        </p:blipFill>
        <p:spPr>
          <a:xfrm>
            <a:off x="5715000" y="1321296"/>
            <a:ext cx="762000" cy="762000"/>
          </a:xfrm>
          <a:prstGeom prst="rect">
            <a:avLst/>
          </a:prstGeom>
          <a:noFill/>
          <a:ln>
            <a:noFill/>
          </a:ln>
        </p:spPr>
      </p:pic>
      <p:sp>
        <p:nvSpPr>
          <p:cNvPr id="293" name="Google Shape;293;p25"/>
          <p:cNvSpPr txBox="1"/>
          <p:nvPr/>
        </p:nvSpPr>
        <p:spPr>
          <a:xfrm>
            <a:off x="3525678" y="2369046"/>
            <a:ext cx="5140642" cy="62865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4500" u="none" cap="none" strike="noStrike">
                <a:solidFill>
                  <a:srgbClr val="F8FAFC"/>
                </a:solidFill>
                <a:latin typeface="Space Grotesk"/>
                <a:ea typeface="Space Grotesk"/>
                <a:cs typeface="Space Grotesk"/>
                <a:sym typeface="Space Grotesk"/>
              </a:rPr>
              <a:t>Session Complete</a:t>
            </a:r>
            <a:endParaRPr/>
          </a:p>
        </p:txBody>
      </p:sp>
      <p:sp>
        <p:nvSpPr>
          <p:cNvPr id="294" name="Google Shape;294;p25"/>
          <p:cNvSpPr txBox="1"/>
          <p:nvPr/>
        </p:nvSpPr>
        <p:spPr>
          <a:xfrm>
            <a:off x="1809750" y="3283446"/>
            <a:ext cx="8572500" cy="1462682"/>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Plus Jakarta Sans"/>
                <a:ea typeface="Plus Jakarta Sans"/>
                <a:cs typeface="Plus Jakarta Sans"/>
                <a:sym typeface="Plus Jakarta Sans"/>
              </a:rPr>
              <a:t>We have crossed the threshold from simple scripts to true AI databases. We traded exhaustive $O(N)$ math for the blistering speed of ANN, mapped high-dimensional space with Voronoi cells and HNSW graphs, and successfully persisted our pipeline to disk.</a:t>
            </a:r>
            <a:endParaRPr/>
          </a:p>
        </p:txBody>
      </p:sp>
      <p:pic>
        <p:nvPicPr>
          <p:cNvPr descr="image.png" id="295" name="Google Shape;295;p25"/>
          <p:cNvPicPr preferRelativeResize="0"/>
          <p:nvPr/>
        </p:nvPicPr>
        <p:blipFill rotWithShape="1">
          <a:blip r:embed="rId7">
            <a:alphaModFix/>
          </a:blip>
          <a:srcRect b="0" l="0" r="0" t="0"/>
          <a:stretch/>
        </p:blipFill>
        <p:spPr>
          <a:xfrm>
            <a:off x="3893683" y="5255716"/>
            <a:ext cx="133350" cy="152400"/>
          </a:xfrm>
          <a:prstGeom prst="rect">
            <a:avLst/>
          </a:prstGeom>
          <a:noFill/>
          <a:ln>
            <a:noFill/>
          </a:ln>
        </p:spPr>
      </p:pic>
      <p:pic>
        <p:nvPicPr>
          <p:cNvPr descr="image.png" id="296" name="Google Shape;296;p25"/>
          <p:cNvPicPr preferRelativeResize="0"/>
          <p:nvPr/>
        </p:nvPicPr>
        <p:blipFill rotWithShape="1">
          <a:blip r:embed="rId8">
            <a:alphaModFix/>
          </a:blip>
          <a:srcRect b="0" l="0" r="0" t="0"/>
          <a:stretch/>
        </p:blipFill>
        <p:spPr>
          <a:xfrm>
            <a:off x="6074908" y="5255716"/>
            <a:ext cx="133350" cy="152400"/>
          </a:xfrm>
          <a:prstGeom prst="rect">
            <a:avLst/>
          </a:prstGeom>
          <a:noFill/>
          <a:ln>
            <a:noFill/>
          </a:ln>
        </p:spPr>
      </p:pic>
      <p:pic>
        <p:nvPicPr>
          <p:cNvPr id="297" name="Google Shape;297;p25"/>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