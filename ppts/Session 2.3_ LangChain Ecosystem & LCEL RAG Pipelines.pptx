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lus Jakarta Sans"/>
      <p:regular r:id="rId26"/>
      <p:bold r:id="rId27"/>
      <p:italic r:id="rId28"/>
      <p:boldItalic r:id="rId29"/>
    </p:embeddedFont>
    <p:embeddedFont>
      <p:font typeface="Plus Jakarta Sans SemiBold"/>
      <p:regular r:id="rId30"/>
      <p:bold r:id="rId31"/>
      <p:italic r:id="rId32"/>
      <p:boldItalic r:id="rId33"/>
    </p:embeddedFont>
    <p:embeddedFont>
      <p:font typeface="Plus Jakarta Sans Medium"/>
      <p:regular r:id="rId34"/>
      <p:bold r:id="rId35"/>
      <p:italic r:id="rId36"/>
      <p:boldItalic r:id="rId37"/>
    </p:embeddedFont>
    <p:embeddedFont>
      <p:font typeface="Space Grotesk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regular.fntdata"/><Relationship Id="rId25" Type="http://schemas.openxmlformats.org/officeDocument/2006/relationships/slide" Target="slides/slide20.xml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SemiBold-bold.fntdata"/><Relationship Id="rId30" Type="http://schemas.openxmlformats.org/officeDocument/2006/relationships/font" Target="fonts/PlusJakartaSa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PlusJakartaSa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SemiBold-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Medium-bold.fntdata"/><Relationship Id="rId12" Type="http://schemas.openxmlformats.org/officeDocument/2006/relationships/slide" Target="slides/slide7.xml"/><Relationship Id="rId34" Type="http://schemas.openxmlformats.org/officeDocument/2006/relationships/font" Target="fonts/PlusJakartaSansMedium-regular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SpaceGrotesk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image" Target="../media/image20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11" Type="http://schemas.openxmlformats.org/officeDocument/2006/relationships/image" Target="../media/image35.png"/><Relationship Id="rId10" Type="http://schemas.openxmlformats.org/officeDocument/2006/relationships/image" Target="../media/image26.png"/><Relationship Id="rId12" Type="http://schemas.openxmlformats.org/officeDocument/2006/relationships/image" Target="../media/image1.png"/><Relationship Id="rId9" Type="http://schemas.openxmlformats.org/officeDocument/2006/relationships/image" Target="../media/image41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10" Type="http://schemas.openxmlformats.org/officeDocument/2006/relationships/image" Target="../media/image1.png"/><Relationship Id="rId9" Type="http://schemas.openxmlformats.org/officeDocument/2006/relationships/image" Target="../media/image50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51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9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image43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11" Type="http://schemas.openxmlformats.org/officeDocument/2006/relationships/image" Target="../media/image1.png"/><Relationship Id="rId10" Type="http://schemas.openxmlformats.org/officeDocument/2006/relationships/image" Target="../media/image53.png"/><Relationship Id="rId9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44.png"/><Relationship Id="rId7" Type="http://schemas.openxmlformats.org/officeDocument/2006/relationships/image" Target="../media/image49.png"/><Relationship Id="rId8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56418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45431" y="2611933"/>
            <a:ext cx="91011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LangChain Ecosystem </a:t>
            </a: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&amp; LCEL RAG Pipelines</a:t>
            </a:r>
            <a:endParaRPr sz="1300"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310955"/>
            <a:ext cx="10648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Session 2.3: Orchestrating Composable, Deterministic, and Hallucination-Free Generative AI Engines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762125" y="2181225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Deconstructing LangChain: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Understanding the 6 core modules of the orchestration layer.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762125" y="272415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Hallucination Problem: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Why parametric memory fails and fine-tuning is an architectural mistake for facts.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762125" y="3571875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Retriever Abstraction: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Converting static VectorStores into intelligent search engines using MMR.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762125" y="4114800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Grounding: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Solving the "Lost in the Middle" phenomenon with surgical context stuffing.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762125" y="4657725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LCEL Revolution: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Mastering the LangChain Expression Language and the Runnable Protocol.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762125" y="5200650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Lab: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Architecting an end-to-end, stream-enabled RAG pipeline.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2193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2762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3609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3500" y="41529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3500" y="4695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33500" y="523875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 Agenda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524500" y="2480369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445418" y="2804219"/>
            <a:ext cx="930116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Deconstructing LangChain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2286000" y="38710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Orchestration Layer: Why a raw API call is not an enterprise application.</a:t>
            </a:r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19312"/>
            <a:ext cx="508635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19312"/>
            <a:ext cx="508635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162050" y="250983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Model I/O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62050" y="2995612"/>
            <a:ext cx="4305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Abstracts away API chaos. Wraps varying models (Gemini, OpenAI) behind a universal interface so switching vendors requires changing just one line of code.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162050" y="4424432"/>
            <a:ext cx="43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(dynamic string templating)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Output Parsers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(converting messy text into structured Python dictionaries).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24650" y="250983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Retrieval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24650" y="2995612"/>
            <a:ext cx="430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Data Backbone. AI models are frozen in time; Retrieval is how we give the AI an external hard drive.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24650" y="4052887"/>
            <a:ext cx="4305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Encompasses Document Loaders (PDFs, SQL), Text Splitters (chunking), Text Embeddings (math vectors), and Vector Stores (FAISS) to fetch data instantly.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390650" y="581025"/>
            <a:ext cx="10531316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Orchestration Framework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19312"/>
            <a:ext cx="508635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19312"/>
            <a:ext cx="508635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162050" y="250983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Chains &amp; 4. Memory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162050" y="2995612"/>
            <a:ext cx="430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Chains: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pipeline logic. Linking components (Query -&gt; Retrieve -&gt; Prompt -&gt; LLM) systematically via LCEL.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162050" y="4136318"/>
            <a:ext cx="4305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APIs are fundamentally stateless. Memory intercepts calls, injecting conversation history to create the illusion of continuous dialogue.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24650" y="250983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Agents &amp; 6. Callbacks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24650" y="2995612"/>
            <a:ext cx="4305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Autonomous AI. The LLM acts as a manager, using a reasoning loop to autonomously select and execute "Tools" (Search, Python, SQL).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24650" y="4441118"/>
            <a:ext cx="43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Callbacks: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Observability. Hooks into the pipeline to log token costs, measure FAISS latency, and stream output.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438275" y="581025"/>
            <a:ext cx="1048131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Framework Components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5524500" y="2480369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585436" y="2804219"/>
            <a:ext cx="902112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Hallucination Problem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2286000" y="38710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Parametric Memory, Fine-Tuning Failures, and the RAG Architecture.</a:t>
            </a:r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7850" y="1297748"/>
            <a:ext cx="4419600" cy="3310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76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771525" y="1257300"/>
            <a:ext cx="6504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Models do not save data as searchable text files. They adjust billions of mathematical weights across a neural network. This is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Parametric Memory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71525" y="231457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Catastrophe of Fine-Tuning: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5915025"/>
            <a:ext cx="855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Fine-tuning teaches an AI a new SKILL. It is NOT for teaching new FACTS.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438275" y="2762250"/>
            <a:ext cx="5186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Astronomical Cost: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Requires GPU clusters running for days.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438275" y="3609975"/>
            <a:ext cx="5186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Catastrophic Forgetting: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Learning new facts risks overwriting old ones (e.g., forgets how to write Python).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438275" y="4762500"/>
            <a:ext cx="5186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If a budget changes tomorrow, you must throw away the model and rerun the $50k fine-tuning process.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6126" y="1306025"/>
            <a:ext cx="4403047" cy="3294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8003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36480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480060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1333500" y="190500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Flaw of Parametric Memory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771525" y="866775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62187"/>
            <a:ext cx="3359199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262187"/>
            <a:ext cx="3359199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262187"/>
            <a:ext cx="3359199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5718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771525" y="1366837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Retrieval-Augmented Generation separates Knowledge (Storage) from Reasoning (Compute). It gives the AI an "Open-Book Exam."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652712"/>
            <a:ext cx="7429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066800" y="3709977"/>
            <a:ext cx="172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Retrieval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66800" y="4195762"/>
            <a:ext cx="27686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asks a query. Python embeds it, queries FAISS, and fetches the top 3 most mathematically relevant chunks from the external hard drive.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2652712"/>
            <a:ext cx="7429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711749" y="3709987"/>
            <a:ext cx="215526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Augmentation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711749" y="4195762"/>
            <a:ext cx="27686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"stuff" those 3 chunks into a hidden Prompt Template alongside the user's original question.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6699" y="2652712"/>
            <a:ext cx="7429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356700" y="3709975"/>
            <a:ext cx="21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Generation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356699" y="4195762"/>
            <a:ext cx="27686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send the massive prompt to Gemini with strict rules: "Answer using ONLY the provided context."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09675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54624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99574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1333500" y="300037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3-Step RAG Protocol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771525" y="976312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5524500" y="2480369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670446" y="2804219"/>
            <a:ext cx="8851106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Retriever Component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2286000" y="38710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Converting a static Vector Database into an automated Search Engine.</a:t>
            </a:r>
            <a:endParaRPr/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67842"/>
            <a:ext cx="5086350" cy="3388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67842"/>
            <a:ext cx="5086350" cy="3388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162050" y="265836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VectorStores Are Not Enough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162050" y="3144142"/>
            <a:ext cx="430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VectorStore (FAISS) knows vector calculus, but it doesn't know how to plug into an automated LangChain LCEL pipeline.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162050" y="4312117"/>
            <a:ext cx="43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Writing manual `for` loops to execute similarity searches and extract text creates fragile, hard-to-maintain code.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724650" y="265836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Standard Search Engine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724650" y="3144150"/>
            <a:ext cx="4438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Retriever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 an interface wrapper. It guarantees that no matter what database is underneath (FAISS, Pinecone, or SQL), passing a string query returns a standardized list of LangChain Document objects.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724650" y="4995517"/>
            <a:ext cx="43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retriever = vectorstore.as_retriever()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Retriever Abstraction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71525" y="1819275"/>
            <a:ext cx="63487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Score Thresholding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771525" y="2305050"/>
            <a:ext cx="604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Acts as a protective firewall. Only returns documents if their mathematical similarity score is above a set limit (e.g., 0.80). Prevents hallucinations when a user asks an unrelated question.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771525" y="3505200"/>
            <a:ext cx="63487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Maximum Marginal Relevance (MMR)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771525" y="3990975"/>
            <a:ext cx="604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Redundancy Killer. Basic cosine might return 3 identical paragraphs from the same page. MMR optimizes for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similarity AND diversity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771525" y="5048250"/>
            <a:ext cx="604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fetches a large pool (e.g., 20), selects the best, and penalizes subsequent chunks that are mathematically too similar, forcing diverse results.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389465" y="3090862"/>
            <a:ext cx="4031009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MMR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389465" y="4519612"/>
            <a:ext cx="40310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Similarity + Diversity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Advanced Search Algorithms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5524500" y="2678459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2920603" y="3002309"/>
            <a:ext cx="6350793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Prompt Grounding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700337" y="4069109"/>
            <a:ext cx="67913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Stuffing and the "Lost in the Middle" Phenomenon.</a:t>
            </a:r>
            <a:endParaRPr/>
          </a:p>
        </p:txBody>
      </p:sp>
      <p:pic>
        <p:nvPicPr>
          <p:cNvPr id="257" name="Google Shape;2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5962"/>
            <a:ext cx="50863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771525" y="1985962"/>
            <a:ext cx="5086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models have 2 million token windows, why not stuff 500 chunks into the prompt? Because LLM attention mechanisms suffer from severe fatigue.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438275" y="3090862"/>
            <a:ext cx="441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Primacy Bias: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Near-perfect recall for facts at the very beginning of the prompt.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438275" y="3938587"/>
            <a:ext cx="441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Recency Bias: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Near-perfect recall for facts at the very end (right before the query).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438275" y="4786312"/>
            <a:ext cx="441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Dead Zone: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Facts buried in the middle of massive prompts are routinely ignored, skipped, or hallucinated.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95487"/>
            <a:ext cx="50673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31289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3976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48244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"Lost in the Middle" Phenomenon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/>
        </p:nvSpPr>
        <p:spPr>
          <a:xfrm>
            <a:off x="1200150" y="2106959"/>
            <a:ext cx="9096375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Surgical Top-K Retrieval: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Never retrieve more context than you absolutely need. By enforcing k=3 or k=4, we completely eliminate the "middle dead zone." The entire prompt becomes the beginning and the end.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200150" y="3274665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Reordering (LongContextReorder):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FAISS returns chunks in mathematical order [Rank 1, 2, 3, 4, 5]. If stuffed as-is, Rank 2 lands in the dangerous middle.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200150" y="412239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Reshuffle Algorithm: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LangChain physically reshuffles the chunks to optimize for the U-Shaped attention curve. It places the most relevant chunks at the extreme edges.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1200150" y="4970115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Raw [1, 2, 3, 4, 5, 6] becomes Reordered [1, 3, 5, 6, 4, 2]. Rank 1 is Primacy, Rank 2 is Recency. The least relevant chunks are safely hidden in the middle.</a:t>
            </a:r>
            <a:endParaRPr/>
          </a:p>
        </p:txBody>
      </p:sp>
      <p:pic>
        <p:nvPicPr>
          <p:cNvPr descr="image.png" id="286" name="Google Shape;28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1450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31276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1604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500821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Engineering Mitigations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/>
          <p:nvPr/>
        </p:nvSpPr>
        <p:spPr>
          <a:xfrm>
            <a:off x="5524500" y="2240309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505301" y="2564159"/>
            <a:ext cx="1118139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LangChain Expression Language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3328987" y="4507259"/>
            <a:ext cx="55340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LCEL Revolution and the Runnable Protocol.</a:t>
            </a:r>
            <a:endParaRPr/>
          </a:p>
        </p:txBody>
      </p:sp>
      <p:pic>
        <p:nvPicPr>
          <p:cNvPr id="301" name="Google Shape;30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771525" y="581025"/>
            <a:ext cx="479059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Legacy Chain Black Box</a:t>
            </a:r>
            <a:endParaRPr/>
          </a:p>
        </p:txBody>
      </p:sp>
      <p:pic>
        <p:nvPicPr>
          <p:cNvPr descr="image.png" id="308" name="Google Shape;3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/>
          <p:nvPr/>
        </p:nvSpPr>
        <p:spPr>
          <a:xfrm>
            <a:off x="771525" y="2153542"/>
            <a:ext cx="47905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 with Abstraction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771525" y="2639317"/>
            <a:ext cx="4562475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early LangChain, engineers used rigid, pre-built classes like RetrievalQAChain. You passed an LLM and a Database, and it "just worked."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771525" y="3713708"/>
            <a:ext cx="4562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Black Box: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exact prompt text was hidden. If the AI hallucinated, debugging was nearly impossible because you couldn't see the text being sent.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771525" y="5085308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If you wanted to add a custom step (like translating a query to French), the legacy chain broke. You couldn't alter the internal plumbing.</a:t>
            </a:r>
            <a:endParaRPr/>
          </a:p>
        </p:txBody>
      </p:sp>
      <p:pic>
        <p:nvPicPr>
          <p:cNvPr id="313" name="Google Shape;31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64122"/>
            <a:ext cx="5086350" cy="3396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64122"/>
            <a:ext cx="5086350" cy="3396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1162050" y="265464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Runnable Protocol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1162050" y="3140422"/>
            <a:ext cx="430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LCEL forces every single component (LLMs, Prompts, Retrievers, Parsers) to adhere to a strict universal interface.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1162050" y="4197697"/>
            <a:ext cx="4305300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They all share standard methods: .invoke(input), .batch([inputs]), and .stream(input).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6724650" y="2654647"/>
            <a:ext cx="4520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Pipe Operator (|)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6724650" y="3140422"/>
            <a:ext cx="4305300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Because all components speak the same language, LCEL chains them using the Python bitwise OR operator | (the Unix Pipe).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6724650" y="4205287"/>
            <a:ext cx="430530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flows strictly from left to right: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chain = prompt | llm | parser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LCEL Revolution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0"/>
          <p:cNvSpPr txBox="1"/>
          <p:nvPr/>
        </p:nvSpPr>
        <p:spPr>
          <a:xfrm>
            <a:off x="771525" y="2586930"/>
            <a:ext cx="63487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 Latency UX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771525" y="3072705"/>
            <a:ext cx="60464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an LLM takes 15 seconds to summarize an audit, staring at a loading wheel is unacceptable enterprise UX.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771525" y="3825180"/>
            <a:ext cx="604644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LCEL, you use .stream() instead of .invoke().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771525" y="4280445"/>
            <a:ext cx="604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Because of the architecture, as soon as the LLM generates its very first word, that word shoots across the pipe, through the output parser, and onto the screen in milliseconds.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7389465" y="3233588"/>
            <a:ext cx="403100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Stream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7389465" y="4376588"/>
            <a:ext cx="40310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Chunk-by-Chunk Delivery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1228725" y="581025"/>
            <a:ext cx="107013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Native Streaming Advantage</a:t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39204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/>
        </p:nvSpPr>
        <p:spPr>
          <a:xfrm>
            <a:off x="1200150" y="1548854"/>
            <a:ext cx="9096375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Dependency Management: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Lock exact, verified versions of langchain-core, google-genai, and faiss-cpu to ensure enterprise stability.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1200150" y="2411759"/>
            <a:ext cx="9096375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Initialize Architecture: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Load Gemini with Temperature=0.0 (strict factual answers) and mount the serialized FAISS database from disk.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1200150" y="3267075"/>
            <a:ext cx="9096375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Retriever: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Convert the database to an active search engine, enforcing k=3.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1200150" y="381759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Craft Mega-Prompt: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Define structural boundaries (Context/Query) and inject strict anti-hallucination guardrails.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1200150" y="4665315"/>
            <a:ext cx="9096375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Wire the LCEL Chain: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Connect the Dictionary, Prompt, LLM, and Parser using the | pipe operator, utilizing RunnablePassthrough().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1200150" y="552822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Acid Test: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Execute the pipeline with a valid query, then test a trick query to prove the hallucination guardrails work perfectly.</a:t>
            </a:r>
            <a:endParaRPr/>
          </a:p>
        </p:txBody>
      </p:sp>
      <p:pic>
        <p:nvPicPr>
          <p:cNvPr descr="image.png" id="358" name="Google Shape;35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586954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449859"/>
            <a:ext cx="152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3051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85569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70341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5566320"/>
            <a:ext cx="1524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1"/>
          <p:cNvSpPr txBox="1"/>
          <p:nvPr/>
        </p:nvSpPr>
        <p:spPr>
          <a:xfrm>
            <a:off x="1438275" y="482054"/>
            <a:ext cx="1048131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Hands-On Lab: Execution Objectives</a:t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771525" y="1158329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 txBox="1"/>
          <p:nvPr/>
        </p:nvSpPr>
        <p:spPr>
          <a:xfrm>
            <a:off x="505301" y="1612552"/>
            <a:ext cx="1118139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 Complete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1809750" y="2774602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have transitioned from writing messy scripts to building an elegant, declarative, production-ready Retrieval-Augmented Generation pipeline. Hallucinations are eradicated.</a:t>
            </a:r>
            <a:endParaRPr/>
          </a:p>
        </p:txBody>
      </p:sp>
      <p:pic>
        <p:nvPicPr>
          <p:cNvPr id="374" name="Google Shape;3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