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92000"/>
  <p:notesSz cx="6858000" cy="9144000"/>
  <p:embeddedFontLst>
    <p:embeddedFont>
      <p:font typeface="Inter SemiBold"/>
      <p:regular r:id="rId29"/>
      <p:bold r:id="rId30"/>
      <p:italic r:id="rId31"/>
      <p:boldItalic r:id="rId32"/>
    </p:embeddedFont>
    <p:embeddedFont>
      <p:font typeface="Inter"/>
      <p:regular r:id="rId33"/>
      <p:bold r:id="rId34"/>
      <p:italic r:id="rId35"/>
      <p:boldItalic r:id="rId36"/>
    </p:embeddedFont>
    <p:embeddedFont>
      <p:font typeface="Urbanist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5363AA-6C14-4F52-A620-B481D9DD3E3B}">
  <a:tblStyle styleId="{575363AA-6C14-4F52-A620-B481D9DD3E3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SemiBold-italic.fntdata"/><Relationship Id="rId30" Type="http://schemas.openxmlformats.org/officeDocument/2006/relationships/font" Target="fonts/InterSemiBold-bold.fntdata"/><Relationship Id="rId11" Type="http://schemas.openxmlformats.org/officeDocument/2006/relationships/slide" Target="slides/slide5.xml"/><Relationship Id="rId33" Type="http://schemas.openxmlformats.org/officeDocument/2006/relationships/font" Target="fonts/Inter-regular.fntdata"/><Relationship Id="rId10" Type="http://schemas.openxmlformats.org/officeDocument/2006/relationships/slide" Target="slides/slide4.xml"/><Relationship Id="rId32" Type="http://schemas.openxmlformats.org/officeDocument/2006/relationships/font" Target="fonts/InterSemiBold-boldItalic.fntdata"/><Relationship Id="rId13" Type="http://schemas.openxmlformats.org/officeDocument/2006/relationships/slide" Target="slides/slide7.xml"/><Relationship Id="rId35" Type="http://schemas.openxmlformats.org/officeDocument/2006/relationships/font" Target="fonts/Inter-italic.fntdata"/><Relationship Id="rId12" Type="http://schemas.openxmlformats.org/officeDocument/2006/relationships/slide" Target="slides/slide6.xml"/><Relationship Id="rId34" Type="http://schemas.openxmlformats.org/officeDocument/2006/relationships/font" Target="fonts/Inter-bold.fntdata"/><Relationship Id="rId15" Type="http://schemas.openxmlformats.org/officeDocument/2006/relationships/slide" Target="slides/slide9.xml"/><Relationship Id="rId37" Type="http://schemas.openxmlformats.org/officeDocument/2006/relationships/font" Target="fonts/Urbanist-regular.fntdata"/><Relationship Id="rId14" Type="http://schemas.openxmlformats.org/officeDocument/2006/relationships/slide" Target="slides/slide8.xml"/><Relationship Id="rId36" Type="http://schemas.openxmlformats.org/officeDocument/2006/relationships/font" Target="fonts/Inter-boldItalic.fntdata"/><Relationship Id="rId17" Type="http://schemas.openxmlformats.org/officeDocument/2006/relationships/slide" Target="slides/slide11.xml"/><Relationship Id="rId39" Type="http://schemas.openxmlformats.org/officeDocument/2006/relationships/font" Target="fonts/Urbanist-italic.fntdata"/><Relationship Id="rId16" Type="http://schemas.openxmlformats.org/officeDocument/2006/relationships/slide" Target="slides/slide10.xml"/><Relationship Id="rId38" Type="http://schemas.openxmlformats.org/officeDocument/2006/relationships/font" Target="fonts/Urbanist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424826" y="2499419"/>
            <a:ext cx="13421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Module 3.3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762020" y="2966144"/>
            <a:ext cx="86679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Evaluation Pipelines </a:t>
            </a:r>
            <a:r>
              <a:rPr b="1" i="0" lang="en-US" sz="5100" u="none" cap="none" strike="noStrike">
                <a:solidFill>
                  <a:srgbClr val="818CF8"/>
                </a:solidFill>
                <a:latin typeface="Urbanist"/>
                <a:ea typeface="Urbanist"/>
                <a:cs typeface="Urbanist"/>
                <a:sym typeface="Urbanist"/>
              </a:rPr>
              <a:t>(Ragas)</a:t>
            </a:r>
            <a:endParaRPr sz="1100"/>
          </a:p>
        </p:txBody>
      </p:sp>
      <p:sp>
        <p:nvSpPr>
          <p:cNvPr id="90" name="Google Shape;90;p13"/>
          <p:cNvSpPr txBox="1"/>
          <p:nvPr/>
        </p:nvSpPr>
        <p:spPr>
          <a:xfrm>
            <a:off x="2600325" y="4044255"/>
            <a:ext cx="6991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Mathematically Proving Enterprise AI Safety via LLM-as-a-Judge</a:t>
            </a:r>
            <a:endParaRPr/>
          </a:p>
        </p:txBody>
      </p:sp>
      <p:pic>
        <p:nvPicPr>
          <p:cNvPr id="91" name="Google Shape;9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979" y="1434500"/>
            <a:ext cx="8403322" cy="853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8979" y="2451905"/>
            <a:ext cx="8403322" cy="853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8979" y="3469309"/>
            <a:ext cx="8403322" cy="853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8979" y="4486714"/>
            <a:ext cx="8403322" cy="853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8979" y="5504119"/>
            <a:ext cx="8403322" cy="85330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/>
          <p:nvPr/>
        </p:nvSpPr>
        <p:spPr>
          <a:xfrm>
            <a:off x="9525" y="6012821"/>
            <a:ext cx="10502400" cy="8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39350" lIns="78750" spcFirstLastPara="1" rIns="78750" wrap="square" tIns="39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1337945" y="1701158"/>
            <a:ext cx="3282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67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sz="1206"/>
          </a:p>
        </p:txBody>
      </p:sp>
      <p:sp>
        <p:nvSpPr>
          <p:cNvPr id="106" name="Google Shape;106;p14"/>
          <p:cNvSpPr txBox="1"/>
          <p:nvPr/>
        </p:nvSpPr>
        <p:spPr>
          <a:xfrm>
            <a:off x="1337945" y="2718563"/>
            <a:ext cx="3444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67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sz="1206"/>
          </a:p>
        </p:txBody>
      </p:sp>
      <p:sp>
        <p:nvSpPr>
          <p:cNvPr id="107" name="Google Shape;107;p14"/>
          <p:cNvSpPr txBox="1"/>
          <p:nvPr/>
        </p:nvSpPr>
        <p:spPr>
          <a:xfrm>
            <a:off x="1337945" y="3735967"/>
            <a:ext cx="3528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67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sz="1206"/>
          </a:p>
        </p:txBody>
      </p:sp>
      <p:sp>
        <p:nvSpPr>
          <p:cNvPr id="108" name="Google Shape;108;p14"/>
          <p:cNvSpPr txBox="1"/>
          <p:nvPr/>
        </p:nvSpPr>
        <p:spPr>
          <a:xfrm>
            <a:off x="1337945" y="4753372"/>
            <a:ext cx="3612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67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sz="1206"/>
          </a:p>
        </p:txBody>
      </p:sp>
      <p:sp>
        <p:nvSpPr>
          <p:cNvPr id="109" name="Google Shape;109;p14"/>
          <p:cNvSpPr txBox="1"/>
          <p:nvPr/>
        </p:nvSpPr>
        <p:spPr>
          <a:xfrm>
            <a:off x="1337945" y="5770777"/>
            <a:ext cx="3444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67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sz="1206"/>
          </a:p>
        </p:txBody>
      </p:sp>
      <p:sp>
        <p:nvSpPr>
          <p:cNvPr id="110" name="Google Shape;110;p14"/>
          <p:cNvSpPr txBox="1"/>
          <p:nvPr/>
        </p:nvSpPr>
        <p:spPr>
          <a:xfrm>
            <a:off x="1912286" y="1598597"/>
            <a:ext cx="59616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8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Evaluation Crisis</a:t>
            </a:r>
            <a:endParaRPr sz="1206"/>
          </a:p>
        </p:txBody>
      </p:sp>
      <p:sp>
        <p:nvSpPr>
          <p:cNvPr id="111" name="Google Shape;111;p14"/>
          <p:cNvSpPr txBox="1"/>
          <p:nvPr/>
        </p:nvSpPr>
        <p:spPr>
          <a:xfrm>
            <a:off x="1912286" y="1902178"/>
            <a:ext cx="56778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3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Why "Vibe Checks" and deterministic legacy metrics fail in probabilistic systems.</a:t>
            </a:r>
            <a:endParaRPr sz="1206"/>
          </a:p>
        </p:txBody>
      </p:sp>
      <p:sp>
        <p:nvSpPr>
          <p:cNvPr id="112" name="Google Shape;112;p14"/>
          <p:cNvSpPr txBox="1"/>
          <p:nvPr/>
        </p:nvSpPr>
        <p:spPr>
          <a:xfrm>
            <a:off x="1928695" y="2616002"/>
            <a:ext cx="55566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8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LLM-as-a-Judge Paradigm</a:t>
            </a:r>
            <a:endParaRPr sz="1206"/>
          </a:p>
        </p:txBody>
      </p:sp>
      <p:sp>
        <p:nvSpPr>
          <p:cNvPr id="113" name="Google Shape;113;p14"/>
          <p:cNvSpPr txBox="1"/>
          <p:nvPr/>
        </p:nvSpPr>
        <p:spPr>
          <a:xfrm>
            <a:off x="1928695" y="2919583"/>
            <a:ext cx="52923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3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Leveraging the "Asymmetry of Intelligence" to evaluate production models.</a:t>
            </a:r>
            <a:endParaRPr sz="1206"/>
          </a:p>
        </p:txBody>
      </p:sp>
      <p:sp>
        <p:nvSpPr>
          <p:cNvPr id="114" name="Google Shape;114;p14"/>
          <p:cNvSpPr txBox="1"/>
          <p:nvPr/>
        </p:nvSpPr>
        <p:spPr>
          <a:xfrm>
            <a:off x="1936900" y="3633407"/>
            <a:ext cx="6021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8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Decoding the RAGAS Framework</a:t>
            </a:r>
            <a:endParaRPr sz="1206"/>
          </a:p>
        </p:txBody>
      </p:sp>
      <p:sp>
        <p:nvSpPr>
          <p:cNvPr id="115" name="Google Shape;115;p14"/>
          <p:cNvSpPr txBox="1"/>
          <p:nvPr/>
        </p:nvSpPr>
        <p:spPr>
          <a:xfrm>
            <a:off x="1936900" y="3936987"/>
            <a:ext cx="57351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3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Mathematical scoring for Faithfulness, Answer Relevance, and Context Precision.</a:t>
            </a:r>
            <a:endParaRPr sz="1206"/>
          </a:p>
        </p:txBody>
      </p:sp>
      <p:sp>
        <p:nvSpPr>
          <p:cNvPr id="116" name="Google Shape;116;p14"/>
          <p:cNvSpPr txBox="1"/>
          <p:nvPr/>
        </p:nvSpPr>
        <p:spPr>
          <a:xfrm>
            <a:off x="1945105" y="4650811"/>
            <a:ext cx="5151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8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Constructing the Golden Dataset</a:t>
            </a:r>
            <a:endParaRPr sz="1206"/>
          </a:p>
        </p:txBody>
      </p:sp>
      <p:sp>
        <p:nvSpPr>
          <p:cNvPr id="117" name="Google Shape;117;p14"/>
          <p:cNvSpPr txBox="1"/>
          <p:nvPr/>
        </p:nvSpPr>
        <p:spPr>
          <a:xfrm>
            <a:off x="1945105" y="4954392"/>
            <a:ext cx="49065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3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Synthetic data bootstrapping and Human-in-the-Loop (HITL) auditing.</a:t>
            </a:r>
            <a:endParaRPr sz="1206"/>
          </a:p>
        </p:txBody>
      </p:sp>
      <p:sp>
        <p:nvSpPr>
          <p:cNvPr id="118" name="Google Shape;118;p14"/>
          <p:cNvSpPr txBox="1"/>
          <p:nvPr/>
        </p:nvSpPr>
        <p:spPr>
          <a:xfrm>
            <a:off x="1928695" y="5668216"/>
            <a:ext cx="4764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8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Hands-On Lab Execution</a:t>
            </a:r>
            <a:endParaRPr sz="1206"/>
          </a:p>
        </p:txBody>
      </p:sp>
      <p:sp>
        <p:nvSpPr>
          <p:cNvPr id="119" name="Google Shape;119;p14"/>
          <p:cNvSpPr txBox="1"/>
          <p:nvPr/>
        </p:nvSpPr>
        <p:spPr>
          <a:xfrm>
            <a:off x="1928695" y="5971797"/>
            <a:ext cx="45372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3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Building programmatic evaluation pipelines for CI/CD integration.</a:t>
            </a:r>
            <a:endParaRPr sz="1206"/>
          </a:p>
        </p:txBody>
      </p:sp>
      <p:sp>
        <p:nvSpPr>
          <p:cNvPr id="120" name="Google Shape;120;p14"/>
          <p:cNvSpPr txBox="1"/>
          <p:nvPr/>
        </p:nvSpPr>
        <p:spPr>
          <a:xfrm>
            <a:off x="676275" y="514350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Session Agenda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676275" y="1190625"/>
            <a:ext cx="10839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5344972" y="2495550"/>
            <a:ext cx="1501906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Part 1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3534429" y="3228975"/>
            <a:ext cx="512314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Evaluation Crisis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4524375" y="4010025"/>
            <a:ext cx="3143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Failure of "Vibe Checks"</a:t>
            </a:r>
            <a:endParaRPr/>
          </a:p>
        </p:txBody>
      </p:sp>
      <p:pic>
        <p:nvPicPr>
          <p:cNvPr id="134" name="Google Shape;13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" y="1533525"/>
            <a:ext cx="5133975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33525"/>
            <a:ext cx="5133975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1066800" y="1924050"/>
            <a:ext cx="457057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Current Industry Practice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772275" y="1924050"/>
            <a:ext cx="457057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43F5E"/>
                </a:solidFill>
                <a:latin typeface="Urbanist"/>
                <a:ea typeface="Urbanist"/>
                <a:cs typeface="Urbanist"/>
                <a:sym typeface="Urbanist"/>
              </a:rPr>
              <a:t>The Enterprise Reality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400175" y="2390775"/>
            <a:ext cx="40195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Engineer types 3 questions into the terminal.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400175" y="3248025"/>
            <a:ext cx="40195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AI provides 3 "good-looking" answers.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400175" y="3790950"/>
            <a:ext cx="40195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Engineer assumes the RAG pipeline is production-ready.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7105650" y="2390775"/>
            <a:ext cx="40195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AI hallucination does not throw a 404 Error.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7105650" y="3248025"/>
            <a:ext cx="40195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silently hands the user beautifully formatted, utterly fake data.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7105650" y="4105275"/>
            <a:ext cx="40195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Rule: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You cannot secure corporate budgets based on an AI passing a "vibe check" on a Tuesday afternoon.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1066800" y="240982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1066800" y="326707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1066800" y="381000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6772275" y="240982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6772275" y="326707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6772275" y="412432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676275" y="514350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"Vibe Check" Epidemic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676275" y="1190625"/>
            <a:ext cx="10839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676275" y="1533525"/>
            <a:ext cx="539067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Traditional Software (Deterministic)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381750" y="1533525"/>
            <a:ext cx="539067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Urbanist"/>
                <a:ea typeface="Urbanist"/>
                <a:cs typeface="Urbanist"/>
                <a:sym typeface="Urbanist"/>
              </a:rPr>
              <a:t>Generative AI (Probabilistic)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1009650" y="2000250"/>
            <a:ext cx="48006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Code calculates exact outputs.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1009650" y="2543175"/>
            <a:ext cx="48006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 + 2 always equals 4 (Today, tomorrow, everywhere).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1009650" y="3400425"/>
            <a:ext cx="4800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Testing is Binary: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715125" y="2000250"/>
            <a:ext cx="48006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Models do not calculate; they predict tokens.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6715125" y="2571750"/>
            <a:ext cx="48006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Same prompt yields multiple valid structures: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715125" y="3867150"/>
            <a:ext cx="48006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Problem: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assert statements crash the CI/CD pipeline even if the semantic answer is 100% correct.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676275" y="201930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676275" y="256222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676275" y="341947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6381750" y="201930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6381750" y="256222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6381750" y="388620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1390650" y="3810000"/>
            <a:ext cx="44196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assert calculate_sum(2, 2) == 4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1390650" y="4210050"/>
            <a:ext cx="44196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Passes or fails the build immediately.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7096125" y="2952750"/>
            <a:ext cx="44196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"The OCR failure rate is 15%."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7096125" y="3352800"/>
            <a:ext cx="44196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"I found a 15% failure rate for OCR."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1104900" y="381000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1104900" y="421005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6810375" y="295275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6810375" y="335280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676275" y="514350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Deterministic vs. Probabilistic Divide</a:t>
            </a:r>
            <a:endParaRPr/>
          </a:p>
        </p:txBody>
      </p:sp>
      <p:sp>
        <p:nvSpPr>
          <p:cNvPr id="193" name="Google Shape;193;p17"/>
          <p:cNvSpPr/>
          <p:nvPr/>
        </p:nvSpPr>
        <p:spPr>
          <a:xfrm>
            <a:off x="676275" y="1190625"/>
            <a:ext cx="10839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" y="3576637"/>
            <a:ext cx="108394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676275" y="5291137"/>
            <a:ext cx="10839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Conclusion: Legacy metrics cannot differentiate between a minor phrasing change and a catastrophic hallucination.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952500" y="3814762"/>
            <a:ext cx="10325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Ground Truth: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"The budget was approved."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1009650" y="1985962"/>
            <a:ext cx="105060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How they work: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Measure "n-gram overlap" (counting matching words between LLM output and Ground Truth).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1009650" y="2843212"/>
            <a:ext cx="105060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Blind Spot: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They measure vocabulary, not semantic meaning.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676275" y="2005012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676275" y="2862262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952500" y="4224337"/>
            <a:ext cx="50196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Output A:</a:t>
            </a:r>
            <a:r>
              <a:rPr b="0" i="0" lang="en-US" sz="16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 "The budget was totally approved."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952500" y="4538662"/>
            <a:ext cx="5019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Result: 4/5 words match (High ROUGE score).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6257925" y="4224337"/>
            <a:ext cx="50196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43F5E"/>
                </a:solidFill>
                <a:latin typeface="Inter"/>
                <a:ea typeface="Inter"/>
                <a:cs typeface="Inter"/>
                <a:sym typeface="Inter"/>
              </a:rPr>
              <a:t>Output B:</a:t>
            </a:r>
            <a:r>
              <a:rPr b="0" i="0" lang="en-US" sz="1650" u="none" cap="none" strike="noStrike">
                <a:solidFill>
                  <a:srgbClr val="F43F5E"/>
                </a:solidFill>
                <a:latin typeface="Inter"/>
                <a:ea typeface="Inter"/>
                <a:cs typeface="Inter"/>
                <a:sym typeface="Inter"/>
              </a:rPr>
              <a:t> "The budget was NOT approved."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6257925" y="4538662"/>
            <a:ext cx="5019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Result: 4/5 words match (High ROUGE score!).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676275" y="514350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Why Legacy Metrics (ROUGE/BLEU) Fail</a:t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676275" y="1190625"/>
            <a:ext cx="10839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9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5264962" y="2495550"/>
            <a:ext cx="1661926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Part 2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2170981" y="3228975"/>
            <a:ext cx="784988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LLM-as-a-Judge Paradigm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4995862" y="4010025"/>
            <a:ext cx="22002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Using AI to Grade AI</a:t>
            </a:r>
            <a:endParaRPr/>
          </a:p>
        </p:txBody>
      </p:sp>
      <p:pic>
        <p:nvPicPr>
          <p:cNvPr id="228" name="Google Shape;22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676275" y="1981200"/>
            <a:ext cx="108394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How can we trust an AI to grade another AI without hallucinating?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We replicate human academic grading.</a:t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676275" y="2581275"/>
            <a:ext cx="10839450" cy="3343275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9" name="Google Shape;239;p20"/>
          <p:cNvGraphicFramePr/>
          <p:nvPr/>
        </p:nvGraphicFramePr>
        <p:xfrm>
          <a:off x="676275" y="25812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{575363AA-6C14-4F52-A620-B481D9DD3E3B}</a:tableStyleId>
              </a:tblPr>
              <a:tblGrid>
                <a:gridCol w="2087175"/>
                <a:gridCol w="2045500"/>
                <a:gridCol w="6706800"/>
              </a:tblGrid>
              <a:tr h="111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 Context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Constraints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111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5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 Student</a:t>
                      </a:r>
                      <a:br>
                        <a:rPr b="1" i="0" lang="en-US" sz="155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1" i="0" lang="en-US" sz="155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(Production Model)</a:t>
                      </a:r>
                      <a:endParaRPr b="1"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Gemini 2.5 Flash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Must read chunks and answer in &lt; 2 seconds. Optimized for speed and low cost.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1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50" u="none" cap="none" strike="noStrike">
                          <a:solidFill>
                            <a:srgbClr val="818C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 Professor</a:t>
                      </a:r>
                      <a:br>
                        <a:rPr b="1" i="0" lang="en-US" sz="1550" u="none" cap="none" strike="noStrike">
                          <a:solidFill>
                            <a:srgbClr val="818C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1" i="0" lang="en-US" sz="1550" u="none" cap="none" strike="noStrike">
                          <a:solidFill>
                            <a:srgbClr val="818C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(Evaluator Model)</a:t>
                      </a:r>
                      <a:endParaRPr b="1"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Gemini 1.5 Pro / GPT-4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Runs asynchronously. No latency constraints. Deeper reasoning, spots logical fallacies smaller models miss.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0" name="Google Shape;240;p20"/>
          <p:cNvSpPr/>
          <p:nvPr/>
        </p:nvSpPr>
        <p:spPr>
          <a:xfrm>
            <a:off x="676275" y="3243262"/>
            <a:ext cx="208716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2763440" y="3243262"/>
            <a:ext cx="204549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4808934" y="3243262"/>
            <a:ext cx="670679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676275" y="4576762"/>
            <a:ext cx="208716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2763440" y="4576762"/>
            <a:ext cx="204549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4808934" y="4576762"/>
            <a:ext cx="670679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676275" y="5910262"/>
            <a:ext cx="208716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2763440" y="5910262"/>
            <a:ext cx="204549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4808934" y="5910262"/>
            <a:ext cx="670679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676275" y="514350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Asymmetry of Intelligence</a:t>
            </a:r>
            <a:endParaRPr/>
          </a:p>
        </p:txBody>
      </p:sp>
      <p:sp>
        <p:nvSpPr>
          <p:cNvPr id="250" name="Google Shape;250;p20"/>
          <p:cNvSpPr/>
          <p:nvPr/>
        </p:nvSpPr>
        <p:spPr>
          <a:xfrm>
            <a:off x="676275" y="1190625"/>
            <a:ext cx="10839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676275" y="1714500"/>
            <a:ext cx="108394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 properly grade a pipeline, the LLM Judge requires three absolute inputs (The Triad):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1009650" y="2219325"/>
            <a:ext cx="10506075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1. The User Query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1009650" y="3543300"/>
            <a:ext cx="10506075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2. The Retrieved Context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1009650" y="4867275"/>
            <a:ext cx="10506075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3. The Generated Answer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676275" y="223837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676275" y="356235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676275" y="488632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1390650" y="2628900"/>
            <a:ext cx="10125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What was asked?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("What is the OCR failure rate?")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1390650" y="3028950"/>
            <a:ext cx="10125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Without this, the Judge cannot evaluate Answer Relevance.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1390650" y="3952875"/>
            <a:ext cx="10125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What did FAISS pull?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("The Q4 audit notes a 15% failure...")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1390650" y="4352925"/>
            <a:ext cx="10125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Without this, the Judge cannot evaluate Faithfulness (Hallucinations).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1390650" y="5276850"/>
            <a:ext cx="10125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What did the Student output?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("The failure rate is 15%.")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1390650" y="5676900"/>
            <a:ext cx="10125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actual text being evaluated.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1104900" y="262890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1104900" y="302895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1104900" y="3952875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1104900" y="4352925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1104900" y="527685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1104900" y="567690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676275" y="514350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Anatomy of the RAG Triad</a:t>
            </a:r>
            <a:endParaRPr/>
          </a:p>
        </p:txBody>
      </p:sp>
      <p:sp>
        <p:nvSpPr>
          <p:cNvPr id="280" name="Google Shape;280;p21"/>
          <p:cNvSpPr/>
          <p:nvPr/>
        </p:nvSpPr>
        <p:spPr>
          <a:xfrm>
            <a:off x="676275" y="1190625"/>
            <a:ext cx="10839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2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1009650" y="2166937"/>
            <a:ext cx="105060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Subjectivity Problem: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Asking an LLM "Is this a good answer?" yields inconsistent, subjective grades.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1009650" y="2709862"/>
            <a:ext cx="105060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Solution (Master Rubric):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 programmatic Chain-of-Thought Verification.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1009650" y="3252787"/>
            <a:ext cx="1050607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CoT Execution Steps:</a:t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1009650" y="5195887"/>
            <a:ext cx="105060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Result: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Forces auto-regressive decoding math to align with strict logic, eradicating "gut feeling" grades.</a:t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676275" y="2185987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676275" y="2728912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676275" y="3271837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676275" y="5214937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1247775" y="3709987"/>
            <a:ext cx="1428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1390650" y="3709987"/>
            <a:ext cx="101250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Extract every distinct factual claim from the Generated Answer.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1209675" y="4024312"/>
            <a:ext cx="1809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1390650" y="4024312"/>
            <a:ext cx="101250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Search the Retrieved Context for explicit supporting evidence.</a:t>
            </a:r>
            <a:endParaRPr/>
          </a:p>
        </p:txBody>
      </p:sp>
      <p:sp>
        <p:nvSpPr>
          <p:cNvPr id="302" name="Google Shape;302;p22"/>
          <p:cNvSpPr txBox="1"/>
          <p:nvPr/>
        </p:nvSpPr>
        <p:spPr>
          <a:xfrm>
            <a:off x="1200150" y="4338637"/>
            <a:ext cx="190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303" name="Google Shape;303;p22"/>
          <p:cNvSpPr txBox="1"/>
          <p:nvPr/>
        </p:nvSpPr>
        <p:spPr>
          <a:xfrm>
            <a:off x="1390650" y="4338637"/>
            <a:ext cx="101250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Write a step-by-step logical explanation.</a:t>
            </a:r>
            <a:endParaRPr/>
          </a:p>
        </p:txBody>
      </p:sp>
      <p:sp>
        <p:nvSpPr>
          <p:cNvPr id="304" name="Google Shape;304;p22"/>
          <p:cNvSpPr txBox="1"/>
          <p:nvPr/>
        </p:nvSpPr>
        <p:spPr>
          <a:xfrm>
            <a:off x="1209675" y="4652962"/>
            <a:ext cx="1809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/>
          </a:p>
        </p:txBody>
      </p:sp>
      <p:sp>
        <p:nvSpPr>
          <p:cNvPr id="305" name="Google Shape;305;p22"/>
          <p:cNvSpPr txBox="1"/>
          <p:nvPr/>
        </p:nvSpPr>
        <p:spPr>
          <a:xfrm>
            <a:off x="1390650" y="4652962"/>
            <a:ext cx="101250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Output final binary score [SCORE: X].</a:t>
            </a:r>
            <a:endParaRPr/>
          </a:p>
        </p:txBody>
      </p:sp>
      <p:sp>
        <p:nvSpPr>
          <p:cNvPr id="306" name="Google Shape;306;p22"/>
          <p:cNvSpPr txBox="1"/>
          <p:nvPr/>
        </p:nvSpPr>
        <p:spPr>
          <a:xfrm>
            <a:off x="676275" y="514350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Engineering the Judge: Chain-of-Thought (CoT)</a:t>
            </a:r>
            <a:endParaRPr/>
          </a:p>
        </p:txBody>
      </p:sp>
      <p:sp>
        <p:nvSpPr>
          <p:cNvPr id="307" name="Google Shape;307;p22"/>
          <p:cNvSpPr/>
          <p:nvPr/>
        </p:nvSpPr>
        <p:spPr>
          <a:xfrm>
            <a:off x="676275" y="1190625"/>
            <a:ext cx="10839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3" name="Google Shape;31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" y="1533525"/>
            <a:ext cx="5133975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33525"/>
            <a:ext cx="5133975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6800" y="3476625"/>
            <a:ext cx="4352925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2275" y="3476625"/>
            <a:ext cx="4352925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3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3"/>
          <p:cNvSpPr/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3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3"/>
          <p:cNvSpPr txBox="1"/>
          <p:nvPr/>
        </p:nvSpPr>
        <p:spPr>
          <a:xfrm>
            <a:off x="1066800" y="1924050"/>
            <a:ext cx="457057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43F5E"/>
                </a:solidFill>
                <a:latin typeface="Urbanist"/>
                <a:ea typeface="Urbanist"/>
                <a:cs typeface="Urbanist"/>
                <a:sym typeface="Urbanist"/>
              </a:rPr>
              <a:t>1. Verbosity Bias</a:t>
            </a:r>
            <a:endParaRPr/>
          </a:p>
        </p:txBody>
      </p:sp>
      <p:sp>
        <p:nvSpPr>
          <p:cNvPr id="322" name="Google Shape;322;p23"/>
          <p:cNvSpPr txBox="1"/>
          <p:nvPr/>
        </p:nvSpPr>
        <p:spPr>
          <a:xfrm>
            <a:off x="1066800" y="2390775"/>
            <a:ext cx="43529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LLMs mathematically equate "more tokens" with "more effort/detail." Rambling answers often outscore tight, accurate ones.</a:t>
            </a:r>
            <a:endParaRPr/>
          </a:p>
        </p:txBody>
      </p:sp>
      <p:sp>
        <p:nvSpPr>
          <p:cNvPr id="323" name="Google Shape;323;p23"/>
          <p:cNvSpPr txBox="1"/>
          <p:nvPr/>
        </p:nvSpPr>
        <p:spPr>
          <a:xfrm>
            <a:off x="6772275" y="1924050"/>
            <a:ext cx="457057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43F5E"/>
                </a:solidFill>
                <a:latin typeface="Urbanist"/>
                <a:ea typeface="Urbanist"/>
                <a:cs typeface="Urbanist"/>
                <a:sym typeface="Urbanist"/>
              </a:rPr>
              <a:t>2. Position Bias (Lost in Middle)</a:t>
            </a:r>
            <a:endParaRPr/>
          </a:p>
        </p:txBody>
      </p:sp>
      <p:sp>
        <p:nvSpPr>
          <p:cNvPr id="324" name="Google Shape;324;p23"/>
          <p:cNvSpPr txBox="1"/>
          <p:nvPr/>
        </p:nvSpPr>
        <p:spPr>
          <a:xfrm>
            <a:off x="6772275" y="2390775"/>
            <a:ext cx="43529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Judges grade based on the first few sentences and ignore hallucinations buried at the end of the text.</a:t>
            </a:r>
            <a:endParaRPr/>
          </a:p>
        </p:txBody>
      </p:sp>
      <p:sp>
        <p:nvSpPr>
          <p:cNvPr id="325" name="Google Shape;325;p23"/>
          <p:cNvSpPr txBox="1"/>
          <p:nvPr/>
        </p:nvSpPr>
        <p:spPr>
          <a:xfrm>
            <a:off x="1247775" y="3619500"/>
            <a:ext cx="40290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Fix: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Explicit system prompt: </a:t>
            </a:r>
            <a:r>
              <a:rPr b="0" i="1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"Do NOT reward verbosity. Penalize irrelevant conversational filler."</a:t>
            </a:r>
            <a:endParaRPr/>
          </a:p>
        </p:txBody>
      </p:sp>
      <p:sp>
        <p:nvSpPr>
          <p:cNvPr id="326" name="Google Shape;326;p23"/>
          <p:cNvSpPr txBox="1"/>
          <p:nvPr/>
        </p:nvSpPr>
        <p:spPr>
          <a:xfrm>
            <a:off x="6953250" y="3619500"/>
            <a:ext cx="40290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Fix: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CoT forces the judge to physically extract all claims into a list </a:t>
            </a:r>
            <a:r>
              <a:rPr b="0" i="1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first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forcing full-document scanning.</a:t>
            </a:r>
            <a:endParaRPr/>
          </a:p>
        </p:txBody>
      </p:sp>
      <p:sp>
        <p:nvSpPr>
          <p:cNvPr id="327" name="Google Shape;327;p23"/>
          <p:cNvSpPr txBox="1"/>
          <p:nvPr/>
        </p:nvSpPr>
        <p:spPr>
          <a:xfrm>
            <a:off x="676275" y="514350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Mitigating Evaluator Biases</a:t>
            </a:r>
            <a:endParaRPr/>
          </a:p>
        </p:txBody>
      </p:sp>
      <p:sp>
        <p:nvSpPr>
          <p:cNvPr id="328" name="Google Shape;328;p23"/>
          <p:cNvSpPr/>
          <p:nvPr/>
        </p:nvSpPr>
        <p:spPr>
          <a:xfrm>
            <a:off x="676275" y="1190625"/>
            <a:ext cx="10839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4" name="Google Shape;33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4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4"/>
          <p:cNvSpPr/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4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4"/>
          <p:cNvSpPr txBox="1"/>
          <p:nvPr/>
        </p:nvSpPr>
        <p:spPr>
          <a:xfrm>
            <a:off x="5284964" y="2495550"/>
            <a:ext cx="1621921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Part 3</a:t>
            </a:r>
            <a:endParaRPr/>
          </a:p>
        </p:txBody>
      </p:sp>
      <p:sp>
        <p:nvSpPr>
          <p:cNvPr id="339" name="Google Shape;339;p24"/>
          <p:cNvSpPr txBox="1"/>
          <p:nvPr/>
        </p:nvSpPr>
        <p:spPr>
          <a:xfrm>
            <a:off x="2043778" y="3228975"/>
            <a:ext cx="8104294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Decoding the RAGAS Framework</a:t>
            </a:r>
            <a:endParaRPr/>
          </a:p>
        </p:txBody>
      </p:sp>
      <p:sp>
        <p:nvSpPr>
          <p:cNvPr id="340" name="Google Shape;340;p24"/>
          <p:cNvSpPr txBox="1"/>
          <p:nvPr/>
        </p:nvSpPr>
        <p:spPr>
          <a:xfrm>
            <a:off x="4491037" y="4010025"/>
            <a:ext cx="32099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Standardizing MLOps Metrics</a:t>
            </a:r>
            <a:endParaRPr/>
          </a:p>
        </p:txBody>
      </p:sp>
      <p:pic>
        <p:nvPicPr>
          <p:cNvPr id="341" name="Google Shape;34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6" name="Google Shape;34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" y="4262437"/>
            <a:ext cx="1083945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5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5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5"/>
          <p:cNvSpPr/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5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676275" y="5443537"/>
            <a:ext cx="108394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Example: 4 claims made. Only 3 found in FAISS chunks. Score = 0.75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1009650" y="2205037"/>
            <a:ext cx="105060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Target: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Evaluates the Generator (Gemini Flash).</a:t>
            </a:r>
            <a:endParaRPr/>
          </a:p>
        </p:txBody>
      </p:sp>
      <p:sp>
        <p:nvSpPr>
          <p:cNvPr id="353" name="Google Shape;353;p25"/>
          <p:cNvSpPr txBox="1"/>
          <p:nvPr/>
        </p:nvSpPr>
        <p:spPr>
          <a:xfrm>
            <a:off x="1009650" y="2776537"/>
            <a:ext cx="105060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Question: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Did the LLM respect the context, or make up fake numbers?</a:t>
            </a:r>
            <a:endParaRPr/>
          </a:p>
        </p:txBody>
      </p:sp>
      <p:pic>
        <p:nvPicPr>
          <p:cNvPr descr="image.png" id="354" name="Google Shape;35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03166" y="4560689"/>
            <a:ext cx="4385518" cy="397073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5"/>
          <p:cNvSpPr txBox="1"/>
          <p:nvPr/>
        </p:nvSpPr>
        <p:spPr>
          <a:xfrm>
            <a:off x="676275" y="2224087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356" name="Google Shape;356;p25"/>
          <p:cNvSpPr txBox="1"/>
          <p:nvPr/>
        </p:nvSpPr>
        <p:spPr>
          <a:xfrm>
            <a:off x="676275" y="2767012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357" name="Google Shape;357;p25"/>
          <p:cNvSpPr txBox="1"/>
          <p:nvPr/>
        </p:nvSpPr>
        <p:spPr>
          <a:xfrm>
            <a:off x="1390650" y="3157537"/>
            <a:ext cx="10125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Score 1.0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= Every word traces back to retrieved chunks.</a:t>
            </a:r>
            <a:endParaRPr/>
          </a:p>
        </p:txBody>
      </p:sp>
      <p:sp>
        <p:nvSpPr>
          <p:cNvPr id="358" name="Google Shape;358;p25"/>
          <p:cNvSpPr txBox="1"/>
          <p:nvPr/>
        </p:nvSpPr>
        <p:spPr>
          <a:xfrm>
            <a:off x="1390650" y="3557587"/>
            <a:ext cx="10125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43F5E"/>
                </a:solidFill>
                <a:latin typeface="Inter"/>
                <a:ea typeface="Inter"/>
                <a:cs typeface="Inter"/>
                <a:sym typeface="Inter"/>
              </a:rPr>
              <a:t>Score 0.0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= Complete hallucination.</a:t>
            </a:r>
            <a:endParaRPr/>
          </a:p>
        </p:txBody>
      </p:sp>
      <p:sp>
        <p:nvSpPr>
          <p:cNvPr id="359" name="Google Shape;359;p25"/>
          <p:cNvSpPr txBox="1"/>
          <p:nvPr/>
        </p:nvSpPr>
        <p:spPr>
          <a:xfrm>
            <a:off x="1104900" y="315753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360" name="Google Shape;360;p25"/>
          <p:cNvSpPr txBox="1"/>
          <p:nvPr/>
        </p:nvSpPr>
        <p:spPr>
          <a:xfrm>
            <a:off x="1104900" y="355758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361" name="Google Shape;361;p25"/>
          <p:cNvSpPr txBox="1"/>
          <p:nvPr/>
        </p:nvSpPr>
        <p:spPr>
          <a:xfrm>
            <a:off x="676275" y="514350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Metric 1: Faithfulness (Hallucination Detector)</a:t>
            </a:r>
            <a:endParaRPr/>
          </a:p>
        </p:txBody>
      </p:sp>
      <p:sp>
        <p:nvSpPr>
          <p:cNvPr id="362" name="Google Shape;362;p25"/>
          <p:cNvSpPr/>
          <p:nvPr/>
        </p:nvSpPr>
        <p:spPr>
          <a:xfrm>
            <a:off x="676275" y="1190625"/>
            <a:ext cx="10839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3" name="Google Shape;363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8" name="Google Shape;36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" y="3105150"/>
            <a:ext cx="10839450" cy="14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6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6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6"/>
          <p:cNvSpPr/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6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6"/>
          <p:cNvSpPr txBox="1"/>
          <p:nvPr/>
        </p:nvSpPr>
        <p:spPr>
          <a:xfrm>
            <a:off x="952500" y="3343275"/>
            <a:ext cx="10325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User: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"Who approved the budget?"</a:t>
            </a:r>
            <a:endParaRPr/>
          </a:p>
        </p:txBody>
      </p:sp>
      <p:sp>
        <p:nvSpPr>
          <p:cNvPr id="374" name="Google Shape;374;p26"/>
          <p:cNvSpPr txBox="1"/>
          <p:nvPr/>
        </p:nvSpPr>
        <p:spPr>
          <a:xfrm>
            <a:off x="952500" y="3657600"/>
            <a:ext cx="10325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AI: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"The budget was $45,000."</a:t>
            </a:r>
            <a:endParaRPr/>
          </a:p>
        </p:txBody>
      </p:sp>
      <p:sp>
        <p:nvSpPr>
          <p:cNvPr id="375" name="Google Shape;375;p26"/>
          <p:cNvSpPr txBox="1"/>
          <p:nvPr/>
        </p:nvSpPr>
        <p:spPr>
          <a:xfrm>
            <a:off x="952500" y="4067175"/>
            <a:ext cx="103251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F43F5E"/>
                </a:solidFill>
                <a:latin typeface="Inter"/>
                <a:ea typeface="Inter"/>
                <a:cs typeface="Inter"/>
                <a:sym typeface="Inter"/>
              </a:rPr>
              <a:t>Issue: Faithful to context, but completely irrelevant to the specific query.</a:t>
            </a:r>
            <a:endParaRPr/>
          </a:p>
        </p:txBody>
      </p:sp>
      <p:sp>
        <p:nvSpPr>
          <p:cNvPr id="376" name="Google Shape;376;p26"/>
          <p:cNvSpPr txBox="1"/>
          <p:nvPr/>
        </p:nvSpPr>
        <p:spPr>
          <a:xfrm>
            <a:off x="1009650" y="1828800"/>
            <a:ext cx="105060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Target: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Evaluates the Generator's instruction-following capability.</a:t>
            </a:r>
            <a:endParaRPr/>
          </a:p>
        </p:txBody>
      </p:sp>
      <p:sp>
        <p:nvSpPr>
          <p:cNvPr id="377" name="Google Shape;377;p26"/>
          <p:cNvSpPr txBox="1"/>
          <p:nvPr/>
        </p:nvSpPr>
        <p:spPr>
          <a:xfrm>
            <a:off x="1009650" y="2371725"/>
            <a:ext cx="105060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Question: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Did the AI answer the user's specific question, or ramble?</a:t>
            </a:r>
            <a:endParaRPr/>
          </a:p>
        </p:txBody>
      </p:sp>
      <p:sp>
        <p:nvSpPr>
          <p:cNvPr id="378" name="Google Shape;378;p26"/>
          <p:cNvSpPr txBox="1"/>
          <p:nvPr/>
        </p:nvSpPr>
        <p:spPr>
          <a:xfrm>
            <a:off x="1009650" y="4752975"/>
            <a:ext cx="10506075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Math Trick (Reverse-Engineering):</a:t>
            </a:r>
            <a:endParaRPr/>
          </a:p>
        </p:txBody>
      </p:sp>
      <p:sp>
        <p:nvSpPr>
          <p:cNvPr id="379" name="Google Shape;379;p26"/>
          <p:cNvSpPr txBox="1"/>
          <p:nvPr/>
        </p:nvSpPr>
        <p:spPr>
          <a:xfrm>
            <a:off x="676275" y="184785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380" name="Google Shape;380;p26"/>
          <p:cNvSpPr txBox="1"/>
          <p:nvPr/>
        </p:nvSpPr>
        <p:spPr>
          <a:xfrm>
            <a:off x="676275" y="239077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381" name="Google Shape;381;p26"/>
          <p:cNvSpPr txBox="1"/>
          <p:nvPr/>
        </p:nvSpPr>
        <p:spPr>
          <a:xfrm>
            <a:off x="676275" y="477202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382" name="Google Shape;382;p26"/>
          <p:cNvSpPr txBox="1"/>
          <p:nvPr/>
        </p:nvSpPr>
        <p:spPr>
          <a:xfrm>
            <a:off x="1390650" y="5162550"/>
            <a:ext cx="10125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RAGAS hides original query, asks Judge to guess the question based </a:t>
            </a:r>
            <a:r>
              <a:rPr b="0" i="1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only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on the AI's answer.</a:t>
            </a:r>
            <a:endParaRPr/>
          </a:p>
        </p:txBody>
      </p:sp>
      <p:sp>
        <p:nvSpPr>
          <p:cNvPr id="383" name="Google Shape;383;p26"/>
          <p:cNvSpPr txBox="1"/>
          <p:nvPr/>
        </p:nvSpPr>
        <p:spPr>
          <a:xfrm>
            <a:off x="1390650" y="5562600"/>
            <a:ext cx="10125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Uses Cosine Similarity between Original Query vectors and Guessed Query vectors.</a:t>
            </a:r>
            <a:endParaRPr/>
          </a:p>
        </p:txBody>
      </p:sp>
      <p:sp>
        <p:nvSpPr>
          <p:cNvPr id="384" name="Google Shape;384;p26"/>
          <p:cNvSpPr txBox="1"/>
          <p:nvPr/>
        </p:nvSpPr>
        <p:spPr>
          <a:xfrm>
            <a:off x="1104900" y="516255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385" name="Google Shape;385;p26"/>
          <p:cNvSpPr txBox="1"/>
          <p:nvPr/>
        </p:nvSpPr>
        <p:spPr>
          <a:xfrm>
            <a:off x="1104900" y="556260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386" name="Google Shape;386;p26"/>
          <p:cNvSpPr txBox="1"/>
          <p:nvPr/>
        </p:nvSpPr>
        <p:spPr>
          <a:xfrm>
            <a:off x="676275" y="514350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Metric 2: Answer Relevance (Tangent Detector)</a:t>
            </a:r>
            <a:endParaRPr/>
          </a:p>
        </p:txBody>
      </p:sp>
      <p:sp>
        <p:nvSpPr>
          <p:cNvPr id="387" name="Google Shape;387;p26"/>
          <p:cNvSpPr/>
          <p:nvPr/>
        </p:nvSpPr>
        <p:spPr>
          <a:xfrm>
            <a:off x="676275" y="1190625"/>
            <a:ext cx="10839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8" name="Google Shape;38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3" name="Google Shape;39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" y="4516933"/>
            <a:ext cx="10839450" cy="1281707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7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7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7"/>
          <p:cNvSpPr/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7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7"/>
          <p:cNvSpPr txBox="1"/>
          <p:nvPr/>
        </p:nvSpPr>
        <p:spPr>
          <a:xfrm>
            <a:off x="1009650" y="1916608"/>
            <a:ext cx="105060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Target: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Evaluates the Retriever (FAISS + Cross-Encoder).</a:t>
            </a:r>
            <a:endParaRPr/>
          </a:p>
        </p:txBody>
      </p:sp>
      <p:sp>
        <p:nvSpPr>
          <p:cNvPr id="399" name="Google Shape;399;p27"/>
          <p:cNvSpPr txBox="1"/>
          <p:nvPr/>
        </p:nvSpPr>
        <p:spPr>
          <a:xfrm>
            <a:off x="1009650" y="2459533"/>
            <a:ext cx="105060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Question: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Did the DB find the right chunks and rank them at #1?</a:t>
            </a:r>
            <a:endParaRPr/>
          </a:p>
        </p:txBody>
      </p:sp>
      <p:sp>
        <p:nvSpPr>
          <p:cNvPr id="400" name="Google Shape;400;p27"/>
          <p:cNvSpPr txBox="1"/>
          <p:nvPr/>
        </p:nvSpPr>
        <p:spPr>
          <a:xfrm>
            <a:off x="1009650" y="3031033"/>
            <a:ext cx="105060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Logic: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Heavily penalizes bad ranking to avoid "Lost in the Middle" degradation.</a:t>
            </a:r>
            <a:endParaRPr/>
          </a:p>
        </p:txBody>
      </p:sp>
      <p:pic>
        <p:nvPicPr>
          <p:cNvPr descr="image.png" id="401" name="Google Shape;40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42530" y="4812208"/>
            <a:ext cx="5506938" cy="691157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7"/>
          <p:cNvSpPr txBox="1"/>
          <p:nvPr/>
        </p:nvSpPr>
        <p:spPr>
          <a:xfrm>
            <a:off x="676275" y="1935658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03" name="Google Shape;403;p27"/>
          <p:cNvSpPr txBox="1"/>
          <p:nvPr/>
        </p:nvSpPr>
        <p:spPr>
          <a:xfrm>
            <a:off x="676275" y="2478583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04" name="Google Shape;404;p27"/>
          <p:cNvSpPr txBox="1"/>
          <p:nvPr/>
        </p:nvSpPr>
        <p:spPr>
          <a:xfrm>
            <a:off x="676275" y="3021508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05" name="Google Shape;405;p27"/>
          <p:cNvSpPr txBox="1"/>
          <p:nvPr/>
        </p:nvSpPr>
        <p:spPr>
          <a:xfrm>
            <a:off x="1390650" y="3412033"/>
            <a:ext cx="10125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Perfect chunk at Position #1 = Score 1.0</a:t>
            </a:r>
            <a:endParaRPr/>
          </a:p>
        </p:txBody>
      </p:sp>
      <p:sp>
        <p:nvSpPr>
          <p:cNvPr id="406" name="Google Shape;406;p27"/>
          <p:cNvSpPr txBox="1"/>
          <p:nvPr/>
        </p:nvSpPr>
        <p:spPr>
          <a:xfrm>
            <a:off x="1390650" y="3812083"/>
            <a:ext cx="10125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Perfect chunk buried at Position #3 = Score 0.33</a:t>
            </a:r>
            <a:endParaRPr/>
          </a:p>
        </p:txBody>
      </p:sp>
      <p:sp>
        <p:nvSpPr>
          <p:cNvPr id="407" name="Google Shape;407;p27"/>
          <p:cNvSpPr txBox="1"/>
          <p:nvPr/>
        </p:nvSpPr>
        <p:spPr>
          <a:xfrm>
            <a:off x="1104900" y="3412033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408" name="Google Shape;408;p27"/>
          <p:cNvSpPr txBox="1"/>
          <p:nvPr/>
        </p:nvSpPr>
        <p:spPr>
          <a:xfrm>
            <a:off x="1104900" y="3812083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409" name="Google Shape;409;p27"/>
          <p:cNvSpPr txBox="1"/>
          <p:nvPr/>
        </p:nvSpPr>
        <p:spPr>
          <a:xfrm>
            <a:off x="676275" y="514350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Metric 3: Context Precision (Retrieval Grader)</a:t>
            </a:r>
            <a:endParaRPr/>
          </a:p>
        </p:txBody>
      </p:sp>
      <p:sp>
        <p:nvSpPr>
          <p:cNvPr id="410" name="Google Shape;410;p27"/>
          <p:cNvSpPr/>
          <p:nvPr/>
        </p:nvSpPr>
        <p:spPr>
          <a:xfrm>
            <a:off x="676275" y="1190625"/>
            <a:ext cx="10839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1" name="Google Shape;41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6" name="Google Shape;41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" y="2924175"/>
            <a:ext cx="293370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8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8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8"/>
          <p:cNvSpPr/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8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8"/>
          <p:cNvSpPr txBox="1"/>
          <p:nvPr/>
        </p:nvSpPr>
        <p:spPr>
          <a:xfrm>
            <a:off x="871575" y="3375675"/>
            <a:ext cx="25431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500k</a:t>
            </a:r>
            <a:endParaRPr/>
          </a:p>
        </p:txBody>
      </p:sp>
      <p:sp>
        <p:nvSpPr>
          <p:cNvPr id="422" name="Google Shape;422;p28"/>
          <p:cNvSpPr txBox="1"/>
          <p:nvPr/>
        </p:nvSpPr>
        <p:spPr>
          <a:xfrm>
            <a:off x="1066800" y="4362450"/>
            <a:ext cx="2152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Tokens per 100 Q&amp;A</a:t>
            </a:r>
            <a:endParaRPr/>
          </a:p>
        </p:txBody>
      </p:sp>
      <p:sp>
        <p:nvSpPr>
          <p:cNvPr id="423" name="Google Shape;423;p28"/>
          <p:cNvSpPr txBox="1"/>
          <p:nvPr/>
        </p:nvSpPr>
        <p:spPr>
          <a:xfrm>
            <a:off x="4514850" y="2667000"/>
            <a:ext cx="7000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RAGAS is an incredibly heavy framework (4-6 Judge LLM calls per query).</a:t>
            </a:r>
            <a:endParaRPr/>
          </a:p>
        </p:txBody>
      </p:sp>
      <p:sp>
        <p:nvSpPr>
          <p:cNvPr id="424" name="Google Shape;424;p28"/>
          <p:cNvSpPr txBox="1"/>
          <p:nvPr/>
        </p:nvSpPr>
        <p:spPr>
          <a:xfrm>
            <a:off x="4514850" y="3524250"/>
            <a:ext cx="7000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Golden Rule: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Do NOT run RAGAS on live user queries in production.</a:t>
            </a:r>
            <a:endParaRPr/>
          </a:p>
        </p:txBody>
      </p:sp>
      <p:sp>
        <p:nvSpPr>
          <p:cNvPr id="425" name="Google Shape;425;p28"/>
          <p:cNvSpPr txBox="1"/>
          <p:nvPr/>
        </p:nvSpPr>
        <p:spPr>
          <a:xfrm>
            <a:off x="4514850" y="4381500"/>
            <a:ext cx="7000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Usage: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Run asynchronously in CI/CD pipelines against a static test dataset to mathematically prove new code works before merging.</a:t>
            </a:r>
            <a:endParaRPr/>
          </a:p>
        </p:txBody>
      </p:sp>
      <p:sp>
        <p:nvSpPr>
          <p:cNvPr id="426" name="Google Shape;426;p28"/>
          <p:cNvSpPr txBox="1"/>
          <p:nvPr/>
        </p:nvSpPr>
        <p:spPr>
          <a:xfrm>
            <a:off x="4181475" y="268605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27" name="Google Shape;427;p28"/>
          <p:cNvSpPr txBox="1"/>
          <p:nvPr/>
        </p:nvSpPr>
        <p:spPr>
          <a:xfrm>
            <a:off x="4181475" y="354330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28" name="Google Shape;428;p28"/>
          <p:cNvSpPr txBox="1"/>
          <p:nvPr/>
        </p:nvSpPr>
        <p:spPr>
          <a:xfrm>
            <a:off x="4181475" y="440055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29" name="Google Shape;429;p28"/>
          <p:cNvSpPr txBox="1"/>
          <p:nvPr/>
        </p:nvSpPr>
        <p:spPr>
          <a:xfrm>
            <a:off x="676275" y="514350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Economics of RAGAS Evaluation</a:t>
            </a:r>
            <a:endParaRPr/>
          </a:p>
        </p:txBody>
      </p:sp>
      <p:sp>
        <p:nvSpPr>
          <p:cNvPr id="430" name="Google Shape;430;p28"/>
          <p:cNvSpPr/>
          <p:nvPr/>
        </p:nvSpPr>
        <p:spPr>
          <a:xfrm>
            <a:off x="676275" y="1190625"/>
            <a:ext cx="10839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1" name="Google Shape;43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6" name="Google Shape;43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9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9"/>
          <p:cNvSpPr/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9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9"/>
          <p:cNvSpPr txBox="1"/>
          <p:nvPr/>
        </p:nvSpPr>
        <p:spPr>
          <a:xfrm>
            <a:off x="5264962" y="2495550"/>
            <a:ext cx="1661926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Part 4</a:t>
            </a:r>
            <a:endParaRPr/>
          </a:p>
        </p:txBody>
      </p:sp>
      <p:sp>
        <p:nvSpPr>
          <p:cNvPr id="441" name="Google Shape;441;p29"/>
          <p:cNvSpPr txBox="1"/>
          <p:nvPr/>
        </p:nvSpPr>
        <p:spPr>
          <a:xfrm>
            <a:off x="2077220" y="3228975"/>
            <a:ext cx="803741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Constructing the Golden Dataset</a:t>
            </a:r>
            <a:endParaRPr/>
          </a:p>
        </p:txBody>
      </p:sp>
      <p:sp>
        <p:nvSpPr>
          <p:cNvPr id="442" name="Google Shape;442;p29"/>
          <p:cNvSpPr txBox="1"/>
          <p:nvPr/>
        </p:nvSpPr>
        <p:spPr>
          <a:xfrm>
            <a:off x="4290371" y="4010025"/>
            <a:ext cx="338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Defining Factual Reality</a:t>
            </a:r>
            <a:endParaRPr/>
          </a:p>
        </p:txBody>
      </p:sp>
      <p:pic>
        <p:nvPicPr>
          <p:cNvPr id="443" name="Google Shape;44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0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0"/>
          <p:cNvSpPr/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0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0"/>
          <p:cNvSpPr txBox="1"/>
          <p:nvPr/>
        </p:nvSpPr>
        <p:spPr>
          <a:xfrm>
            <a:off x="1009650" y="2143125"/>
            <a:ext cx="10506075" cy="166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4 Pillars of a RAGAS DataFrame:</a:t>
            </a:r>
            <a:endParaRPr/>
          </a:p>
        </p:txBody>
      </p:sp>
      <p:sp>
        <p:nvSpPr>
          <p:cNvPr id="453" name="Google Shape;453;p30"/>
          <p:cNvSpPr txBox="1"/>
          <p:nvPr/>
        </p:nvSpPr>
        <p:spPr>
          <a:xfrm>
            <a:off x="1009650" y="4048125"/>
            <a:ext cx="105060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Cold Start Problem: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Manually reading 500 pages of PDFs to write 100 Q&amp;A pairs takes days of expensive SME time.</a:t>
            </a:r>
            <a:endParaRPr/>
          </a:p>
        </p:txBody>
      </p:sp>
      <p:sp>
        <p:nvSpPr>
          <p:cNvPr id="454" name="Google Shape;454;p30"/>
          <p:cNvSpPr txBox="1"/>
          <p:nvPr/>
        </p:nvSpPr>
        <p:spPr>
          <a:xfrm>
            <a:off x="1009650" y="4905375"/>
            <a:ext cx="105060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Solution: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Synthetic Data Bootstrapping. Feed FAISS chunks to the Professor LLM and ask it to write the exam.</a:t>
            </a:r>
            <a:endParaRPr/>
          </a:p>
        </p:txBody>
      </p:sp>
      <p:sp>
        <p:nvSpPr>
          <p:cNvPr id="455" name="Google Shape;455;p30"/>
          <p:cNvSpPr txBox="1"/>
          <p:nvPr/>
        </p:nvSpPr>
        <p:spPr>
          <a:xfrm>
            <a:off x="676275" y="216217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56" name="Google Shape;456;p30"/>
          <p:cNvSpPr txBox="1"/>
          <p:nvPr/>
        </p:nvSpPr>
        <p:spPr>
          <a:xfrm>
            <a:off x="676275" y="406717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57" name="Google Shape;457;p30"/>
          <p:cNvSpPr txBox="1"/>
          <p:nvPr/>
        </p:nvSpPr>
        <p:spPr>
          <a:xfrm>
            <a:off x="676275" y="492442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58" name="Google Shape;458;p30"/>
          <p:cNvSpPr txBox="1"/>
          <p:nvPr/>
        </p:nvSpPr>
        <p:spPr>
          <a:xfrm>
            <a:off x="1247775" y="2552700"/>
            <a:ext cx="1428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459" name="Google Shape;459;p30"/>
          <p:cNvSpPr txBox="1"/>
          <p:nvPr/>
        </p:nvSpPr>
        <p:spPr>
          <a:xfrm>
            <a:off x="1390650" y="2552700"/>
            <a:ext cx="101250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question: The user string (Provided by Engineer).</a:t>
            </a:r>
            <a:endParaRPr/>
          </a:p>
        </p:txBody>
      </p:sp>
      <p:sp>
        <p:nvSpPr>
          <p:cNvPr id="460" name="Google Shape;460;p30"/>
          <p:cNvSpPr txBox="1"/>
          <p:nvPr/>
        </p:nvSpPr>
        <p:spPr>
          <a:xfrm>
            <a:off x="1209675" y="2867025"/>
            <a:ext cx="1809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461" name="Google Shape;461;p30"/>
          <p:cNvSpPr txBox="1"/>
          <p:nvPr/>
        </p:nvSpPr>
        <p:spPr>
          <a:xfrm>
            <a:off x="1390650" y="2867025"/>
            <a:ext cx="101250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ground_truth: Undeniable, human-verified answer (Provided by Engineer).</a:t>
            </a:r>
            <a:endParaRPr/>
          </a:p>
        </p:txBody>
      </p:sp>
      <p:sp>
        <p:nvSpPr>
          <p:cNvPr id="462" name="Google Shape;462;p30"/>
          <p:cNvSpPr txBox="1"/>
          <p:nvPr/>
        </p:nvSpPr>
        <p:spPr>
          <a:xfrm>
            <a:off x="1200150" y="3181350"/>
            <a:ext cx="190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463" name="Google Shape;463;p30"/>
          <p:cNvSpPr txBox="1"/>
          <p:nvPr/>
        </p:nvSpPr>
        <p:spPr>
          <a:xfrm>
            <a:off x="1390650" y="3181350"/>
            <a:ext cx="101250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contexts: Array of retrieved chunks (Generated dynamically).</a:t>
            </a:r>
            <a:endParaRPr/>
          </a:p>
        </p:txBody>
      </p:sp>
      <p:sp>
        <p:nvSpPr>
          <p:cNvPr id="464" name="Google Shape;464;p30"/>
          <p:cNvSpPr txBox="1"/>
          <p:nvPr/>
        </p:nvSpPr>
        <p:spPr>
          <a:xfrm>
            <a:off x="1209675" y="3495675"/>
            <a:ext cx="1809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/>
          </a:p>
        </p:txBody>
      </p:sp>
      <p:sp>
        <p:nvSpPr>
          <p:cNvPr id="465" name="Google Shape;465;p30"/>
          <p:cNvSpPr txBox="1"/>
          <p:nvPr/>
        </p:nvSpPr>
        <p:spPr>
          <a:xfrm>
            <a:off x="1390650" y="3495675"/>
            <a:ext cx="101250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answer: The generated text (Generated dynamically).</a:t>
            </a:r>
            <a:endParaRPr/>
          </a:p>
        </p:txBody>
      </p:sp>
      <p:sp>
        <p:nvSpPr>
          <p:cNvPr id="466" name="Google Shape;466;p30"/>
          <p:cNvSpPr txBox="1"/>
          <p:nvPr/>
        </p:nvSpPr>
        <p:spPr>
          <a:xfrm>
            <a:off x="676275" y="514350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Anatomy of a Test Record &amp; The Cold Start</a:t>
            </a:r>
            <a:endParaRPr/>
          </a:p>
        </p:txBody>
      </p:sp>
      <p:sp>
        <p:nvSpPr>
          <p:cNvPr id="467" name="Google Shape;467;p30"/>
          <p:cNvSpPr/>
          <p:nvPr/>
        </p:nvSpPr>
        <p:spPr>
          <a:xfrm>
            <a:off x="676275" y="1190625"/>
            <a:ext cx="10839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8" name="Google Shape;46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1"/>
          <p:cNvSpPr/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1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1"/>
          <p:cNvSpPr txBox="1"/>
          <p:nvPr/>
        </p:nvSpPr>
        <p:spPr>
          <a:xfrm>
            <a:off x="676275" y="2300287"/>
            <a:ext cx="10839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43F5E"/>
                </a:solidFill>
                <a:latin typeface="Inter"/>
                <a:ea typeface="Inter"/>
                <a:cs typeface="Inter"/>
                <a:sym typeface="Inter"/>
              </a:rPr>
              <a:t>Warning: AI-generated data is inherently flawed. A flawed Answer Key poisons the entire evaluation metric.</a:t>
            </a:r>
            <a:endParaRPr/>
          </a:p>
        </p:txBody>
      </p:sp>
      <p:sp>
        <p:nvSpPr>
          <p:cNvPr id="478" name="Google Shape;478;p31"/>
          <p:cNvSpPr txBox="1"/>
          <p:nvPr/>
        </p:nvSpPr>
        <p:spPr>
          <a:xfrm>
            <a:off x="1009650" y="3119437"/>
            <a:ext cx="105060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Step 1 (Generate):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 LLM to synthetically generate 50 Q&amp;A pairs and export to CSV.</a:t>
            </a:r>
            <a:endParaRPr/>
          </a:p>
        </p:txBody>
      </p:sp>
      <p:sp>
        <p:nvSpPr>
          <p:cNvPr id="479" name="Google Shape;479;p31"/>
          <p:cNvSpPr txBox="1"/>
          <p:nvPr/>
        </p:nvSpPr>
        <p:spPr>
          <a:xfrm>
            <a:off x="1009650" y="3662362"/>
            <a:ext cx="105060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Step 2 (Audit):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Subject Matter Expert (SME) reviews the CSV, tweaking and approving ground truths (takes 20 mins instead of days).</a:t>
            </a:r>
            <a:endParaRPr/>
          </a:p>
        </p:txBody>
      </p:sp>
      <p:sp>
        <p:nvSpPr>
          <p:cNvPr id="480" name="Google Shape;480;p31"/>
          <p:cNvSpPr txBox="1"/>
          <p:nvPr/>
        </p:nvSpPr>
        <p:spPr>
          <a:xfrm>
            <a:off x="1009650" y="4519612"/>
            <a:ext cx="105060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Step 3 (Freeze):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Approved dataset is frozen as the "Golden Dataset" in GitHub.</a:t>
            </a:r>
            <a:endParaRPr/>
          </a:p>
        </p:txBody>
      </p:sp>
      <p:sp>
        <p:nvSpPr>
          <p:cNvPr id="481" name="Google Shape;481;p31"/>
          <p:cNvSpPr txBox="1"/>
          <p:nvPr/>
        </p:nvSpPr>
        <p:spPr>
          <a:xfrm>
            <a:off x="1009650" y="5062537"/>
            <a:ext cx="105060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Step 4 (Execute):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CI/CD runs pipeline. RAGAS grades. If Faithfulness &gt; 0.95, deploy.</a:t>
            </a:r>
            <a:endParaRPr/>
          </a:p>
        </p:txBody>
      </p:sp>
      <p:sp>
        <p:nvSpPr>
          <p:cNvPr id="482" name="Google Shape;482;p31"/>
          <p:cNvSpPr txBox="1"/>
          <p:nvPr/>
        </p:nvSpPr>
        <p:spPr>
          <a:xfrm>
            <a:off x="676275" y="3138487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83" name="Google Shape;483;p31"/>
          <p:cNvSpPr txBox="1"/>
          <p:nvPr/>
        </p:nvSpPr>
        <p:spPr>
          <a:xfrm>
            <a:off x="676275" y="3681412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84" name="Google Shape;484;p31"/>
          <p:cNvSpPr txBox="1"/>
          <p:nvPr/>
        </p:nvSpPr>
        <p:spPr>
          <a:xfrm>
            <a:off x="676275" y="4538662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85" name="Google Shape;485;p31"/>
          <p:cNvSpPr txBox="1"/>
          <p:nvPr/>
        </p:nvSpPr>
        <p:spPr>
          <a:xfrm>
            <a:off x="676275" y="5081587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86" name="Google Shape;486;p31"/>
          <p:cNvSpPr txBox="1"/>
          <p:nvPr/>
        </p:nvSpPr>
        <p:spPr>
          <a:xfrm>
            <a:off x="676275" y="514350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Human-in-the-Loop (HITL) Mandate</a:t>
            </a:r>
            <a:endParaRPr/>
          </a:p>
        </p:txBody>
      </p:sp>
      <p:sp>
        <p:nvSpPr>
          <p:cNvPr id="487" name="Google Shape;487;p31"/>
          <p:cNvSpPr/>
          <p:nvPr/>
        </p:nvSpPr>
        <p:spPr>
          <a:xfrm>
            <a:off x="676275" y="1190625"/>
            <a:ext cx="10839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8" name="Google Shape;48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93" name="Google Shape;49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32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2"/>
          <p:cNvSpPr/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2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2"/>
          <p:cNvSpPr txBox="1"/>
          <p:nvPr/>
        </p:nvSpPr>
        <p:spPr>
          <a:xfrm>
            <a:off x="5264962" y="2495550"/>
            <a:ext cx="1661926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Part 5</a:t>
            </a:r>
            <a:endParaRPr/>
          </a:p>
        </p:txBody>
      </p:sp>
      <p:sp>
        <p:nvSpPr>
          <p:cNvPr id="498" name="Google Shape;498;p32"/>
          <p:cNvSpPr txBox="1"/>
          <p:nvPr/>
        </p:nvSpPr>
        <p:spPr>
          <a:xfrm>
            <a:off x="4289367" y="3228975"/>
            <a:ext cx="3613264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Hands-On Lab</a:t>
            </a:r>
            <a:endParaRPr/>
          </a:p>
        </p:txBody>
      </p:sp>
      <p:sp>
        <p:nvSpPr>
          <p:cNvPr id="499" name="Google Shape;499;p32"/>
          <p:cNvSpPr txBox="1"/>
          <p:nvPr/>
        </p:nvSpPr>
        <p:spPr>
          <a:xfrm>
            <a:off x="4786312" y="4010025"/>
            <a:ext cx="2619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Pipeline Code Execution</a:t>
            </a:r>
            <a:endParaRPr/>
          </a:p>
        </p:txBody>
      </p:sp>
      <p:pic>
        <p:nvPicPr>
          <p:cNvPr id="500" name="Google Shape;50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3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3"/>
          <p:cNvSpPr/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3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3"/>
          <p:cNvSpPr txBox="1"/>
          <p:nvPr/>
        </p:nvSpPr>
        <p:spPr>
          <a:xfrm>
            <a:off x="1009650" y="1566862"/>
            <a:ext cx="10506075" cy="1495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1. Initialize Models:</a:t>
            </a:r>
            <a:endParaRPr/>
          </a:p>
        </p:txBody>
      </p:sp>
      <p:sp>
        <p:nvSpPr>
          <p:cNvPr id="510" name="Google Shape;510;p33"/>
          <p:cNvSpPr txBox="1"/>
          <p:nvPr/>
        </p:nvSpPr>
        <p:spPr>
          <a:xfrm>
            <a:off x="1009650" y="3290887"/>
            <a:ext cx="10506075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2. Execute the Exam:</a:t>
            </a:r>
            <a:endParaRPr/>
          </a:p>
        </p:txBody>
      </p:sp>
      <p:sp>
        <p:nvSpPr>
          <p:cNvPr id="511" name="Google Shape;511;p33"/>
          <p:cNvSpPr txBox="1"/>
          <p:nvPr/>
        </p:nvSpPr>
        <p:spPr>
          <a:xfrm>
            <a:off x="1009650" y="4614862"/>
            <a:ext cx="10506075" cy="1495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3. Grade via RAGAS:</a:t>
            </a:r>
            <a:endParaRPr/>
          </a:p>
        </p:txBody>
      </p:sp>
      <p:sp>
        <p:nvSpPr>
          <p:cNvPr id="512" name="Google Shape;512;p33"/>
          <p:cNvSpPr txBox="1"/>
          <p:nvPr/>
        </p:nvSpPr>
        <p:spPr>
          <a:xfrm>
            <a:off x="676275" y="1585912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13" name="Google Shape;513;p33"/>
          <p:cNvSpPr txBox="1"/>
          <p:nvPr/>
        </p:nvSpPr>
        <p:spPr>
          <a:xfrm>
            <a:off x="676275" y="3309937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14" name="Google Shape;514;p33"/>
          <p:cNvSpPr txBox="1"/>
          <p:nvPr/>
        </p:nvSpPr>
        <p:spPr>
          <a:xfrm>
            <a:off x="676275" y="4633912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15" name="Google Shape;515;p33"/>
          <p:cNvSpPr txBox="1"/>
          <p:nvPr/>
        </p:nvSpPr>
        <p:spPr>
          <a:xfrm>
            <a:off x="1390650" y="1976437"/>
            <a:ext cx="10125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embedder for context precision mapping.</a:t>
            </a:r>
            <a:endParaRPr/>
          </a:p>
        </p:txBody>
      </p:sp>
      <p:sp>
        <p:nvSpPr>
          <p:cNvPr id="516" name="Google Shape;516;p33"/>
          <p:cNvSpPr txBox="1"/>
          <p:nvPr/>
        </p:nvSpPr>
        <p:spPr>
          <a:xfrm>
            <a:off x="1390650" y="2376487"/>
            <a:ext cx="10125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student_llm (Gemini Flash) for fast extraction.</a:t>
            </a:r>
            <a:endParaRPr/>
          </a:p>
        </p:txBody>
      </p:sp>
      <p:sp>
        <p:nvSpPr>
          <p:cNvPr id="517" name="Google Shape;517;p33"/>
          <p:cNvSpPr txBox="1"/>
          <p:nvPr/>
        </p:nvSpPr>
        <p:spPr>
          <a:xfrm>
            <a:off x="1390650" y="2776537"/>
            <a:ext cx="10125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judge_llm (Gemini Pro) to grade the student.</a:t>
            </a:r>
            <a:endParaRPr/>
          </a:p>
        </p:txBody>
      </p:sp>
      <p:sp>
        <p:nvSpPr>
          <p:cNvPr id="518" name="Google Shape;518;p33"/>
          <p:cNvSpPr txBox="1"/>
          <p:nvPr/>
        </p:nvSpPr>
        <p:spPr>
          <a:xfrm>
            <a:off x="1390650" y="3700462"/>
            <a:ext cx="10125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Loop through Golden Dataset `questions`.</a:t>
            </a:r>
            <a:endParaRPr/>
          </a:p>
        </p:txBody>
      </p:sp>
      <p:sp>
        <p:nvSpPr>
          <p:cNvPr id="519" name="Google Shape;519;p33"/>
          <p:cNvSpPr txBox="1"/>
          <p:nvPr/>
        </p:nvSpPr>
        <p:spPr>
          <a:xfrm>
            <a:off x="1390650" y="4100512"/>
            <a:ext cx="10125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Invoke RAG pipeline, capturing `contexts` and `answer`.</a:t>
            </a:r>
            <a:endParaRPr/>
          </a:p>
        </p:txBody>
      </p:sp>
      <p:sp>
        <p:nvSpPr>
          <p:cNvPr id="520" name="Google Shape;520;p33"/>
          <p:cNvSpPr txBox="1"/>
          <p:nvPr/>
        </p:nvSpPr>
        <p:spPr>
          <a:xfrm>
            <a:off x="1390650" y="5024437"/>
            <a:ext cx="10125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Convert output dictionary to HuggingFace `Dataset`.</a:t>
            </a:r>
            <a:endParaRPr/>
          </a:p>
        </p:txBody>
      </p:sp>
      <p:sp>
        <p:nvSpPr>
          <p:cNvPr id="521" name="Google Shape;521;p33"/>
          <p:cNvSpPr txBox="1"/>
          <p:nvPr/>
        </p:nvSpPr>
        <p:spPr>
          <a:xfrm>
            <a:off x="1390650" y="5424487"/>
            <a:ext cx="10125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Pass to RAGAS `evaluate()` function with selected metrics.</a:t>
            </a:r>
            <a:endParaRPr/>
          </a:p>
        </p:txBody>
      </p:sp>
      <p:sp>
        <p:nvSpPr>
          <p:cNvPr id="522" name="Google Shape;522;p33"/>
          <p:cNvSpPr txBox="1"/>
          <p:nvPr/>
        </p:nvSpPr>
        <p:spPr>
          <a:xfrm>
            <a:off x="1390650" y="5824537"/>
            <a:ext cx="10125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Export aggregate Health Summary to Pandas DataFrame.</a:t>
            </a:r>
            <a:endParaRPr/>
          </a:p>
        </p:txBody>
      </p:sp>
      <p:sp>
        <p:nvSpPr>
          <p:cNvPr id="523" name="Google Shape;523;p33"/>
          <p:cNvSpPr txBox="1"/>
          <p:nvPr/>
        </p:nvSpPr>
        <p:spPr>
          <a:xfrm>
            <a:off x="1104900" y="197643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524" name="Google Shape;524;p33"/>
          <p:cNvSpPr txBox="1"/>
          <p:nvPr/>
        </p:nvSpPr>
        <p:spPr>
          <a:xfrm>
            <a:off x="1104900" y="237648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525" name="Google Shape;525;p33"/>
          <p:cNvSpPr txBox="1"/>
          <p:nvPr/>
        </p:nvSpPr>
        <p:spPr>
          <a:xfrm>
            <a:off x="1104900" y="277653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526" name="Google Shape;526;p33"/>
          <p:cNvSpPr txBox="1"/>
          <p:nvPr/>
        </p:nvSpPr>
        <p:spPr>
          <a:xfrm>
            <a:off x="1104900" y="370046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527" name="Google Shape;527;p33"/>
          <p:cNvSpPr txBox="1"/>
          <p:nvPr/>
        </p:nvSpPr>
        <p:spPr>
          <a:xfrm>
            <a:off x="1104900" y="410051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528" name="Google Shape;528;p33"/>
          <p:cNvSpPr txBox="1"/>
          <p:nvPr/>
        </p:nvSpPr>
        <p:spPr>
          <a:xfrm>
            <a:off x="1104900" y="502443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529" name="Google Shape;529;p33"/>
          <p:cNvSpPr txBox="1"/>
          <p:nvPr/>
        </p:nvSpPr>
        <p:spPr>
          <a:xfrm>
            <a:off x="1104900" y="542448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530" name="Google Shape;530;p33"/>
          <p:cNvSpPr txBox="1"/>
          <p:nvPr/>
        </p:nvSpPr>
        <p:spPr>
          <a:xfrm>
            <a:off x="1104900" y="582453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531" name="Google Shape;531;p33"/>
          <p:cNvSpPr txBox="1"/>
          <p:nvPr/>
        </p:nvSpPr>
        <p:spPr>
          <a:xfrm>
            <a:off x="676275" y="514350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Programmatic Evaluation Flow</a:t>
            </a:r>
            <a:endParaRPr/>
          </a:p>
        </p:txBody>
      </p:sp>
      <p:sp>
        <p:nvSpPr>
          <p:cNvPr id="532" name="Google Shape;532;p33"/>
          <p:cNvSpPr/>
          <p:nvPr/>
        </p:nvSpPr>
        <p:spPr>
          <a:xfrm>
            <a:off x="676275" y="1190625"/>
            <a:ext cx="10839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3" name="Google Shape;53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4"/>
          <p:cNvSpPr/>
          <p:nvPr/>
        </p:nvSpPr>
        <p:spPr>
          <a:xfrm>
            <a:off x="0" y="6848475"/>
            <a:ext cx="121920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3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4"/>
          <p:cNvSpPr/>
          <p:nvPr/>
        </p:nvSpPr>
        <p:spPr>
          <a:xfrm>
            <a:off x="0" y="0"/>
            <a:ext cx="96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4"/>
          <p:cNvSpPr/>
          <p:nvPr/>
        </p:nvSpPr>
        <p:spPr>
          <a:xfrm>
            <a:off x="12182475" y="0"/>
            <a:ext cx="96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4"/>
          <p:cNvSpPr txBox="1"/>
          <p:nvPr/>
        </p:nvSpPr>
        <p:spPr>
          <a:xfrm>
            <a:off x="2945453" y="2233612"/>
            <a:ext cx="6300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Session Complete</a:t>
            </a:r>
            <a:endParaRPr/>
          </a:p>
        </p:txBody>
      </p:sp>
      <p:sp>
        <p:nvSpPr>
          <p:cNvPr id="543" name="Google Shape;543;p34"/>
          <p:cNvSpPr txBox="1"/>
          <p:nvPr/>
        </p:nvSpPr>
        <p:spPr>
          <a:xfrm>
            <a:off x="4210085" y="3304688"/>
            <a:ext cx="3771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Evaluation Pipelines (Ragas)</a:t>
            </a:r>
            <a:endParaRPr/>
          </a:p>
        </p:txBody>
      </p:sp>
      <p:sp>
        <p:nvSpPr>
          <p:cNvPr id="544" name="Google Shape;544;p34"/>
          <p:cNvSpPr/>
          <p:nvPr/>
        </p:nvSpPr>
        <p:spPr>
          <a:xfrm>
            <a:off x="6086475" y="3967162"/>
            <a:ext cx="19200" cy="1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5" name="Google Shape;54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