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Inter SemiBold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Outfit"/>
      <p:regular r:id="rId42"/>
      <p:bold r:id="rId43"/>
    </p:embeddedFont>
    <p:embeddedFont>
      <p:font typeface="Outfit SemiBold"/>
      <p:regular r:id="rId44"/>
      <p:bold r:id="rId45"/>
    </p:embeddedFont>
    <p:embeddedFont>
      <p:font typeface="Inter Medium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4AF267-C55B-44A3-BC51-E8C94AE29EF8}">
  <a:tblStyle styleId="{F34AF267-C55B-44A3-BC51-E8C94AE29E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42" Type="http://schemas.openxmlformats.org/officeDocument/2006/relationships/font" Target="fonts/Outfit-regular.fntdata"/><Relationship Id="rId41" Type="http://schemas.openxmlformats.org/officeDocument/2006/relationships/font" Target="fonts/Inter-boldItalic.fntdata"/><Relationship Id="rId44" Type="http://schemas.openxmlformats.org/officeDocument/2006/relationships/font" Target="fonts/OutfitSemiBold-regular.fntdata"/><Relationship Id="rId43" Type="http://schemas.openxmlformats.org/officeDocument/2006/relationships/font" Target="fonts/Outfit-bold.fntdata"/><Relationship Id="rId46" Type="http://schemas.openxmlformats.org/officeDocument/2006/relationships/font" Target="fonts/InterMedium-regular.fntdata"/><Relationship Id="rId45" Type="http://schemas.openxmlformats.org/officeDocument/2006/relationships/font" Target="fonts/Outfi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italic.fntdata"/><Relationship Id="rId47" Type="http://schemas.openxmlformats.org/officeDocument/2006/relationships/font" Target="fonts/InterMedium-bold.fntdata"/><Relationship Id="rId49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InterSemiBold-bold.fntdata"/><Relationship Id="rId34" Type="http://schemas.openxmlformats.org/officeDocument/2006/relationships/font" Target="fonts/InterSemiBold-regular.fntdata"/><Relationship Id="rId37" Type="http://schemas.openxmlformats.org/officeDocument/2006/relationships/font" Target="fonts/InterSemiBold-boldItalic.fntdata"/><Relationship Id="rId36" Type="http://schemas.openxmlformats.org/officeDocument/2006/relationships/font" Target="fonts/InterSemiBold-italic.fntdata"/><Relationship Id="rId39" Type="http://schemas.openxmlformats.org/officeDocument/2006/relationships/font" Target="fonts/Inter-bold.fntdata"/><Relationship Id="rId38" Type="http://schemas.openxmlformats.org/officeDocument/2006/relationships/font" Target="fonts/Inter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0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10" Type="http://schemas.openxmlformats.org/officeDocument/2006/relationships/image" Target="../media/image6.png"/><Relationship Id="rId9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10" Type="http://schemas.openxmlformats.org/officeDocument/2006/relationships/image" Target="../media/image6.png"/><Relationship Id="rId9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43.png"/><Relationship Id="rId7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4.png"/><Relationship Id="rId6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Relationship Id="rId6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45.png"/><Relationship Id="rId10" Type="http://schemas.openxmlformats.org/officeDocument/2006/relationships/image" Target="../media/image6.png"/><Relationship Id="rId9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46.png"/><Relationship Id="rId7" Type="http://schemas.openxmlformats.org/officeDocument/2006/relationships/image" Target="../media/image44.png"/><Relationship Id="rId8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48.png"/><Relationship Id="rId10" Type="http://schemas.openxmlformats.org/officeDocument/2006/relationships/image" Target="../media/image6.png"/><Relationship Id="rId9" Type="http://schemas.openxmlformats.org/officeDocument/2006/relationships/image" Target="../media/image49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42.png"/><Relationship Id="rId8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39404"/>
            <a:ext cx="90012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Session 4.1: Hybrid Search Implementations</a:t>
            </a:r>
            <a:endParaRPr sz="1300"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79675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Python Developers Transitioning into Full-Stack AI Application Developers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1619250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930729" y="1943100"/>
            <a:ext cx="433054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Session Agenda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86625" y="2952750"/>
            <a:ext cx="8226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Semantic Blind Spot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When "Smart" AI fails at simple tasks.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86625" y="3467100"/>
            <a:ext cx="8226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Enter BM25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Resurrecting the "Keyword King" of the 90s.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186625" y="3981450"/>
            <a:ext cx="8226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Ensembling Problem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The math of adding miles to Celsius.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186625" y="4495800"/>
            <a:ext cx="8226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Reciprocal Rank Fusion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The great mathematical equalizer.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186625" y="5010150"/>
            <a:ext cx="8226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Hands-On Lab</a:t>
            </a:r>
            <a:r>
              <a:rPr b="0" i="0" lang="en-US" sz="19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Building the dual-engine architecture.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8387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8387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3290887"/>
            <a:ext cx="24503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Identify Blind Spots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7671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Recognize the "Exact Match" limitations inherent in Dense Vector (FAISS) architectures during critical searches.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5074" y="3290887"/>
            <a:ext cx="28703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Understand Mechanics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5074" y="37671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 the mathematics behind Sparse Vector retrieval, specifically focusing on the Okapi BM25 algorithm.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3374" y="3290887"/>
            <a:ext cx="223027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Implement Fusion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3374" y="37671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a LangChain EnsembleRetriever utilizing Reciprocal Rank Fusion (RRF) to normalize disparate results.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717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717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717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Course Objectives</a:t>
            </a:r>
            <a:endParaRPr/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40318" y="3046065"/>
            <a:ext cx="1091136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1: The Keyword vs. Semantic Divide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72012" y="4055715"/>
            <a:ext cx="2847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Identifying the Blind Spots</a:t>
            </a:r>
            <a:endParaRPr/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240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16240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Scenario: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desperately need details on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Invoice #INV-2023-99X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23764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Catastrophe: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876787"/>
            <a:ext cx="528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Analogy: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It's like asking a librarian for a specific ISBN number, and they confidently hand you a totally different book from the same year because "it's conceptually similar."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09625" y="28241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has no single pre-trained concept for that string.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9625" y="35766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violently chops the ID: ["INV", "2023", "99", "X"].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09625" y="40243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averages the meanings: "Invoice" + "Year 2023" + "Number 99".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6335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280511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55758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00526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Tokenization Catastrophe</a:t>
            </a:r>
            <a:endParaRPr/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877270"/>
            <a:ext cx="5286375" cy="6465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3052762"/>
            <a:ext cx="5286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99.9%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4386262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False Semantic Match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334125" y="224849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Mathematical Blind Spot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334125" y="272474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Cosine Similarity, entirely different invoices look identical because, conceptually, they are both just "invoices from 2023."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34125" y="4761904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AI grabs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INV-2023-99Y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The user pays the wrong vendor. The pipeline silently fails.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3028" y="4077295"/>
            <a:ext cx="3788568" cy="24645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Vector Space Collision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5286375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6912"/>
            <a:ext cx="5286375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962025" y="23574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Legacy Savior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62025" y="28336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AI fails at exact matching, we resurrect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Sparse Keyword Search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62025" y="3586162"/>
            <a:ext cx="45053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Think of it as the ultimate CTRL+F. It doesn't know what an invoice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but it perfectly matches the literal text.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62025" y="46529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Match = Massive Score. No Match = Absolute Zero.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724650" y="23574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"Vocabulary Gap" Flaw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724650" y="28336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But Sparse Search is incredibly brittle.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724650" y="32813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search for "puppy", but the document explicitly says "dog".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24650" y="403383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Because the exact letters p-u-p-p-y are missing, the system confidently returns zero results. It is completely blind to synonyms.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Revenge of Sparse Search</a:t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866775" y="3138487"/>
            <a:ext cx="26803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FAISS (Dense Search)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66775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Behavioral Profiler: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understands motives, broad concepts, themes, and synonyms. Essential for semantic meaning.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645074" y="3138487"/>
            <a:ext cx="274034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BM25 (Sparse Search)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645074" y="36147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Fingerprint Analyst: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only cares about exact, microscopic, physical matches. Essential for unique identifiers.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423374" y="3138487"/>
            <a:ext cx="25703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Master AI Agent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423374" y="36147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cannot build Enterprise AI with just one database. The Master Agent runs both detectives in parallel to solve complex queries.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1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1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193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Hybrid Mandate &amp; Detective Analogy</a:t>
            </a:r>
            <a:endParaRPr/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3505676" y="3046065"/>
            <a:ext cx="518064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2: Enter BM25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100637" y="4055715"/>
            <a:ext cx="1990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Keyword King</a:t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47912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962025" y="27384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Term Frequency (TF)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62025" y="32146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Rule: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more a document mentions the keyword, the more relevant it is.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62025" y="39671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document saying "Budget" 10 times easily beats a document saying it once.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24650" y="27384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Inverse Document Frequency (IDF)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724650" y="32146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Rule: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Common words are penalized. Rare words are rewarded.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724650" y="39671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the search "The Budget", the word "The" is ignored completely. "Budget" holds all the mathematical weight.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Evolution of TF-IDF</a:t>
            </a:r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71500" y="19764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Solving "Keyword Stuffing"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24526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TF-IDF had a fatal flaw.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Remember the SEO trick of 2005?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Writing "Budget" 1,000 times in invisible white text sent your score to infinity.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35099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Okapi BM25 fixes this with two brilliant limiters: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48529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These two tweaks are why BM25 has powered enterprise search for 20 years.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09625" y="39576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Saturation: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Caps the repetition reward.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09625" y="44053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Length Normalization: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Punishes rambling documents.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571500" y="393858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438626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BM25 Breakthrough</a:t>
            </a:r>
            <a:endParaRPr/>
          </a:p>
        </p:txBody>
      </p:sp>
      <p:pic>
        <p:nvPicPr>
          <p:cNvPr id="237" name="Google Shape;23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71700"/>
            <a:ext cx="3492549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71700"/>
            <a:ext cx="3492549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866775" y="3124200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Raw Frequency: f(q_i, D)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866775" y="39338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raw count of how many times the specific keyword physically appears in the document chunk.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4645074" y="3124200"/>
            <a:ext cx="23862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Spam Filter: k₁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4645074" y="36004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Creates a strict ceiling. The first mention spikes the score. By the 10th mention, it flatlines.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10 mentions is not 10x better than 1.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8423374" y="3124200"/>
            <a:ext cx="28103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TL;DR Enforcer: b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423374" y="36004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Punishes long documents. A concise 50-word paragraph mentioning "Budget" will mathematically destroy a rambling 5,000-word essay.</a:t>
            </a:r>
            <a:endParaRPr/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05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050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050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Demystifying BM25 Hyperparameters</a:t>
            </a:r>
            <a:endParaRPr/>
          </a:p>
        </p:txBody>
      </p:sp>
      <p:pic>
        <p:nvPicPr>
          <p:cNvPr id="256" name="Google Shape;256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2057400" y="2523232"/>
            <a:ext cx="8077200" cy="1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If BM25 is so perfect at finding exact strings, and solves the keyword-stuffing issue perfectly... why don't we just throw FAISS away and use BM25 for everything?</a:t>
            </a:r>
            <a:endParaRPr sz="800"/>
          </a:p>
        </p:txBody>
      </p:sp>
      <p:sp>
        <p:nvSpPr>
          <p:cNvPr id="263" name="Google Shape;263;p25"/>
          <p:cNvSpPr txBox="1"/>
          <p:nvPr/>
        </p:nvSpPr>
        <p:spPr>
          <a:xfrm>
            <a:off x="3442800" y="4227448"/>
            <a:ext cx="530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Because of the Vocabulary Gap. It is blind to synonyms.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485900" y="2808982"/>
            <a:ext cx="38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"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0325100" y="4763397"/>
            <a:ext cx="381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"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Pause &amp; Reflect</a:t>
            </a:r>
            <a:endParaRPr/>
          </a:p>
        </p:txBody>
      </p:sp>
      <p:pic>
        <p:nvPicPr>
          <p:cNvPr id="267" name="Google Shape;2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1710451" y="3046065"/>
            <a:ext cx="877109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3: The Ensembling Problem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4991100" y="4055715"/>
            <a:ext cx="2209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Apples and Oranges</a:t>
            </a:r>
            <a:endParaRPr/>
          </a:p>
        </p:txBody>
      </p:sp>
      <p:pic>
        <p:nvPicPr>
          <p:cNvPr id="276" name="Google Shape;2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5286375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24075"/>
            <a:ext cx="5286375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962025" y="25146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FAISS: The Bounded Sandbox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962025" y="29908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Cosine Similarity is perfectly normalized. It exists on a strict, predictable scale.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962025" y="37433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Real-world scores almost always hover tightly between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0.70 and 0.95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6724650" y="25146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BM25: The Unbounded Wild West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724650" y="29908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BM25 is an ever-growing probabilistic summation. It has absolutely no ceiling.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6724650" y="37433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rare keyword string might hit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45.8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 easily surpass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150.0+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6724650" y="44958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Dilemma: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How do you add 5 miles to 30 degrees Celsius?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Bounded vs. Unbounded Universes</a:t>
            </a:r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571500" y="19764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Junior Developer Approach: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Let's just add them together!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571500" y="42338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BM25's massive integer scale completely swallows the tiny decimal output of the FAISS engine. Semantic meaning is entirely destroyed.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809625" y="27289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 A (Perfect Semantic Match):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FAISS 0.88 + BM25 0.0 =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0.44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809625" y="34813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 B (Random IT Ticket):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FAISS 0.40 + BM25 12.5 =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6.45</a:t>
            </a:r>
            <a:endParaRPr/>
          </a:p>
        </p:txBody>
      </p:sp>
      <p:pic>
        <p:nvPicPr>
          <p:cNvPr descr="image.png" id="303" name="Google Shape;30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8"/>
          <p:cNvSpPr txBox="1"/>
          <p:nvPr/>
        </p:nvSpPr>
        <p:spPr>
          <a:xfrm>
            <a:off x="571500" y="270986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571500" y="346233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Catastrophe of Linear Combination</a:t>
            </a:r>
            <a:endParaRPr/>
          </a:p>
        </p:txBody>
      </p:sp>
      <p:pic>
        <p:nvPicPr>
          <p:cNvPr id="307" name="Google Shape;30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571500" y="3052762"/>
            <a:ext cx="5286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0.02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571500" y="4386262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Crushed Score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334125" y="2514600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Normalization Fails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6334125" y="29908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"Let's just normalize BM25 to a 0-1 scale!"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6334125" y="34385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Skew Reality: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Imagine grading a class on a curve where one student somehow scores 5000%.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6334125" y="41910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an outlier document scores 80.0, scaling against it crushes 99 perfectly valid documents into microscopic decimals. The ensemble fails again.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Min-Max Normalization Trap</a:t>
            </a:r>
            <a:endParaRPr/>
          </a:p>
        </p:txBody>
      </p:sp>
      <p:pic>
        <p:nvPicPr>
          <p:cNvPr id="320" name="Google Shape;32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1930479" y="3046065"/>
            <a:ext cx="833104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4: Reciprocal Rank Fusion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5029200" y="4055715"/>
            <a:ext cx="2133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Great Equalizer</a:t>
            </a:r>
            <a:endParaRPr/>
          </a:p>
        </p:txBody>
      </p:sp>
      <p:pic>
        <p:nvPicPr>
          <p:cNvPr id="329" name="Google Shape;32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5286375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24075"/>
            <a:ext cx="5286375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962025" y="25146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Paradigm Shift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962025" y="29908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can't add them. We can't weight them. We can't normalize them.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962025" y="37433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Secret: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Stop looking at the scores entirely. Look at the podium.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962025" y="44958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only universal truth between the algorithms is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Positional Rank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6724650" y="25146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RRF Equation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6724650" y="29908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Calculates a unified score based strictly on the inverse of a document's positional rank.</a:t>
            </a:r>
            <a:endParaRPr/>
          </a:p>
        </p:txBody>
      </p:sp>
      <p:pic>
        <p:nvPicPr>
          <p:cNvPr descr="image.png" id="343" name="Google Shape;34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8492" y="4038600"/>
            <a:ext cx="3017639" cy="50184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Mathematics of RRF</a:t>
            </a:r>
            <a:endParaRPr/>
          </a:p>
        </p:txBody>
      </p:sp>
      <p:pic>
        <p:nvPicPr>
          <p:cNvPr id="345" name="Google Shape;345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571500" y="19764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Flattening the Curve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571500" y="24526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industry,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almost always hardcoded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Why?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571500" y="29003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=0, the #1 spot gets a massive 1.0 score. The Gold Medalist becomes a dictator, destroying consensus.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571500" y="36528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adding 60, we flatten the output: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571500" y="49958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heavily rewards consensus over a single lucky spike.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809625" y="41005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Rank 1: 1 / (60 + 1) = 0.0163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809625" y="454818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Rank 2: 1 / (60 + 2) = 0.0161</a:t>
            </a:r>
            <a:endParaRPr/>
          </a:p>
        </p:txBody>
      </p:sp>
      <p:pic>
        <p:nvPicPr>
          <p:cNvPr descr="image.png" id="359" name="Google Shape;35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2"/>
          <p:cNvSpPr txBox="1"/>
          <p:nvPr/>
        </p:nvSpPr>
        <p:spPr>
          <a:xfrm>
            <a:off x="571500" y="408146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571500" y="452913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Magic of the 'k' Constant</a:t>
            </a:r>
            <a:endParaRPr/>
          </a:p>
        </p:txBody>
      </p:sp>
      <p:pic>
        <p:nvPicPr>
          <p:cNvPr id="363" name="Google Shape;36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3"/>
          <p:cNvSpPr/>
          <p:nvPr/>
        </p:nvSpPr>
        <p:spPr>
          <a:xfrm>
            <a:off x="571500" y="1841301"/>
            <a:ext cx="11049000" cy="4080271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p33"/>
          <p:cNvGraphicFramePr/>
          <p:nvPr/>
        </p:nvGraphicFramePr>
        <p:xfrm>
          <a:off x="571500" y="18413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{F34AF267-C55B-44A3-BC51-E8C94AE29EF8}</a:tableStyleId>
              </a:tblPr>
              <a:tblGrid>
                <a:gridCol w="5429250"/>
                <a:gridCol w="1510150"/>
                <a:gridCol w="1482775"/>
                <a:gridCol w="2617300"/>
              </a:tblGrid>
              <a:tr h="10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Document (Query: Q4 Revenue Project Alpha)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FAISS 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BM25 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8BDF8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RRF Calculation (k=60)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0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A: Pure Semantic Match</a:t>
                      </a: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 (Mentions "income pushbacks")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#1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Not Found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(1/61) + 0 = </a:t>
                      </a: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0.01639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B: Pure Keyword Match</a:t>
                      </a: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 (Irrelevant IT ticket with terms)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#25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#1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(1/85) + (1/61) = </a:t>
                      </a: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0.02815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C: True Hybrid Match</a:t>
                      </a: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 (Financial report: Q4 Alpha income)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#3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#4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(1/63) + (1/64) = </a:t>
                      </a: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0.03149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p33"/>
          <p:cNvSpPr/>
          <p:nvPr/>
        </p:nvSpPr>
        <p:spPr>
          <a:xfrm>
            <a:off x="576262" y="2892623"/>
            <a:ext cx="54292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6005512" y="2892623"/>
            <a:ext cx="151015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7515671" y="2892623"/>
            <a:ext cx="148277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8998446" y="2892623"/>
            <a:ext cx="261729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76262" y="3907035"/>
            <a:ext cx="5429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6005512" y="3907035"/>
            <a:ext cx="1510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7515671" y="3907035"/>
            <a:ext cx="14827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8998446" y="3907035"/>
            <a:ext cx="26172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576262" y="4907160"/>
            <a:ext cx="5429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6005512" y="4907160"/>
            <a:ext cx="15101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7515671" y="4907160"/>
            <a:ext cx="14827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8998446" y="4907160"/>
            <a:ext cx="26172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RRF Simulation</a:t>
            </a:r>
            <a:endParaRPr/>
          </a:p>
        </p:txBody>
      </p:sp>
      <p:pic>
        <p:nvPicPr>
          <p:cNvPr id="384" name="Google Shape;38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4"/>
          <p:cNvSpPr txBox="1"/>
          <p:nvPr/>
        </p:nvSpPr>
        <p:spPr>
          <a:xfrm>
            <a:off x="571500" y="3052762"/>
            <a:ext cx="5286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#1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571500" y="4386262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Consensus Winner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6334125" y="2586037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Decathlon Athlete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6334125" y="30622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Notice that Document C did not win gold in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either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individual database!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6334125" y="381476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Lesson: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Like a decathlon athlete, it didn't win every specific event, but its high overall consensus mathematically proved it was the most well-rounded answer.</a:t>
            </a:r>
            <a:endParaRPr/>
          </a:p>
        </p:txBody>
      </p:sp>
      <p:sp>
        <p:nvSpPr>
          <p:cNvPr id="395" name="Google Shape;395;p3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RRF Victory</a:t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2637"/>
            <a:ext cx="528637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52637"/>
            <a:ext cx="528637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962025" y="244316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EnsembleRetriever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962025" y="291941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 Senior Engineers, we understand the brutal math so we can debug the pipeline when things burn down.</a:t>
            </a:r>
            <a:endParaRPr/>
          </a:p>
        </p:txBody>
      </p:sp>
      <p:sp>
        <p:nvSpPr>
          <p:cNvPr id="406" name="Google Shape;406;p35"/>
          <p:cNvSpPr txBox="1"/>
          <p:nvPr/>
        </p:nvSpPr>
        <p:spPr>
          <a:xfrm>
            <a:off x="962025" y="3976687"/>
            <a:ext cx="45053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But for production? We rely on LangChain's beautifully abstracted EnsembleRetriever.</a:t>
            </a:r>
            <a:endParaRPr/>
          </a:p>
        </p:txBody>
      </p:sp>
      <p:sp>
        <p:nvSpPr>
          <p:cNvPr id="407" name="Google Shape;407;p35"/>
          <p:cNvSpPr txBox="1"/>
          <p:nvPr/>
        </p:nvSpPr>
        <p:spPr>
          <a:xfrm>
            <a:off x="6724650" y="244316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Under the Hood</a:t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6724650" y="291941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pass it a FAISS and BM25 retriever, and it automatically:</a:t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6962775" y="36718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Runs parallel async searches.</a:t>
            </a:r>
            <a:endParaRPr/>
          </a:p>
        </p:txBody>
      </p:sp>
      <p:sp>
        <p:nvSpPr>
          <p:cNvPr id="410" name="Google Shape;410;p35"/>
          <p:cNvSpPr txBox="1"/>
          <p:nvPr/>
        </p:nvSpPr>
        <p:spPr>
          <a:xfrm>
            <a:off x="6962775" y="41195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Strips out the wildly incompatible raw scores.</a:t>
            </a:r>
            <a:endParaRPr/>
          </a:p>
        </p:txBody>
      </p:sp>
      <p:sp>
        <p:nvSpPr>
          <p:cNvPr id="411" name="Google Shape;411;p35"/>
          <p:cNvSpPr txBox="1"/>
          <p:nvPr/>
        </p:nvSpPr>
        <p:spPr>
          <a:xfrm>
            <a:off x="6962775" y="4567237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Applies the k=60 RRF calculus to return the unified list.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6724650" y="365283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3" name="Google Shape;413;p35"/>
          <p:cNvSpPr txBox="1"/>
          <p:nvPr/>
        </p:nvSpPr>
        <p:spPr>
          <a:xfrm>
            <a:off x="6724650" y="410051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6724650" y="454818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5" name="Google Shape;415;p3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LangChain Abstraction</a:t>
            </a:r>
            <a:endParaRPr/>
          </a:p>
        </p:txBody>
      </p:sp>
      <p:pic>
        <p:nvPicPr>
          <p:cNvPr id="416" name="Google Shape;41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6"/>
          <p:cNvSpPr/>
          <p:nvPr/>
        </p:nvSpPr>
        <p:spPr>
          <a:xfrm>
            <a:off x="5715000" y="2722215"/>
            <a:ext cx="7620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 txBox="1"/>
          <p:nvPr/>
        </p:nvSpPr>
        <p:spPr>
          <a:xfrm>
            <a:off x="1380410" y="3046065"/>
            <a:ext cx="943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Part 5: Hands-On Lab</a:t>
            </a:r>
            <a:endParaRPr/>
          </a:p>
        </p:txBody>
      </p:sp>
      <p:sp>
        <p:nvSpPr>
          <p:cNvPr id="424" name="Google Shape;424;p36"/>
          <p:cNvSpPr txBox="1"/>
          <p:nvPr/>
        </p:nvSpPr>
        <p:spPr>
          <a:xfrm>
            <a:off x="3890962" y="4055715"/>
            <a:ext cx="4410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Building the Hybrid Pipeline Architecture</a:t>
            </a:r>
            <a:endParaRPr/>
          </a:p>
        </p:txBody>
      </p:sp>
      <p:pic>
        <p:nvPicPr>
          <p:cNvPr id="425" name="Google Shape;42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6900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66900"/>
            <a:ext cx="3492549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66900"/>
            <a:ext cx="3492549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7"/>
          <p:cNvSpPr txBox="1"/>
          <p:nvPr/>
        </p:nvSpPr>
        <p:spPr>
          <a:xfrm>
            <a:off x="866775" y="2819400"/>
            <a:ext cx="2920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Upgrade Dependencies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866775" y="3295650"/>
            <a:ext cx="2901999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 the necessary statistical libraries (rank_bm25) alongside standard vector packages (LangChain, FAISS) to enable local CPU-based sparse mathematics.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4645074" y="2819400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Construct Executive Dataset</a:t>
            </a:r>
            <a:endParaRPr/>
          </a:p>
        </p:txBody>
      </p:sp>
      <p:sp>
        <p:nvSpPr>
          <p:cNvPr id="437" name="Google Shape;437;p37"/>
          <p:cNvSpPr txBox="1"/>
          <p:nvPr/>
        </p:nvSpPr>
        <p:spPr>
          <a:xfrm>
            <a:off x="4645074" y="362902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Initialize secure API authentication. Create a miniature business dataset containing exact keyword "needles" alongside semantic "distractors".</a:t>
            </a:r>
            <a:endParaRPr/>
          </a:p>
        </p:txBody>
      </p:sp>
      <p:sp>
        <p:nvSpPr>
          <p:cNvPr id="438" name="Google Shape;438;p37"/>
          <p:cNvSpPr txBox="1"/>
          <p:nvPr/>
        </p:nvSpPr>
        <p:spPr>
          <a:xfrm>
            <a:off x="8423374" y="2819400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Intentional Sabotage</a:t>
            </a:r>
            <a:endParaRPr/>
          </a:p>
        </p:txBody>
      </p:sp>
      <p:sp>
        <p:nvSpPr>
          <p:cNvPr id="439" name="Google Shape;439;p37"/>
          <p:cNvSpPr txBox="1"/>
          <p:nvPr/>
        </p:nvSpPr>
        <p:spPr>
          <a:xfrm>
            <a:off x="8423374" y="32956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 your dataset is designed to intentionally test the dense engine's blind spots using overlapping contextual vocabulary.</a:t>
            </a:r>
            <a:endParaRPr/>
          </a:p>
        </p:txBody>
      </p:sp>
      <p:pic>
        <p:nvPicPr>
          <p:cNvPr descr="image.png" id="440" name="Google Shape;44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00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2002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2002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Lab Step 1 &amp; 2: Setup and Dataset</a:t>
            </a:r>
            <a:endParaRPr/>
          </a:p>
        </p:txBody>
      </p:sp>
      <p:pic>
        <p:nvPicPr>
          <p:cNvPr id="444" name="Google Shape;444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9" name="Google Shape;44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3587"/>
            <a:ext cx="3492549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33587"/>
            <a:ext cx="3492549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33587"/>
            <a:ext cx="3492549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8"/>
          <p:cNvSpPr txBox="1"/>
          <p:nvPr/>
        </p:nvSpPr>
        <p:spPr>
          <a:xfrm>
            <a:off x="866775" y="2986087"/>
            <a:ext cx="27503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Initialize Dual Engines</a:t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866775" y="34623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Spin up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Semantic Profiler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by embedding documents into FAISS. Spin up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Fingerprint Analyst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by building a local BM25 statistical index.</a:t>
            </a:r>
            <a:endParaRPr/>
          </a:p>
        </p:txBody>
      </p:sp>
      <p:sp>
        <p:nvSpPr>
          <p:cNvPr id="455" name="Google Shape;455;p38"/>
          <p:cNvSpPr txBox="1"/>
          <p:nvPr/>
        </p:nvSpPr>
        <p:spPr>
          <a:xfrm>
            <a:off x="4645074" y="2986087"/>
            <a:ext cx="2890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Reciprocal Rank Fusion</a:t>
            </a:r>
            <a:endParaRPr/>
          </a:p>
        </p:txBody>
      </p:sp>
      <p:sp>
        <p:nvSpPr>
          <p:cNvPr id="456" name="Google Shape;456;p38"/>
          <p:cNvSpPr txBox="1"/>
          <p:nvPr/>
        </p:nvSpPr>
        <p:spPr>
          <a:xfrm>
            <a:off x="4645074" y="3462337"/>
            <a:ext cx="2901999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Wrap both retrievers inside LangChain's EnsembleRetriever class, ensuring weights are balanced to allow RRF to take over.</a:t>
            </a:r>
            <a:endParaRPr/>
          </a:p>
        </p:txBody>
      </p:sp>
      <p:sp>
        <p:nvSpPr>
          <p:cNvPr id="457" name="Google Shape;457;p38"/>
          <p:cNvSpPr txBox="1"/>
          <p:nvPr/>
        </p:nvSpPr>
        <p:spPr>
          <a:xfrm>
            <a:off x="8423374" y="2986087"/>
            <a:ext cx="26603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Execution Stress Test</a:t>
            </a:r>
            <a:endParaRPr/>
          </a:p>
        </p:txBody>
      </p:sp>
      <p:sp>
        <p:nvSpPr>
          <p:cNvPr id="458" name="Google Shape;458;p38"/>
          <p:cNvSpPr txBox="1"/>
          <p:nvPr/>
        </p:nvSpPr>
        <p:spPr>
          <a:xfrm>
            <a:off x="8423374" y="3462337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Execute a complex query requiring both conceptual understanding and an exact ID match. Observe the ensemble returning the perfect hybrid result.</a:t>
            </a:r>
            <a:endParaRPr/>
          </a:p>
        </p:txBody>
      </p:sp>
      <p:pic>
        <p:nvPicPr>
          <p:cNvPr descr="image.png" id="459" name="Google Shape;459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669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669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669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Lab Step 3 &amp; 4: Dual Engines and Fusion</a:t>
            </a:r>
            <a:endParaRPr/>
          </a:p>
        </p:txBody>
      </p:sp>
      <p:pic>
        <p:nvPicPr>
          <p:cNvPr id="463" name="Google Shape;463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8" name="Google Shape;4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9"/>
          <p:cNvSpPr txBox="1"/>
          <p:nvPr/>
        </p:nvSpPr>
        <p:spPr>
          <a:xfrm>
            <a:off x="295275" y="214223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The Pinnacle of Retrieval</a:t>
            </a:r>
            <a:endParaRPr/>
          </a:p>
        </p:txBody>
      </p:sp>
      <p:sp>
        <p:nvSpPr>
          <p:cNvPr id="470" name="Google Shape;470;p39"/>
          <p:cNvSpPr txBox="1"/>
          <p:nvPr/>
        </p:nvSpPr>
        <p:spPr>
          <a:xfrm>
            <a:off x="571500" y="3294757"/>
            <a:ext cx="11049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Hybrid Search outputs are still just a "Net". The final step relies on a Cross-Encoder for neural evaluation.</a:t>
            </a:r>
            <a:endParaRPr/>
          </a:p>
        </p:txBody>
      </p:sp>
      <p:sp>
        <p:nvSpPr>
          <p:cNvPr id="471" name="Google Shape;471;p39"/>
          <p:cNvSpPr txBox="1"/>
          <p:nvPr/>
        </p:nvSpPr>
        <p:spPr>
          <a:xfrm>
            <a:off x="571500" y="4468117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on Hybrid Architectures or RRF Mathematics?</a:t>
            </a:r>
            <a:endParaRPr/>
          </a:p>
        </p:txBody>
      </p:sp>
      <p:pic>
        <p:nvPicPr>
          <p:cNvPr id="472" name="Google Shape;47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