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12192000"/>
  <p:notesSz cx="6858000" cy="9144000"/>
  <p:embeddedFontLst>
    <p:embeddedFont>
      <p:font typeface="Plus Jakarta Sans"/>
      <p:regular r:id="rId63"/>
      <p:bold r:id="rId64"/>
      <p:italic r:id="rId65"/>
      <p:boldItalic r:id="rId66"/>
    </p:embeddedFont>
    <p:embeddedFont>
      <p:font typeface="Plus Jakarta Sans SemiBold"/>
      <p:regular r:id="rId67"/>
      <p:bold r:id="rId68"/>
      <p:italic r:id="rId69"/>
      <p:boldItalic r:id="rId70"/>
    </p:embeddedFont>
    <p:embeddedFont>
      <p:font typeface="Fira Code"/>
      <p:regular r:id="rId71"/>
      <p:bold r:id="rId72"/>
    </p:embeddedFont>
    <p:embeddedFont>
      <p:font typeface="Space Grotesk"/>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230EF3-5E40-4AAD-8CF3-C08F8DDD3656}">
  <a:tblStyle styleId="{EF230EF3-5E40-4AAD-8CF3-C08F8DDD365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SpaceGrotesk-bold.fntdata"/><Relationship Id="rId72" Type="http://schemas.openxmlformats.org/officeDocument/2006/relationships/font" Target="fonts/FiraCode-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FiraCode-regular.fntdata"/><Relationship Id="rId70" Type="http://schemas.openxmlformats.org/officeDocument/2006/relationships/font" Target="fonts/PlusJakartaSansSemiBold-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lusJakartaSans-bold.fntdata"/><Relationship Id="rId63" Type="http://schemas.openxmlformats.org/officeDocument/2006/relationships/font" Target="fonts/PlusJakartaSans-regular.fntdata"/><Relationship Id="rId22" Type="http://schemas.openxmlformats.org/officeDocument/2006/relationships/slide" Target="slides/slide16.xml"/><Relationship Id="rId66" Type="http://schemas.openxmlformats.org/officeDocument/2006/relationships/font" Target="fonts/PlusJakartaSans-boldItalic.fntdata"/><Relationship Id="rId21" Type="http://schemas.openxmlformats.org/officeDocument/2006/relationships/slide" Target="slides/slide15.xml"/><Relationship Id="rId65" Type="http://schemas.openxmlformats.org/officeDocument/2006/relationships/font" Target="fonts/PlusJakartaSans-italic.fntdata"/><Relationship Id="rId24" Type="http://schemas.openxmlformats.org/officeDocument/2006/relationships/slide" Target="slides/slide18.xml"/><Relationship Id="rId68" Type="http://schemas.openxmlformats.org/officeDocument/2006/relationships/font" Target="fonts/PlusJakartaSansSemiBold-bold.fntdata"/><Relationship Id="rId23" Type="http://schemas.openxmlformats.org/officeDocument/2006/relationships/slide" Target="slides/slide17.xml"/><Relationship Id="rId67" Type="http://schemas.openxmlformats.org/officeDocument/2006/relationships/font" Target="fonts/PlusJakartaSansSemiBold-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PlusJakartaSansSemi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36c6bb60a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d36c6bb60a_0_6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cc91dcb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dcc91dcb8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cc91dcb8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cc91dcb8e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dcc91dcb8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3dcc91dcb8e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dcc91dcb8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dcc91dcb8e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cc91dcb8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dcc91dcb8e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cc91dcb8e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dcc91dcb8e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cc91dcb8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dcc91dcb8e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cc91dcb8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g3dcc91dcb8e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cc91dcb8e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dcc91dcb8e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cc91dcb8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dcc91dcb8e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cc91dcb8e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dcc91dcb8e_0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cc91dcb8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dcc91dcb8e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cc91dcb8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3dcc91dcb8e_0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cc91dcb8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g3dcc91dcb8e_0_2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cc91dcb8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dcc91dcb8e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dcc91dcb8e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dcc91dcb8e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cc91dcb8e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g3dcc91dcb8e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dcc91dcb8e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3dcc91dcb8e_0_3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dcc91dcb8e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3dcc91dcb8e_0_3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cc91dcb8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3dcc91dcb8e_0_3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dcc91dcb8e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g3dcc91dcb8e_0_3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dcc91dcb8e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dcc91dcb8e_0_4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36c6bb6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g3d36c6bb60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d36c6bb6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g3d36c6bb60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d36c6bb60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g3d36c6bb60a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d36c6bb60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g3d36c6bb60a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d36c6bb60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g3d36c6bb60a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d36c6bb60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g3d36c6bb60a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d36c6bb60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g3d36c6bb60a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d36c6bb60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d36c6bb60a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d36c6bb60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g3d36c6bb60a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d36c6bb60a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3d36c6bb60a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d36c6bb60a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g3d36c6bb60a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d36c6bb60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g3d36c6bb60a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d36c6bb60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g3d36c6bb60a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3d36c6bb60a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g3d36c6bb60a_0_3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3d36c6bb60a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g3d36c6bb60a_0_3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d36c6bb60a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g3d36c6bb60a_0_3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d36c6bb60a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g3d36c6bb60a_0_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d36c6bb60a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g3d36c6bb60a_0_3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d36c6bb60a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g3d36c6bb60a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d36c6bb60a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g3d36c6bb60a_0_4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d36c6bb60a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g3d36c6bb60a_0_4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d36c6bb60a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g3d36c6bb60a_0_5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d36c6bb60a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g3d36c6bb60a_0_6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39.png"/><Relationship Id="rId9"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8.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2.png"/><Relationship Id="rId11" Type="http://schemas.openxmlformats.org/officeDocument/2006/relationships/image" Target="../media/image13.png"/><Relationship Id="rId10" Type="http://schemas.openxmlformats.org/officeDocument/2006/relationships/image" Target="../media/image25.png"/><Relationship Id="rId9" Type="http://schemas.openxmlformats.org/officeDocument/2006/relationships/image" Target="../media/image21.png"/><Relationship Id="rId5" Type="http://schemas.openxmlformats.org/officeDocument/2006/relationships/image" Target="../media/image16.png"/><Relationship Id="rId6" Type="http://schemas.openxmlformats.org/officeDocument/2006/relationships/image" Target="../media/image28.png"/><Relationship Id="rId7" Type="http://schemas.openxmlformats.org/officeDocument/2006/relationships/image" Target="../media/image17.png"/><Relationship Id="rId8"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0.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9.png"/><Relationship Id="rId10" Type="http://schemas.openxmlformats.org/officeDocument/2006/relationships/image" Target="../media/image13.png"/><Relationship Id="rId9" Type="http://schemas.openxmlformats.org/officeDocument/2006/relationships/image" Target="../media/image35.png"/><Relationship Id="rId5" Type="http://schemas.openxmlformats.org/officeDocument/2006/relationships/image" Target="../media/image54.png"/><Relationship Id="rId6" Type="http://schemas.openxmlformats.org/officeDocument/2006/relationships/image" Target="../media/image30.png"/><Relationship Id="rId7" Type="http://schemas.openxmlformats.org/officeDocument/2006/relationships/image" Target="../media/image41.png"/><Relationship Id="rId8"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31.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36.png"/><Relationship Id="rId5" Type="http://schemas.openxmlformats.org/officeDocument/2006/relationships/image" Target="../media/image42.png"/><Relationship Id="rId6" Type="http://schemas.openxmlformats.org/officeDocument/2006/relationships/image" Target="../media/image37.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0.png"/><Relationship Id="rId9" Type="http://schemas.openxmlformats.org/officeDocument/2006/relationships/image" Target="../media/image13.png"/><Relationship Id="rId5" Type="http://schemas.openxmlformats.org/officeDocument/2006/relationships/image" Target="../media/image43.png"/><Relationship Id="rId6" Type="http://schemas.openxmlformats.org/officeDocument/2006/relationships/image" Target="../media/image49.png"/><Relationship Id="rId7" Type="http://schemas.openxmlformats.org/officeDocument/2006/relationships/image" Target="../media/image51.png"/><Relationship Id="rId8" Type="http://schemas.openxmlformats.org/officeDocument/2006/relationships/image" Target="../media/image46.png"/></Relationships>
</file>

<file path=ppt/slides/_rels/slide11.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50.png"/><Relationship Id="rId13" Type="http://schemas.openxmlformats.org/officeDocument/2006/relationships/image" Target="../media/image58.png"/><Relationship Id="rId12"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44.png"/><Relationship Id="rId9" Type="http://schemas.openxmlformats.org/officeDocument/2006/relationships/image" Target="../media/image53.png"/><Relationship Id="rId15" Type="http://schemas.openxmlformats.org/officeDocument/2006/relationships/image" Target="../media/image59.png"/><Relationship Id="rId14" Type="http://schemas.openxmlformats.org/officeDocument/2006/relationships/image" Target="../media/image65.png"/><Relationship Id="rId17" Type="http://schemas.openxmlformats.org/officeDocument/2006/relationships/image" Target="../media/image83.png"/><Relationship Id="rId16" Type="http://schemas.openxmlformats.org/officeDocument/2006/relationships/image" Target="../media/image56.png"/><Relationship Id="rId5" Type="http://schemas.openxmlformats.org/officeDocument/2006/relationships/image" Target="../media/image45.png"/><Relationship Id="rId6" Type="http://schemas.openxmlformats.org/officeDocument/2006/relationships/image" Target="../media/image48.png"/><Relationship Id="rId18" Type="http://schemas.openxmlformats.org/officeDocument/2006/relationships/image" Target="../media/image13.png"/><Relationship Id="rId7" Type="http://schemas.openxmlformats.org/officeDocument/2006/relationships/image" Target="../media/image47.png"/><Relationship Id="rId8" Type="http://schemas.openxmlformats.org/officeDocument/2006/relationships/image" Target="../media/image52.png"/></Relationships>
</file>

<file path=ppt/slides/_rels/slide12.xml.rels><?xml version="1.0" encoding="UTF-8" standalone="yes"?><Relationships xmlns="http://schemas.openxmlformats.org/package/2006/relationships"><Relationship Id="rId11" Type="http://schemas.openxmlformats.org/officeDocument/2006/relationships/image" Target="../media/image78.png"/><Relationship Id="rId10" Type="http://schemas.openxmlformats.org/officeDocument/2006/relationships/image" Target="../media/image81.png"/><Relationship Id="rId13" Type="http://schemas.openxmlformats.org/officeDocument/2006/relationships/image" Target="../media/image13.png"/><Relationship Id="rId12" Type="http://schemas.openxmlformats.org/officeDocument/2006/relationships/image" Target="../media/image80.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0.png"/><Relationship Id="rId4" Type="http://schemas.openxmlformats.org/officeDocument/2006/relationships/image" Target="../media/image63.png"/><Relationship Id="rId9" Type="http://schemas.openxmlformats.org/officeDocument/2006/relationships/image" Target="../media/image82.png"/><Relationship Id="rId5" Type="http://schemas.openxmlformats.org/officeDocument/2006/relationships/image" Target="../media/image68.png"/><Relationship Id="rId6" Type="http://schemas.openxmlformats.org/officeDocument/2006/relationships/image" Target="../media/image62.png"/><Relationship Id="rId7" Type="http://schemas.openxmlformats.org/officeDocument/2006/relationships/image" Target="../media/image61.png"/><Relationship Id="rId8"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0.png"/><Relationship Id="rId4" Type="http://schemas.openxmlformats.org/officeDocument/2006/relationships/image" Target="../media/image72.png"/><Relationship Id="rId5" Type="http://schemas.openxmlformats.org/officeDocument/2006/relationships/image" Target="../media/image69.png"/><Relationship Id="rId6" Type="http://schemas.openxmlformats.org/officeDocument/2006/relationships/image" Target="../media/image73.png"/><Relationship Id="rId7"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0.png"/><Relationship Id="rId4" Type="http://schemas.openxmlformats.org/officeDocument/2006/relationships/image" Target="../media/image75.png"/><Relationship Id="rId9" Type="http://schemas.openxmlformats.org/officeDocument/2006/relationships/image" Target="../media/image13.png"/><Relationship Id="rId5" Type="http://schemas.openxmlformats.org/officeDocument/2006/relationships/image" Target="../media/image85.png"/><Relationship Id="rId6" Type="http://schemas.openxmlformats.org/officeDocument/2006/relationships/image" Target="../media/image74.png"/><Relationship Id="rId7" Type="http://schemas.openxmlformats.org/officeDocument/2006/relationships/image" Target="../media/image67.png"/><Relationship Id="rId8" Type="http://schemas.openxmlformats.org/officeDocument/2006/relationships/image" Target="../media/image7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0.png"/><Relationship Id="rId4" Type="http://schemas.openxmlformats.org/officeDocument/2006/relationships/image" Target="../media/image77.png"/><Relationship Id="rId9" Type="http://schemas.openxmlformats.org/officeDocument/2006/relationships/image" Target="../media/image13.png"/><Relationship Id="rId5" Type="http://schemas.openxmlformats.org/officeDocument/2006/relationships/image" Target="../media/image86.png"/><Relationship Id="rId6" Type="http://schemas.openxmlformats.org/officeDocument/2006/relationships/image" Target="../media/image71.png"/><Relationship Id="rId7" Type="http://schemas.openxmlformats.org/officeDocument/2006/relationships/image" Target="../media/image79.png"/><Relationship Id="rId8" Type="http://schemas.openxmlformats.org/officeDocument/2006/relationships/image" Target="../media/image7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0.png"/><Relationship Id="rId4" Type="http://schemas.openxmlformats.org/officeDocument/2006/relationships/image" Target="../media/image92.png"/><Relationship Id="rId5" Type="http://schemas.openxmlformats.org/officeDocument/2006/relationships/image" Target="../media/image87.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0.png"/><Relationship Id="rId4" Type="http://schemas.openxmlformats.org/officeDocument/2006/relationships/image" Target="../media/image95.png"/><Relationship Id="rId5" Type="http://schemas.openxmlformats.org/officeDocument/2006/relationships/image" Target="../media/image97.png"/><Relationship Id="rId6" Type="http://schemas.openxmlformats.org/officeDocument/2006/relationships/image" Target="../media/image96.png"/><Relationship Id="rId7"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0.png"/><Relationship Id="rId4" Type="http://schemas.openxmlformats.org/officeDocument/2006/relationships/image" Target="../media/image84.png"/><Relationship Id="rId5" Type="http://schemas.openxmlformats.org/officeDocument/2006/relationships/image" Target="../media/image105.png"/><Relationship Id="rId6" Type="http://schemas.openxmlformats.org/officeDocument/2006/relationships/image" Target="../media/image13.png"/></Relationships>
</file>

<file path=ppt/slides/_rels/slide19.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0.png"/><Relationship Id="rId4" Type="http://schemas.openxmlformats.org/officeDocument/2006/relationships/image" Target="../media/image88.png"/><Relationship Id="rId9" Type="http://schemas.openxmlformats.org/officeDocument/2006/relationships/image" Target="../media/image91.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116.png"/><Relationship Id="rId8" Type="http://schemas.openxmlformats.org/officeDocument/2006/relationships/image" Target="../media/image9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0.png"/><Relationship Id="rId4" Type="http://schemas.openxmlformats.org/officeDocument/2006/relationships/image" Target="../media/image102.png"/><Relationship Id="rId5" Type="http://schemas.openxmlformats.org/officeDocument/2006/relationships/image" Target="../media/image101.png"/><Relationship Id="rId6" Type="http://schemas.openxmlformats.org/officeDocument/2006/relationships/image" Target="../media/image99.png"/><Relationship Id="rId7" Type="http://schemas.openxmlformats.org/officeDocument/2006/relationships/image" Target="../media/image98.png"/><Relationship Id="rId8"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0.png"/><Relationship Id="rId4" Type="http://schemas.openxmlformats.org/officeDocument/2006/relationships/image" Target="../media/image100.png"/><Relationship Id="rId5" Type="http://schemas.openxmlformats.org/officeDocument/2006/relationships/image" Target="../media/image103.png"/><Relationship Id="rId6" Type="http://schemas.openxmlformats.org/officeDocument/2006/relationships/image" Target="../media/image116.png"/><Relationship Id="rId7"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0.png"/><Relationship Id="rId4" Type="http://schemas.openxmlformats.org/officeDocument/2006/relationships/image" Target="../media/image108.png"/><Relationship Id="rId5" Type="http://schemas.openxmlformats.org/officeDocument/2006/relationships/image" Target="../media/image111.png"/><Relationship Id="rId6"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0.png"/><Relationship Id="rId4" Type="http://schemas.openxmlformats.org/officeDocument/2006/relationships/image" Target="../media/image109.png"/><Relationship Id="rId5" Type="http://schemas.openxmlformats.org/officeDocument/2006/relationships/image" Target="../media/image104.png"/><Relationship Id="rId6" Type="http://schemas.openxmlformats.org/officeDocument/2006/relationships/image" Target="../media/image35.png"/><Relationship Id="rId7"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0.png"/><Relationship Id="rId4" Type="http://schemas.openxmlformats.org/officeDocument/2006/relationships/image" Target="../media/image126.png"/><Relationship Id="rId9" Type="http://schemas.openxmlformats.org/officeDocument/2006/relationships/image" Target="../media/image13.png"/><Relationship Id="rId5" Type="http://schemas.openxmlformats.org/officeDocument/2006/relationships/image" Target="../media/image155.png"/><Relationship Id="rId6" Type="http://schemas.openxmlformats.org/officeDocument/2006/relationships/image" Target="../media/image112.png"/><Relationship Id="rId7" Type="http://schemas.openxmlformats.org/officeDocument/2006/relationships/image" Target="../media/image32.png"/><Relationship Id="rId8" Type="http://schemas.openxmlformats.org/officeDocument/2006/relationships/image" Target="../media/image107.png"/></Relationships>
</file>

<file path=ppt/slides/_rels/slide26.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21.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0.png"/><Relationship Id="rId4" Type="http://schemas.openxmlformats.org/officeDocument/2006/relationships/image" Target="../media/image114.png"/><Relationship Id="rId9" Type="http://schemas.openxmlformats.org/officeDocument/2006/relationships/image" Target="../media/image94.png"/><Relationship Id="rId5" Type="http://schemas.openxmlformats.org/officeDocument/2006/relationships/image" Target="../media/image123.png"/><Relationship Id="rId6" Type="http://schemas.openxmlformats.org/officeDocument/2006/relationships/image" Target="../media/image115.png"/><Relationship Id="rId7" Type="http://schemas.openxmlformats.org/officeDocument/2006/relationships/image" Target="../media/image125.png"/><Relationship Id="rId8"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0.png"/><Relationship Id="rId4" Type="http://schemas.openxmlformats.org/officeDocument/2006/relationships/image" Target="../media/image124.png"/><Relationship Id="rId5" Type="http://schemas.openxmlformats.org/officeDocument/2006/relationships/image" Target="../media/image87.png"/><Relationship Id="rId6"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0.png"/><Relationship Id="rId4" Type="http://schemas.openxmlformats.org/officeDocument/2006/relationships/image" Target="../media/image127.png"/><Relationship Id="rId5" Type="http://schemas.openxmlformats.org/officeDocument/2006/relationships/image" Target="../media/image119.png"/><Relationship Id="rId6" Type="http://schemas.openxmlformats.org/officeDocument/2006/relationships/image" Target="../media/image128.png"/><Relationship Id="rId7"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0.png"/><Relationship Id="rId4" Type="http://schemas.openxmlformats.org/officeDocument/2006/relationships/image" Target="../media/image131.png"/><Relationship Id="rId5" Type="http://schemas.openxmlformats.org/officeDocument/2006/relationships/image" Target="../media/image130.png"/><Relationship Id="rId6" Type="http://schemas.openxmlformats.org/officeDocument/2006/relationships/image" Target="../media/image218.png"/><Relationship Id="rId7"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0.png"/><Relationship Id="rId4" Type="http://schemas.openxmlformats.org/officeDocument/2006/relationships/image" Target="../media/image133.png"/><Relationship Id="rId5"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0.png"/><Relationship Id="rId4" Type="http://schemas.openxmlformats.org/officeDocument/2006/relationships/image" Target="../media/image77.png"/><Relationship Id="rId5" Type="http://schemas.openxmlformats.org/officeDocument/2006/relationships/image" Target="../media/image84.png"/><Relationship Id="rId6" Type="http://schemas.openxmlformats.org/officeDocument/2006/relationships/image" Target="../media/image139.png"/><Relationship Id="rId7" Type="http://schemas.openxmlformats.org/officeDocument/2006/relationships/image" Target="../media/image18.png"/><Relationship Id="rId8"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1.png"/><Relationship Id="rId4" Type="http://schemas.openxmlformats.org/officeDocument/2006/relationships/image" Target="../media/image134.png"/><Relationship Id="rId5" Type="http://schemas.openxmlformats.org/officeDocument/2006/relationships/image" Target="../media/image136.png"/><Relationship Id="rId6"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0.png"/><Relationship Id="rId4" Type="http://schemas.openxmlformats.org/officeDocument/2006/relationships/image" Target="../media/image138.png"/><Relationship Id="rId5" Type="http://schemas.openxmlformats.org/officeDocument/2006/relationships/image" Target="../media/image142.png"/><Relationship Id="rId6" Type="http://schemas.openxmlformats.org/officeDocument/2006/relationships/image" Target="../media/image140.png"/><Relationship Id="rId7"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143.png"/><Relationship Id="rId5" Type="http://schemas.openxmlformats.org/officeDocument/2006/relationships/image" Target="../media/image137.png"/><Relationship Id="rId6" Type="http://schemas.openxmlformats.org/officeDocument/2006/relationships/image" Target="../media/image147.png"/><Relationship Id="rId7"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45.png"/><Relationship Id="rId9" Type="http://schemas.openxmlformats.org/officeDocument/2006/relationships/image" Target="../media/image13.png"/><Relationship Id="rId5" Type="http://schemas.openxmlformats.org/officeDocument/2006/relationships/image" Target="../media/image150.png"/><Relationship Id="rId6" Type="http://schemas.openxmlformats.org/officeDocument/2006/relationships/image" Target="../media/image149.png"/><Relationship Id="rId7" Type="http://schemas.openxmlformats.org/officeDocument/2006/relationships/image" Target="../media/image146.png"/><Relationship Id="rId8" Type="http://schemas.openxmlformats.org/officeDocument/2006/relationships/image" Target="../media/image1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151.png"/><Relationship Id="rId5" Type="http://schemas.openxmlformats.org/officeDocument/2006/relationships/image" Target="../media/image158.png"/><Relationship Id="rId6" Type="http://schemas.openxmlformats.org/officeDocument/2006/relationships/image" Target="../media/image13.png"/></Relationships>
</file>

<file path=ppt/slides/_rels/slide37.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image" Target="../media/image152.png"/><Relationship Id="rId9" Type="http://schemas.openxmlformats.org/officeDocument/2006/relationships/image" Target="../media/image156.png"/><Relationship Id="rId5" Type="http://schemas.openxmlformats.org/officeDocument/2006/relationships/image" Target="../media/image159.png"/><Relationship Id="rId6" Type="http://schemas.openxmlformats.org/officeDocument/2006/relationships/image" Target="../media/image237.png"/><Relationship Id="rId7" Type="http://schemas.openxmlformats.org/officeDocument/2006/relationships/image" Target="../media/image153.png"/><Relationship Id="rId8" Type="http://schemas.openxmlformats.org/officeDocument/2006/relationships/image" Target="../media/image16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 Id="rId4" Type="http://schemas.openxmlformats.org/officeDocument/2006/relationships/image" Target="../media/image167.png"/><Relationship Id="rId5" Type="http://schemas.openxmlformats.org/officeDocument/2006/relationships/image" Target="../media/image157.png"/><Relationship Id="rId6" Type="http://schemas.openxmlformats.org/officeDocument/2006/relationships/image" Target="../media/image160.png"/><Relationship Id="rId7" Type="http://schemas.openxmlformats.org/officeDocument/2006/relationships/image" Target="../media/image154.png"/><Relationship Id="rId8"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164.png"/><Relationship Id="rId5" Type="http://schemas.openxmlformats.org/officeDocument/2006/relationships/image" Target="../media/image172.png"/><Relationship Id="rId6" Type="http://schemas.openxmlformats.org/officeDocument/2006/relationships/image" Target="../media/image166.png"/><Relationship Id="rId7" Type="http://schemas.openxmlformats.org/officeDocument/2006/relationships/image" Target="../media/image169.png"/><Relationship Id="rId8"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161.png"/><Relationship Id="rId5" Type="http://schemas.openxmlformats.org/officeDocument/2006/relationships/image" Target="../media/image163.png"/><Relationship Id="rId6" Type="http://schemas.openxmlformats.org/officeDocument/2006/relationships/image" Target="../media/image170.png"/><Relationship Id="rId7" Type="http://schemas.openxmlformats.org/officeDocument/2006/relationships/image" Target="../media/image153.png"/><Relationship Id="rId8"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209.png"/><Relationship Id="rId5" Type="http://schemas.openxmlformats.org/officeDocument/2006/relationships/image" Target="../media/image171.png"/><Relationship Id="rId6" Type="http://schemas.openxmlformats.org/officeDocument/2006/relationships/image" Target="../media/image168.png"/><Relationship Id="rId7"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202.png"/><Relationship Id="rId5" Type="http://schemas.openxmlformats.org/officeDocument/2006/relationships/image" Target="../media/image179.png"/><Relationship Id="rId6"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178.png"/><Relationship Id="rId5" Type="http://schemas.openxmlformats.org/officeDocument/2006/relationships/image" Target="../media/image177.png"/><Relationship Id="rId6"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182.png"/><Relationship Id="rId5" Type="http://schemas.openxmlformats.org/officeDocument/2006/relationships/image" Target="../media/image173.png"/><Relationship Id="rId6" Type="http://schemas.openxmlformats.org/officeDocument/2006/relationships/image" Target="../media/image174.png"/><Relationship Id="rId7" Type="http://schemas.openxmlformats.org/officeDocument/2006/relationships/image" Target="../media/image180.png"/><Relationship Id="rId8"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184.png"/><Relationship Id="rId9" Type="http://schemas.openxmlformats.org/officeDocument/2006/relationships/image" Target="../media/image13.png"/><Relationship Id="rId5" Type="http://schemas.openxmlformats.org/officeDocument/2006/relationships/image" Target="../media/image151.png"/><Relationship Id="rId6" Type="http://schemas.openxmlformats.org/officeDocument/2006/relationships/image" Target="../media/image183.png"/><Relationship Id="rId7" Type="http://schemas.openxmlformats.org/officeDocument/2006/relationships/image" Target="../media/image153.png"/><Relationship Id="rId8" Type="http://schemas.openxmlformats.org/officeDocument/2006/relationships/image" Target="../media/image17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2.png"/><Relationship Id="rId4" Type="http://schemas.openxmlformats.org/officeDocument/2006/relationships/image" Target="../media/image224.png"/><Relationship Id="rId5" Type="http://schemas.openxmlformats.org/officeDocument/2006/relationships/image" Target="../media/image185.png"/><Relationship Id="rId6" Type="http://schemas.openxmlformats.org/officeDocument/2006/relationships/image" Target="../media/image194.png"/><Relationship Id="rId7" Type="http://schemas.openxmlformats.org/officeDocument/2006/relationships/image" Target="../media/image188.png"/><Relationship Id="rId8"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png"/><Relationship Id="rId4" Type="http://schemas.openxmlformats.org/officeDocument/2006/relationships/image" Target="../media/image186.png"/><Relationship Id="rId5" Type="http://schemas.openxmlformats.org/officeDocument/2006/relationships/image" Target="../media/image190.png"/><Relationship Id="rId6" Type="http://schemas.openxmlformats.org/officeDocument/2006/relationships/image" Target="../media/image187.png"/><Relationship Id="rId7"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2.png"/><Relationship Id="rId4" Type="http://schemas.openxmlformats.org/officeDocument/2006/relationships/image" Target="../media/image192.png"/><Relationship Id="rId5" Type="http://schemas.openxmlformats.org/officeDocument/2006/relationships/image" Target="../media/image208.png"/><Relationship Id="rId6" Type="http://schemas.openxmlformats.org/officeDocument/2006/relationships/image" Target="../media/image189.png"/><Relationship Id="rId7" Type="http://schemas.openxmlformats.org/officeDocument/2006/relationships/image" Target="../media/image153.png"/><Relationship Id="rId8" Type="http://schemas.openxmlformats.org/officeDocument/2006/relationships/image" Target="../media/image13.png"/></Relationships>
</file>

<file path=ppt/slides/_rels/slide49.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193.png"/><Relationship Id="rId9" Type="http://schemas.openxmlformats.org/officeDocument/2006/relationships/image" Target="../media/image197.png"/><Relationship Id="rId5" Type="http://schemas.openxmlformats.org/officeDocument/2006/relationships/image" Target="../media/image195.png"/><Relationship Id="rId6" Type="http://schemas.openxmlformats.org/officeDocument/2006/relationships/image" Target="../media/image207.png"/><Relationship Id="rId7" Type="http://schemas.openxmlformats.org/officeDocument/2006/relationships/image" Target="../media/image196.png"/><Relationship Id="rId8" Type="http://schemas.openxmlformats.org/officeDocument/2006/relationships/image" Target="../media/image1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2.png"/><Relationship Id="rId4" Type="http://schemas.openxmlformats.org/officeDocument/2006/relationships/image" Target="../media/image205.png"/><Relationship Id="rId5" Type="http://schemas.openxmlformats.org/officeDocument/2006/relationships/image" Target="../media/image201.png"/><Relationship Id="rId6" Type="http://schemas.openxmlformats.org/officeDocument/2006/relationships/image" Target="../media/image236.png"/><Relationship Id="rId7"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2.png"/><Relationship Id="rId4" Type="http://schemas.openxmlformats.org/officeDocument/2006/relationships/image" Target="../media/image224.png"/><Relationship Id="rId5" Type="http://schemas.openxmlformats.org/officeDocument/2006/relationships/image" Target="../media/image200.png"/><Relationship Id="rId6" Type="http://schemas.openxmlformats.org/officeDocument/2006/relationships/image" Target="../media/image203.png"/><Relationship Id="rId7"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2.png"/><Relationship Id="rId4" Type="http://schemas.openxmlformats.org/officeDocument/2006/relationships/image" Target="../media/image206.png"/><Relationship Id="rId5" Type="http://schemas.openxmlformats.org/officeDocument/2006/relationships/image" Target="../media/image214.png"/><Relationship Id="rId6" Type="http://schemas.openxmlformats.org/officeDocument/2006/relationships/image" Target="../media/image204.png"/><Relationship Id="rId7" Type="http://schemas.openxmlformats.org/officeDocument/2006/relationships/image" Target="../media/image13.png"/></Relationships>
</file>

<file path=ppt/slides/_rels/slide53.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217.png"/><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2.png"/><Relationship Id="rId4" Type="http://schemas.openxmlformats.org/officeDocument/2006/relationships/image" Target="../media/image205.png"/><Relationship Id="rId9" Type="http://schemas.openxmlformats.org/officeDocument/2006/relationships/image" Target="../media/image226.png"/><Relationship Id="rId5" Type="http://schemas.openxmlformats.org/officeDocument/2006/relationships/image" Target="../media/image215.png"/><Relationship Id="rId6" Type="http://schemas.openxmlformats.org/officeDocument/2006/relationships/image" Target="../media/image210.png"/><Relationship Id="rId7" Type="http://schemas.openxmlformats.org/officeDocument/2006/relationships/image" Target="../media/image212.png"/><Relationship Id="rId8" Type="http://schemas.openxmlformats.org/officeDocument/2006/relationships/image" Target="../media/image173.png"/></Relationships>
</file>

<file path=ppt/slides/_rels/slide54.xml.rels><?xml version="1.0" encoding="UTF-8" standalone="yes"?><Relationships xmlns="http://schemas.openxmlformats.org/package/2006/relationships"><Relationship Id="rId11" Type="http://schemas.openxmlformats.org/officeDocument/2006/relationships/image" Target="../media/image225.png"/><Relationship Id="rId10" Type="http://schemas.openxmlformats.org/officeDocument/2006/relationships/image" Target="../media/image219.png"/><Relationship Id="rId13" Type="http://schemas.openxmlformats.org/officeDocument/2006/relationships/image" Target="../media/image13.png"/><Relationship Id="rId12" Type="http://schemas.openxmlformats.org/officeDocument/2006/relationships/image" Target="../media/image228.png"/><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image" Target="../media/image216.png"/><Relationship Id="rId9" Type="http://schemas.openxmlformats.org/officeDocument/2006/relationships/image" Target="../media/image221.png"/><Relationship Id="rId5" Type="http://schemas.openxmlformats.org/officeDocument/2006/relationships/image" Target="../media/image220.png"/><Relationship Id="rId6" Type="http://schemas.openxmlformats.org/officeDocument/2006/relationships/image" Target="../media/image233.png"/><Relationship Id="rId7" Type="http://schemas.openxmlformats.org/officeDocument/2006/relationships/image" Target="../media/image223.png"/><Relationship Id="rId8" Type="http://schemas.openxmlformats.org/officeDocument/2006/relationships/image" Target="../media/image235.png"/></Relationships>
</file>

<file path=ppt/slides/_rels/slide55.xml.rels><?xml version="1.0" encoding="UTF-8" standalone="yes"?><Relationships xmlns="http://schemas.openxmlformats.org/package/2006/relationships"><Relationship Id="rId11" Type="http://schemas.openxmlformats.org/officeDocument/2006/relationships/image" Target="../media/image239.png"/><Relationship Id="rId10" Type="http://schemas.openxmlformats.org/officeDocument/2006/relationships/image" Target="../media/image243.pn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2.png"/><Relationship Id="rId4" Type="http://schemas.openxmlformats.org/officeDocument/2006/relationships/image" Target="../media/image230.png"/><Relationship Id="rId9" Type="http://schemas.openxmlformats.org/officeDocument/2006/relationships/image" Target="../media/image232.png"/><Relationship Id="rId5" Type="http://schemas.openxmlformats.org/officeDocument/2006/relationships/image" Target="../media/image231.png"/><Relationship Id="rId6" Type="http://schemas.openxmlformats.org/officeDocument/2006/relationships/image" Target="../media/image240.png"/><Relationship Id="rId7" Type="http://schemas.openxmlformats.org/officeDocument/2006/relationships/image" Target="../media/image227.png"/><Relationship Id="rId8" Type="http://schemas.openxmlformats.org/officeDocument/2006/relationships/image" Target="../media/image2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2.png"/><Relationship Id="rId4" Type="http://schemas.openxmlformats.org/officeDocument/2006/relationships/image" Target="../media/image238.png"/><Relationship Id="rId5" Type="http://schemas.openxmlformats.org/officeDocument/2006/relationships/image" Target="../media/image241.png"/><Relationship Id="rId6" Type="http://schemas.openxmlformats.org/officeDocument/2006/relationships/image" Target="../media/image242.png"/><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591050" y="1926133"/>
            <a:ext cx="3009900" cy="409575"/>
          </a:xfrm>
          <a:prstGeom prst="rect">
            <a:avLst/>
          </a:prstGeom>
          <a:noFill/>
          <a:ln>
            <a:noFill/>
          </a:ln>
        </p:spPr>
      </p:pic>
      <p:sp>
        <p:nvSpPr>
          <p:cNvPr id="86" name="Google Shape;86;p13"/>
          <p:cNvSpPr txBox="1"/>
          <p:nvPr/>
        </p:nvSpPr>
        <p:spPr>
          <a:xfrm>
            <a:off x="710326" y="2526208"/>
            <a:ext cx="10771346" cy="134094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4800" u="none" cap="none" strike="noStrike">
                <a:solidFill>
                  <a:srgbClr val="F8FAFC"/>
                </a:solidFill>
                <a:latin typeface="Space Grotesk"/>
                <a:ea typeface="Space Grotesk"/>
                <a:cs typeface="Space Grotesk"/>
                <a:sym typeface="Space Grotesk"/>
              </a:rPr>
              <a:t>Session 3.1: Query Transformations</a:t>
            </a:r>
            <a:br>
              <a:rPr b="0" i="0" lang="en-US" sz="1800" u="none" cap="none" strike="noStrike">
                <a:solidFill>
                  <a:schemeClr val="dk1"/>
                </a:solidFill>
                <a:latin typeface="Calibri"/>
                <a:ea typeface="Calibri"/>
                <a:cs typeface="Calibri"/>
                <a:sym typeface="Calibri"/>
              </a:rPr>
            </a:br>
            <a:r>
              <a:rPr b="0" i="0" lang="en-US" sz="4800" u="none" cap="none" strike="noStrike">
                <a:solidFill>
                  <a:srgbClr val="F8FAFC"/>
                </a:solidFill>
                <a:latin typeface="Space Grotesk"/>
                <a:ea typeface="Space Grotesk"/>
                <a:cs typeface="Space Grotesk"/>
                <a:sym typeface="Space Grotesk"/>
              </a:rPr>
              <a:t> &amp; The Limitations of </a:t>
            </a:r>
            <a:r>
              <a:rPr b="0" i="0" lang="en-US" sz="4800" u="none" cap="none" strike="noStrike">
                <a:solidFill>
                  <a:srgbClr val="6366F1"/>
                </a:solidFill>
                <a:latin typeface="Space Grotesk"/>
                <a:ea typeface="Space Grotesk"/>
                <a:cs typeface="Space Grotesk"/>
                <a:sym typeface="Space Grotesk"/>
              </a:rPr>
              <a:t>Naive RAG</a:t>
            </a:r>
            <a:endParaRPr/>
          </a:p>
        </p:txBody>
      </p:sp>
      <p:sp>
        <p:nvSpPr>
          <p:cNvPr id="87" name="Google Shape;87;p13"/>
          <p:cNvSpPr txBox="1"/>
          <p:nvPr/>
        </p:nvSpPr>
        <p:spPr>
          <a:xfrm>
            <a:off x="1809750" y="4200525"/>
            <a:ext cx="85725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Plus Jakarta Sans"/>
                <a:ea typeface="Plus Jakarta Sans"/>
                <a:cs typeface="Plus Jakarta Sans"/>
                <a:sym typeface="Plus Jakarta Sans"/>
              </a:rPr>
              <a:t>Moving from brittle, prompt-dependent retrieval systems to intelligent, resilient AI middleware.</a:t>
            </a:r>
            <a:endParaRPr/>
          </a:p>
        </p:txBody>
      </p:sp>
      <p:pic>
        <p:nvPicPr>
          <p:cNvPr descr="image.png" id="88" name="Google Shape;88;p13"/>
          <p:cNvPicPr preferRelativeResize="0"/>
          <p:nvPr/>
        </p:nvPicPr>
        <p:blipFill rotWithShape="1">
          <a:blip r:embed="rId5">
            <a:alphaModFix/>
          </a:blip>
          <a:srcRect b="0" l="0" r="0" t="0"/>
          <a:stretch/>
        </p:blipFill>
        <p:spPr>
          <a:xfrm>
            <a:off x="4791075" y="2054721"/>
            <a:ext cx="133350" cy="152400"/>
          </a:xfrm>
          <a:prstGeom prst="rect">
            <a:avLst/>
          </a:prstGeom>
          <a:noFill/>
          <a:ln>
            <a:noFill/>
          </a:ln>
        </p:spPr>
      </p:pic>
      <p:pic>
        <p:nvPicPr>
          <p:cNvPr id="89" name="Google Shape;89;p13"/>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771525" y="1147762"/>
            <a:ext cx="5086351" cy="5629275"/>
          </a:xfrm>
          <a:prstGeom prst="rect">
            <a:avLst/>
          </a:prstGeom>
          <a:noFill/>
          <a:ln>
            <a:noFill/>
          </a:ln>
        </p:spPr>
      </p:pic>
      <p:pic>
        <p:nvPicPr>
          <p:cNvPr descr="image.png" id="96" name="Google Shape;96;p14"/>
          <p:cNvPicPr preferRelativeResize="0"/>
          <p:nvPr/>
        </p:nvPicPr>
        <p:blipFill rotWithShape="1">
          <a:blip r:embed="rId5">
            <a:alphaModFix/>
          </a:blip>
          <a:srcRect b="0" l="0" r="0" t="0"/>
          <a:stretch/>
        </p:blipFill>
        <p:spPr>
          <a:xfrm>
            <a:off x="6334125" y="1147762"/>
            <a:ext cx="5086351" cy="5629275"/>
          </a:xfrm>
          <a:prstGeom prst="rect">
            <a:avLst/>
          </a:prstGeom>
          <a:noFill/>
          <a:ln>
            <a:noFill/>
          </a:ln>
        </p:spPr>
      </p:pic>
      <p:pic>
        <p:nvPicPr>
          <p:cNvPr descr="image.png" id="97" name="Google Shape;97;p14"/>
          <p:cNvPicPr preferRelativeResize="0"/>
          <p:nvPr/>
        </p:nvPicPr>
        <p:blipFill rotWithShape="1">
          <a:blip r:embed="rId6">
            <a:alphaModFix/>
          </a:blip>
          <a:srcRect b="0" l="0" r="0" t="0"/>
          <a:stretch/>
        </p:blipFill>
        <p:spPr>
          <a:xfrm>
            <a:off x="771525" y="386590"/>
            <a:ext cx="419100" cy="419100"/>
          </a:xfrm>
          <a:prstGeom prst="rect">
            <a:avLst/>
          </a:prstGeom>
          <a:noFill/>
          <a:ln>
            <a:noFill/>
          </a:ln>
        </p:spPr>
      </p:pic>
      <p:sp>
        <p:nvSpPr>
          <p:cNvPr id="98" name="Google Shape;98;p14"/>
          <p:cNvSpPr txBox="1"/>
          <p:nvPr/>
        </p:nvSpPr>
        <p:spPr>
          <a:xfrm>
            <a:off x="1114425" y="1519237"/>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1. The "Naive RAG" Ceiling</a:t>
            </a:r>
            <a:endParaRPr/>
          </a:p>
        </p:txBody>
      </p:sp>
      <p:sp>
        <p:nvSpPr>
          <p:cNvPr id="99" name="Google Shape;99;p14"/>
          <p:cNvSpPr txBox="1"/>
          <p:nvPr/>
        </p:nvSpPr>
        <p:spPr>
          <a:xfrm>
            <a:off x="1114425" y="2005012"/>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Understanding the "Garbage In, Garbage Out" rule of Cosine Similarity and the catastrophic failures of basic RAG.</a:t>
            </a:r>
            <a:endParaRPr/>
          </a:p>
        </p:txBody>
      </p:sp>
      <p:sp>
        <p:nvSpPr>
          <p:cNvPr id="100" name="Google Shape;100;p14"/>
          <p:cNvSpPr txBox="1"/>
          <p:nvPr/>
        </p:nvSpPr>
        <p:spPr>
          <a:xfrm>
            <a:off x="1114425" y="3205162"/>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2. Query Routing</a:t>
            </a:r>
            <a:endParaRPr/>
          </a:p>
        </p:txBody>
      </p:sp>
      <p:sp>
        <p:nvSpPr>
          <p:cNvPr id="101" name="Google Shape;101;p14"/>
          <p:cNvSpPr txBox="1"/>
          <p:nvPr/>
        </p:nvSpPr>
        <p:spPr>
          <a:xfrm>
            <a:off x="1114425" y="3690937"/>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Building the "Traffic Cop." Using LLMs to dynamically route user questions to specialized tools (Vector DB vs. Math Calculator).</a:t>
            </a:r>
            <a:endParaRPr/>
          </a:p>
        </p:txBody>
      </p:sp>
      <p:sp>
        <p:nvSpPr>
          <p:cNvPr id="102" name="Google Shape;102;p14"/>
          <p:cNvSpPr txBox="1"/>
          <p:nvPr/>
        </p:nvSpPr>
        <p:spPr>
          <a:xfrm>
            <a:off x="1114425" y="4891087"/>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3. Query Decomposition</a:t>
            </a:r>
            <a:endParaRPr/>
          </a:p>
        </p:txBody>
      </p:sp>
      <p:sp>
        <p:nvSpPr>
          <p:cNvPr id="103" name="Google Shape;103;p14"/>
          <p:cNvSpPr txBox="1"/>
          <p:nvPr/>
        </p:nvSpPr>
        <p:spPr>
          <a:xfrm>
            <a:off x="1114425" y="5376862"/>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Shattering the "Multi-Headed Hydra." Splitting complex queries into parallel vector searches using the MultiQuery Strategy.</a:t>
            </a:r>
            <a:endParaRPr/>
          </a:p>
        </p:txBody>
      </p:sp>
      <p:sp>
        <p:nvSpPr>
          <p:cNvPr id="104" name="Google Shape;104;p14"/>
          <p:cNvSpPr txBox="1"/>
          <p:nvPr/>
        </p:nvSpPr>
        <p:spPr>
          <a:xfrm>
            <a:off x="6677025" y="1519237"/>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4. Step-Back Prompting</a:t>
            </a:r>
            <a:endParaRPr/>
          </a:p>
        </p:txBody>
      </p:sp>
      <p:sp>
        <p:nvSpPr>
          <p:cNvPr id="105" name="Google Shape;105;p14"/>
          <p:cNvSpPr txBox="1"/>
          <p:nvPr/>
        </p:nvSpPr>
        <p:spPr>
          <a:xfrm>
            <a:off x="6677025" y="2005012"/>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The DeepMind Solution: Retrieving high-level, foundational context for hyper-specific, zoomed-in edge cases.</a:t>
            </a:r>
            <a:endParaRPr/>
          </a:p>
        </p:txBody>
      </p:sp>
      <p:sp>
        <p:nvSpPr>
          <p:cNvPr id="106" name="Google Shape;106;p14"/>
          <p:cNvSpPr txBox="1"/>
          <p:nvPr/>
        </p:nvSpPr>
        <p:spPr>
          <a:xfrm>
            <a:off x="6677025" y="3205162"/>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5. HyDE Architecture</a:t>
            </a:r>
            <a:endParaRPr/>
          </a:p>
        </p:txBody>
      </p:sp>
      <p:sp>
        <p:nvSpPr>
          <p:cNvPr id="107" name="Google Shape;107;p14"/>
          <p:cNvSpPr txBox="1"/>
          <p:nvPr/>
        </p:nvSpPr>
        <p:spPr>
          <a:xfrm>
            <a:off x="6677025" y="3690925"/>
            <a:ext cx="45360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Hypothetical Document Embeddings: Weaponizing hallucination to bridge the semantic gap, and assessing its risks in strict pipelines.</a:t>
            </a:r>
            <a:endParaRPr/>
          </a:p>
        </p:txBody>
      </p:sp>
      <p:sp>
        <p:nvSpPr>
          <p:cNvPr id="108" name="Google Shape;108;p14"/>
          <p:cNvSpPr txBox="1"/>
          <p:nvPr/>
        </p:nvSpPr>
        <p:spPr>
          <a:xfrm>
            <a:off x="6677025" y="4891087"/>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6. Masterclass Lab</a:t>
            </a:r>
            <a:endParaRPr/>
          </a:p>
        </p:txBody>
      </p:sp>
      <p:sp>
        <p:nvSpPr>
          <p:cNvPr id="109" name="Google Shape;109;p14"/>
          <p:cNvSpPr txBox="1"/>
          <p:nvPr/>
        </p:nvSpPr>
        <p:spPr>
          <a:xfrm>
            <a:off x="6677025" y="5376862"/>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Upgrading our standard LCEL chain with RunnableBranch to deploy advanced middleware transformations.</a:t>
            </a:r>
            <a:endParaRPr/>
          </a:p>
        </p:txBody>
      </p:sp>
      <p:sp>
        <p:nvSpPr>
          <p:cNvPr id="110" name="Google Shape;110;p14"/>
          <p:cNvSpPr txBox="1"/>
          <p:nvPr/>
        </p:nvSpPr>
        <p:spPr>
          <a:xfrm>
            <a:off x="1333500" y="329440"/>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Session </a:t>
            </a:r>
            <a:r>
              <a:rPr b="0" i="0" lang="en-US" sz="3300" u="none" cap="none" strike="noStrike">
                <a:solidFill>
                  <a:srgbClr val="14B8A6"/>
                </a:solidFill>
                <a:latin typeface="Space Grotesk"/>
                <a:ea typeface="Space Grotesk"/>
                <a:cs typeface="Space Grotesk"/>
                <a:sym typeface="Space Grotesk"/>
              </a:rPr>
              <a:t>Agenda</a:t>
            </a:r>
            <a:endParaRPr/>
          </a:p>
        </p:txBody>
      </p:sp>
      <p:sp>
        <p:nvSpPr>
          <p:cNvPr id="111" name="Google Shape;111;p14"/>
          <p:cNvSpPr/>
          <p:nvPr/>
        </p:nvSpPr>
        <p:spPr>
          <a:xfrm>
            <a:off x="771525" y="757237"/>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2" name="Google Shape;112;p14"/>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771525" y="3049934"/>
            <a:ext cx="5133975" cy="1916162"/>
          </a:xfrm>
          <a:prstGeom prst="rect">
            <a:avLst/>
          </a:prstGeom>
          <a:noFill/>
          <a:ln>
            <a:noFill/>
          </a:ln>
        </p:spPr>
      </p:pic>
      <p:pic>
        <p:nvPicPr>
          <p:cNvPr descr="image.png" id="119" name="Google Shape;119;p15"/>
          <p:cNvPicPr preferRelativeResize="0"/>
          <p:nvPr/>
        </p:nvPicPr>
        <p:blipFill rotWithShape="1">
          <a:blip r:embed="rId5">
            <a:alphaModFix/>
          </a:blip>
          <a:srcRect b="0" l="0" r="0" t="0"/>
          <a:stretch/>
        </p:blipFill>
        <p:spPr>
          <a:xfrm>
            <a:off x="6286500" y="3049934"/>
            <a:ext cx="5133975" cy="1916162"/>
          </a:xfrm>
          <a:prstGeom prst="rect">
            <a:avLst/>
          </a:prstGeom>
          <a:noFill/>
          <a:ln>
            <a:noFill/>
          </a:ln>
        </p:spPr>
      </p:pic>
      <p:sp>
        <p:nvSpPr>
          <p:cNvPr id="120" name="Google Shape;120;p15"/>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"Naive RAG"</a:t>
            </a:r>
            <a:r>
              <a:rPr b="0" i="0" lang="en-US" sz="3150" u="none" cap="none" strike="noStrike">
                <a:solidFill>
                  <a:srgbClr val="F8FAFC"/>
                </a:solidFill>
                <a:latin typeface="Space Grotesk"/>
                <a:ea typeface="Space Grotesk"/>
                <a:cs typeface="Space Grotesk"/>
                <a:sym typeface="Space Grotesk"/>
              </a:rPr>
              <a:t> Ceiling</a:t>
            </a:r>
            <a:endParaRPr/>
          </a:p>
        </p:txBody>
      </p:sp>
      <p:pic>
        <p:nvPicPr>
          <p:cNvPr descr="image.png" id="121" name="Google Shape;121;p15"/>
          <p:cNvPicPr preferRelativeResize="0"/>
          <p:nvPr/>
        </p:nvPicPr>
        <p:blipFill rotWithShape="1">
          <a:blip r:embed="rId6">
            <a:alphaModFix/>
          </a:blip>
          <a:srcRect b="0" l="0" r="0" t="0"/>
          <a:stretch/>
        </p:blipFill>
        <p:spPr>
          <a:xfrm>
            <a:off x="771525" y="581025"/>
            <a:ext cx="628650" cy="628650"/>
          </a:xfrm>
          <a:prstGeom prst="rect">
            <a:avLst/>
          </a:prstGeom>
          <a:noFill/>
          <a:ln>
            <a:noFill/>
          </a:ln>
        </p:spPr>
      </p:pic>
      <p:sp>
        <p:nvSpPr>
          <p:cNvPr id="122" name="Google Shape;122;p15"/>
          <p:cNvSpPr txBox="1"/>
          <p:nvPr/>
        </p:nvSpPr>
        <p:spPr>
          <a:xfrm>
            <a:off x="771525" y="2042368"/>
            <a:ext cx="106489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 Week 2, we built a fully functional RAG pipeline. When a user asks a perfectly articulated question, the FAISS database retrieves the chunks, the Mega-Prompt grounds the LLM, and Gemini answers flawlessly.</a:t>
            </a:r>
            <a:endParaRPr/>
          </a:p>
        </p:txBody>
      </p:sp>
      <p:sp>
        <p:nvSpPr>
          <p:cNvPr id="123" name="Google Shape;123;p15"/>
          <p:cNvSpPr txBox="1"/>
          <p:nvPr/>
        </p:nvSpPr>
        <p:spPr>
          <a:xfrm>
            <a:off x="771525" y="5394721"/>
            <a:ext cx="106489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A5B4FC"/>
                </a:solidFill>
                <a:latin typeface="Plus Jakarta Sans SemiBold"/>
                <a:ea typeface="Plus Jakarta Sans SemiBold"/>
                <a:cs typeface="Plus Jakarta Sans SemiBold"/>
                <a:sym typeface="Plus Jakarta Sans SemiBold"/>
              </a:rPr>
              <a:t>A robust MLOps pipeline must protect the database from the user.</a:t>
            </a:r>
            <a:endParaRPr/>
          </a:p>
        </p:txBody>
      </p:sp>
      <p:sp>
        <p:nvSpPr>
          <p:cNvPr id="124" name="Google Shape;124;p15"/>
          <p:cNvSpPr txBox="1"/>
          <p:nvPr/>
        </p:nvSpPr>
        <p:spPr>
          <a:xfrm>
            <a:off x="1066800" y="3373784"/>
            <a:ext cx="4770596" cy="314325"/>
          </a:xfrm>
          <a:prstGeom prst="rect">
            <a:avLst/>
          </a:prstGeom>
          <a:noFill/>
          <a:ln>
            <a:noFill/>
          </a:ln>
        </p:spPr>
        <p:txBody>
          <a:bodyPr anchorCtr="0" anchor="t" bIns="0" lIns="21430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Assumption</a:t>
            </a:r>
            <a:endParaRPr/>
          </a:p>
        </p:txBody>
      </p:sp>
      <p:sp>
        <p:nvSpPr>
          <p:cNvPr id="125" name="Google Shape;125;p15"/>
          <p:cNvSpPr txBox="1"/>
          <p:nvPr/>
        </p:nvSpPr>
        <p:spPr>
          <a:xfrm>
            <a:off x="1066800" y="3802409"/>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Naive RAG mathematically assumes that the user will always ask perfectly structured, highly articulate, single-intent questions.</a:t>
            </a:r>
            <a:endParaRPr/>
          </a:p>
        </p:txBody>
      </p:sp>
      <p:sp>
        <p:nvSpPr>
          <p:cNvPr id="126" name="Google Shape;126;p15"/>
          <p:cNvSpPr txBox="1"/>
          <p:nvPr/>
        </p:nvSpPr>
        <p:spPr>
          <a:xfrm>
            <a:off x="6581775" y="3373784"/>
            <a:ext cx="4770596" cy="314325"/>
          </a:xfrm>
          <a:prstGeom prst="rect">
            <a:avLst/>
          </a:prstGeom>
          <a:noFill/>
          <a:ln>
            <a:noFill/>
          </a:ln>
        </p:spPr>
        <p:txBody>
          <a:bodyPr anchorCtr="0" anchor="t" bIns="0" lIns="242875"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Harsh Reality</a:t>
            </a:r>
            <a:endParaRPr/>
          </a:p>
        </p:txBody>
      </p:sp>
      <p:sp>
        <p:nvSpPr>
          <p:cNvPr id="127" name="Google Shape;127;p15"/>
          <p:cNvSpPr txBox="1"/>
          <p:nvPr/>
        </p:nvSpPr>
        <p:spPr>
          <a:xfrm>
            <a:off x="6581775" y="3802409"/>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 the real world, human users are lazy, vague, and chaotic. They do not think about vector embeddings before typing a message.</a:t>
            </a:r>
            <a:endParaRPr/>
          </a:p>
        </p:txBody>
      </p:sp>
      <p:pic>
        <p:nvPicPr>
          <p:cNvPr descr="image.png" id="128" name="Google Shape;128;p15"/>
          <p:cNvPicPr preferRelativeResize="0"/>
          <p:nvPr/>
        </p:nvPicPr>
        <p:blipFill rotWithShape="1">
          <a:blip r:embed="rId7">
            <a:alphaModFix/>
          </a:blip>
          <a:srcRect b="0" l="0" r="0" t="0"/>
          <a:stretch/>
        </p:blipFill>
        <p:spPr>
          <a:xfrm>
            <a:off x="1066800" y="3421409"/>
            <a:ext cx="214312" cy="247650"/>
          </a:xfrm>
          <a:prstGeom prst="rect">
            <a:avLst/>
          </a:prstGeom>
          <a:noFill/>
          <a:ln>
            <a:noFill/>
          </a:ln>
        </p:spPr>
      </p:pic>
      <p:pic>
        <p:nvPicPr>
          <p:cNvPr descr="image.png" id="129" name="Google Shape;129;p15"/>
          <p:cNvPicPr preferRelativeResize="0"/>
          <p:nvPr/>
        </p:nvPicPr>
        <p:blipFill rotWithShape="1">
          <a:blip r:embed="rId8">
            <a:alphaModFix/>
          </a:blip>
          <a:srcRect b="0" l="0" r="0" t="0"/>
          <a:stretch/>
        </p:blipFill>
        <p:spPr>
          <a:xfrm>
            <a:off x="6581775" y="3421409"/>
            <a:ext cx="242887" cy="247650"/>
          </a:xfrm>
          <a:prstGeom prst="rect">
            <a:avLst/>
          </a:prstGeom>
          <a:noFill/>
          <a:ln>
            <a:noFill/>
          </a:ln>
        </p:spPr>
      </p:pic>
      <p:pic>
        <p:nvPicPr>
          <p:cNvPr id="130" name="Google Shape;130;p15"/>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6"/>
          <p:cNvPicPr preferRelativeResize="0"/>
          <p:nvPr/>
        </p:nvPicPr>
        <p:blipFill rotWithShape="1">
          <a:blip r:embed="rId4">
            <a:alphaModFix/>
          </a:blip>
          <a:srcRect b="0" l="0" r="0" t="0"/>
          <a:stretch/>
        </p:blipFill>
        <p:spPr>
          <a:xfrm>
            <a:off x="6286500" y="1792188"/>
            <a:ext cx="5133975" cy="4187874"/>
          </a:xfrm>
          <a:prstGeom prst="rect">
            <a:avLst/>
          </a:prstGeom>
          <a:noFill/>
          <a:ln>
            <a:noFill/>
          </a:ln>
        </p:spPr>
      </p:pic>
      <p:sp>
        <p:nvSpPr>
          <p:cNvPr id="137" name="Google Shape;137;p16"/>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Rule of </a:t>
            </a:r>
            <a:r>
              <a:rPr b="0" i="0" lang="en-US" sz="3150" u="none" cap="none" strike="noStrike">
                <a:solidFill>
                  <a:srgbClr val="14B8A6"/>
                </a:solidFill>
                <a:latin typeface="Space Grotesk"/>
                <a:ea typeface="Space Grotesk"/>
                <a:cs typeface="Space Grotesk"/>
                <a:sym typeface="Space Grotesk"/>
              </a:rPr>
              <a:t>Vector Search</a:t>
            </a:r>
            <a:endParaRPr/>
          </a:p>
        </p:txBody>
      </p:sp>
      <p:pic>
        <p:nvPicPr>
          <p:cNvPr descr="image.png" id="138" name="Google Shape;138;p16"/>
          <p:cNvPicPr preferRelativeResize="0"/>
          <p:nvPr/>
        </p:nvPicPr>
        <p:blipFill rotWithShape="1">
          <a:blip r:embed="rId5">
            <a:alphaModFix/>
          </a:blip>
          <a:srcRect b="0" l="0" r="0" t="0"/>
          <a:stretch/>
        </p:blipFill>
        <p:spPr>
          <a:xfrm>
            <a:off x="771525" y="581025"/>
            <a:ext cx="628650" cy="628650"/>
          </a:xfrm>
          <a:prstGeom prst="rect">
            <a:avLst/>
          </a:prstGeom>
          <a:noFill/>
          <a:ln>
            <a:noFill/>
          </a:ln>
        </p:spPr>
      </p:pic>
      <p:sp>
        <p:nvSpPr>
          <p:cNvPr id="139" name="Google Shape;139;p16"/>
          <p:cNvSpPr txBox="1"/>
          <p:nvPr/>
        </p:nvSpPr>
        <p:spPr>
          <a:xfrm>
            <a:off x="771525" y="1792188"/>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Cosine Similarity is Blind</a:t>
            </a:r>
            <a:endParaRPr/>
          </a:p>
        </p:txBody>
      </p:sp>
      <p:sp>
        <p:nvSpPr>
          <p:cNvPr id="140" name="Google Shape;140;p16"/>
          <p:cNvSpPr txBox="1"/>
          <p:nvPr/>
        </p:nvSpPr>
        <p:spPr>
          <a:xfrm>
            <a:off x="771525" y="2220813"/>
            <a:ext cx="513397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 Session 2.1, we established that FAISS relies on Cosine Similarity. It translates a prompt into a 768-dimensional vector and searches for the closest neighborhood.</a:t>
            </a:r>
            <a:endParaRPr/>
          </a:p>
        </p:txBody>
      </p:sp>
      <p:sp>
        <p:nvSpPr>
          <p:cNvPr id="141" name="Google Shape;141;p16"/>
          <p:cNvSpPr/>
          <p:nvPr/>
        </p:nvSpPr>
        <p:spPr>
          <a:xfrm>
            <a:off x="771525" y="3279725"/>
            <a:ext cx="5133975" cy="1266825"/>
          </a:xfrm>
          <a:prstGeom prst="rect">
            <a:avLst/>
          </a:prstGeom>
          <a:solidFill>
            <a:srgbClr val="0206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6"/>
          <p:cNvSpPr txBox="1"/>
          <p:nvPr/>
        </p:nvSpPr>
        <p:spPr>
          <a:xfrm>
            <a:off x="962025" y="3470225"/>
            <a:ext cx="4752975" cy="885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A5B4FC"/>
                </a:solidFill>
                <a:latin typeface="Space Grotesk"/>
                <a:ea typeface="Space Grotesk"/>
                <a:cs typeface="Space Grotesk"/>
                <a:sym typeface="Space Grotesk"/>
              </a:rPr>
              <a:t>The Fatal Flaw:</a:t>
            </a:r>
            <a:r>
              <a:rPr b="0" i="0" lang="en-US" sz="1800" u="none" cap="none" strike="noStrike">
                <a:solidFill>
                  <a:srgbClr val="A5B4FC"/>
                </a:solidFill>
                <a:latin typeface="Space Grotesk"/>
                <a:ea typeface="Space Grotesk"/>
                <a:cs typeface="Space Grotesk"/>
                <a:sym typeface="Space Grotesk"/>
              </a:rPr>
              <a:t> Embedding models do not "think." They are purely mathematical algorithms.</a:t>
            </a:r>
            <a:endParaRPr/>
          </a:p>
        </p:txBody>
      </p:sp>
      <p:sp>
        <p:nvSpPr>
          <p:cNvPr id="143" name="Google Shape;143;p16"/>
          <p:cNvSpPr/>
          <p:nvPr/>
        </p:nvSpPr>
        <p:spPr>
          <a:xfrm>
            <a:off x="771525" y="3279725"/>
            <a:ext cx="38100" cy="1266825"/>
          </a:xfrm>
          <a:prstGeom prst="rect">
            <a:avLst/>
          </a:prstGeom>
          <a:solidFill>
            <a:srgbClr val="6366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4" name="Google Shape;144;p16"/>
          <p:cNvPicPr preferRelativeResize="0"/>
          <p:nvPr/>
        </p:nvPicPr>
        <p:blipFill rotWithShape="1">
          <a:blip r:embed="rId6">
            <a:alphaModFix/>
          </a:blip>
          <a:srcRect b="0" l="0" r="0" t="0"/>
          <a:stretch/>
        </p:blipFill>
        <p:spPr>
          <a:xfrm>
            <a:off x="8520112" y="2625030"/>
            <a:ext cx="666750" cy="762000"/>
          </a:xfrm>
          <a:prstGeom prst="rect">
            <a:avLst/>
          </a:prstGeom>
          <a:noFill/>
          <a:ln>
            <a:noFill/>
          </a:ln>
        </p:spPr>
      </p:pic>
      <p:sp>
        <p:nvSpPr>
          <p:cNvPr id="145" name="Google Shape;145;p16"/>
          <p:cNvSpPr txBox="1"/>
          <p:nvPr/>
        </p:nvSpPr>
        <p:spPr>
          <a:xfrm>
            <a:off x="7855862" y="3577530"/>
            <a:ext cx="1995249" cy="762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43F5E"/>
                </a:solidFill>
                <a:latin typeface="Plus Jakarta Sans"/>
                <a:ea typeface="Plus Jakarta Sans"/>
                <a:cs typeface="Plus Jakarta Sans"/>
                <a:sym typeface="Plus Jakarta Sans"/>
              </a:rPr>
              <a:t>Garbage In,</a:t>
            </a:r>
            <a:br>
              <a:rPr b="0" i="0" lang="en-US" sz="1800" u="none" cap="none" strike="noStrike">
                <a:solidFill>
                  <a:schemeClr val="dk1"/>
                </a:solidFill>
                <a:latin typeface="Calibri"/>
                <a:ea typeface="Calibri"/>
                <a:cs typeface="Calibri"/>
                <a:sym typeface="Calibri"/>
              </a:rPr>
            </a:br>
            <a:r>
              <a:rPr b="1" i="0" lang="en-US" sz="2400" u="none" cap="none" strike="noStrike">
                <a:solidFill>
                  <a:srgbClr val="F43F5E"/>
                </a:solidFill>
                <a:latin typeface="Plus Jakarta Sans"/>
                <a:ea typeface="Plus Jakarta Sans"/>
                <a:cs typeface="Plus Jakarta Sans"/>
                <a:sym typeface="Plus Jakarta Sans"/>
              </a:rPr>
              <a:t> Garbage Out</a:t>
            </a:r>
            <a:endParaRPr/>
          </a:p>
        </p:txBody>
      </p:sp>
      <p:sp>
        <p:nvSpPr>
          <p:cNvPr id="146" name="Google Shape;146;p16"/>
          <p:cNvSpPr txBox="1"/>
          <p:nvPr/>
        </p:nvSpPr>
        <p:spPr>
          <a:xfrm>
            <a:off x="6581775" y="4596705"/>
            <a:ext cx="4543425" cy="578941"/>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You cannot fix a bad database query in the final LLM prompt. The data is already lost.</a:t>
            </a:r>
            <a:endParaRPr/>
          </a:p>
        </p:txBody>
      </p:sp>
      <p:sp>
        <p:nvSpPr>
          <p:cNvPr id="147" name="Google Shape;147;p16"/>
          <p:cNvSpPr txBox="1"/>
          <p:nvPr/>
        </p:nvSpPr>
        <p:spPr>
          <a:xfrm>
            <a:off x="1104900" y="4737050"/>
            <a:ext cx="48006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Terrible User Prompt → Terrible Mathematical Vector.</a:t>
            </a:r>
            <a:endParaRPr/>
          </a:p>
        </p:txBody>
      </p:sp>
      <p:sp>
        <p:nvSpPr>
          <p:cNvPr id="148" name="Google Shape;148;p16"/>
          <p:cNvSpPr txBox="1"/>
          <p:nvPr/>
        </p:nvSpPr>
        <p:spPr>
          <a:xfrm>
            <a:off x="1104900" y="5151387"/>
            <a:ext cx="48006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Terrible Vector → FAISS retrieves irrelevant chunks.</a:t>
            </a:r>
            <a:endParaRPr/>
          </a:p>
        </p:txBody>
      </p:sp>
      <p:sp>
        <p:nvSpPr>
          <p:cNvPr id="149" name="Google Shape;149;p16"/>
          <p:cNvSpPr txBox="1"/>
          <p:nvPr/>
        </p:nvSpPr>
        <p:spPr>
          <a:xfrm>
            <a:off x="1104900" y="5565725"/>
            <a:ext cx="48006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Irrelevant Chunks → LLM hallucination or a failed answer.</a:t>
            </a:r>
            <a:endParaRPr/>
          </a:p>
        </p:txBody>
      </p:sp>
      <p:pic>
        <p:nvPicPr>
          <p:cNvPr descr="image.png" id="150" name="Google Shape;150;p16"/>
          <p:cNvPicPr preferRelativeResize="0"/>
          <p:nvPr/>
        </p:nvPicPr>
        <p:blipFill rotWithShape="1">
          <a:blip r:embed="rId7">
            <a:alphaModFix/>
          </a:blip>
          <a:srcRect b="0" l="0" r="0" t="0"/>
          <a:stretch/>
        </p:blipFill>
        <p:spPr>
          <a:xfrm>
            <a:off x="771525" y="4779912"/>
            <a:ext cx="152400" cy="180975"/>
          </a:xfrm>
          <a:prstGeom prst="rect">
            <a:avLst/>
          </a:prstGeom>
          <a:noFill/>
          <a:ln>
            <a:noFill/>
          </a:ln>
        </p:spPr>
      </p:pic>
      <p:pic>
        <p:nvPicPr>
          <p:cNvPr descr="image.png" id="151" name="Google Shape;151;p16"/>
          <p:cNvPicPr preferRelativeResize="0"/>
          <p:nvPr/>
        </p:nvPicPr>
        <p:blipFill rotWithShape="1">
          <a:blip r:embed="rId7">
            <a:alphaModFix/>
          </a:blip>
          <a:srcRect b="0" l="0" r="0" t="0"/>
          <a:stretch/>
        </p:blipFill>
        <p:spPr>
          <a:xfrm>
            <a:off x="771525" y="5194250"/>
            <a:ext cx="152400" cy="180975"/>
          </a:xfrm>
          <a:prstGeom prst="rect">
            <a:avLst/>
          </a:prstGeom>
          <a:noFill/>
          <a:ln>
            <a:noFill/>
          </a:ln>
        </p:spPr>
      </p:pic>
      <p:pic>
        <p:nvPicPr>
          <p:cNvPr descr="image.png" id="152" name="Google Shape;152;p16"/>
          <p:cNvPicPr preferRelativeResize="0"/>
          <p:nvPr/>
        </p:nvPicPr>
        <p:blipFill rotWithShape="1">
          <a:blip r:embed="rId7">
            <a:alphaModFix/>
          </a:blip>
          <a:srcRect b="0" l="0" r="0" t="0"/>
          <a:stretch/>
        </p:blipFill>
        <p:spPr>
          <a:xfrm>
            <a:off x="771525" y="5608587"/>
            <a:ext cx="152400" cy="180975"/>
          </a:xfrm>
          <a:prstGeom prst="rect">
            <a:avLst/>
          </a:prstGeom>
          <a:noFill/>
          <a:ln>
            <a:noFill/>
          </a:ln>
        </p:spPr>
      </p:pic>
      <p:pic>
        <p:nvPicPr>
          <p:cNvPr id="153" name="Google Shape;153;p16"/>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57" name="Shape 157"/>
        <p:cNvGrpSpPr/>
        <p:nvPr/>
      </p:nvGrpSpPr>
      <p:grpSpPr>
        <a:xfrm>
          <a:off x="0" y="0"/>
          <a:ext cx="0" cy="0"/>
          <a:chOff x="0" y="0"/>
          <a:chExt cx="0" cy="0"/>
        </a:xfrm>
      </p:grpSpPr>
      <p:pic>
        <p:nvPicPr>
          <p:cNvPr descr="image.png" id="158" name="Google Shape;158;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9" name="Google Shape;159;p17"/>
          <p:cNvPicPr preferRelativeResize="0"/>
          <p:nvPr/>
        </p:nvPicPr>
        <p:blipFill rotWithShape="1">
          <a:blip r:embed="rId4">
            <a:alphaModFix/>
          </a:blip>
          <a:srcRect b="0" l="0" r="0" t="0"/>
          <a:stretch/>
        </p:blipFill>
        <p:spPr>
          <a:xfrm>
            <a:off x="771525" y="2583060"/>
            <a:ext cx="10648950" cy="3324225"/>
          </a:xfrm>
          <a:prstGeom prst="rect">
            <a:avLst/>
          </a:prstGeom>
          <a:noFill/>
          <a:ln>
            <a:noFill/>
          </a:ln>
        </p:spPr>
      </p:pic>
      <p:pic>
        <p:nvPicPr>
          <p:cNvPr descr="image.png" id="160" name="Google Shape;160;p17"/>
          <p:cNvPicPr preferRelativeResize="0"/>
          <p:nvPr/>
        </p:nvPicPr>
        <p:blipFill rotWithShape="1">
          <a:blip r:embed="rId5">
            <a:alphaModFix/>
          </a:blip>
          <a:srcRect b="0" l="0" r="0" t="0"/>
          <a:stretch/>
        </p:blipFill>
        <p:spPr>
          <a:xfrm>
            <a:off x="8572500" y="2878335"/>
            <a:ext cx="2552700" cy="504825"/>
          </a:xfrm>
          <a:prstGeom prst="rect">
            <a:avLst/>
          </a:prstGeom>
          <a:noFill/>
          <a:ln>
            <a:noFill/>
          </a:ln>
        </p:spPr>
      </p:pic>
      <p:pic>
        <p:nvPicPr>
          <p:cNvPr descr="image.png" id="161" name="Google Shape;161;p17"/>
          <p:cNvPicPr preferRelativeResize="0"/>
          <p:nvPr/>
        </p:nvPicPr>
        <p:blipFill rotWithShape="1">
          <a:blip r:embed="rId6">
            <a:alphaModFix/>
          </a:blip>
          <a:srcRect b="0" l="0" r="0" t="0"/>
          <a:stretch/>
        </p:blipFill>
        <p:spPr>
          <a:xfrm>
            <a:off x="1066800" y="3526035"/>
            <a:ext cx="4829175" cy="504825"/>
          </a:xfrm>
          <a:prstGeom prst="rect">
            <a:avLst/>
          </a:prstGeom>
          <a:noFill/>
          <a:ln>
            <a:noFill/>
          </a:ln>
        </p:spPr>
      </p:pic>
      <p:pic>
        <p:nvPicPr>
          <p:cNvPr descr="image.png" id="162" name="Google Shape;162;p17"/>
          <p:cNvPicPr preferRelativeResize="0"/>
          <p:nvPr/>
        </p:nvPicPr>
        <p:blipFill rotWithShape="1">
          <a:blip r:embed="rId7">
            <a:alphaModFix/>
          </a:blip>
          <a:srcRect b="0" l="0" r="0" t="0"/>
          <a:stretch/>
        </p:blipFill>
        <p:spPr>
          <a:xfrm>
            <a:off x="9401175" y="4316610"/>
            <a:ext cx="1724025" cy="504825"/>
          </a:xfrm>
          <a:prstGeom prst="rect">
            <a:avLst/>
          </a:prstGeom>
          <a:noFill/>
          <a:ln>
            <a:noFill/>
          </a:ln>
        </p:spPr>
      </p:pic>
      <p:sp>
        <p:nvSpPr>
          <p:cNvPr id="163" name="Google Shape;163;p17"/>
          <p:cNvSpPr txBox="1"/>
          <p:nvPr/>
        </p:nvSpPr>
        <p:spPr>
          <a:xfrm>
            <a:off x="1647825" y="581025"/>
            <a:ext cx="10261282"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Failure 1: </a:t>
            </a:r>
            <a:r>
              <a:rPr b="0" i="0" lang="en-US" sz="3150" u="none" cap="none" strike="noStrike">
                <a:solidFill>
                  <a:srgbClr val="14B8A6"/>
                </a:solidFill>
                <a:latin typeface="Space Grotesk"/>
                <a:ea typeface="Space Grotesk"/>
                <a:cs typeface="Space Grotesk"/>
                <a:sym typeface="Space Grotesk"/>
              </a:rPr>
              <a:t>The Pronoun Drop</a:t>
            </a:r>
            <a:endParaRPr/>
          </a:p>
        </p:txBody>
      </p:sp>
      <p:pic>
        <p:nvPicPr>
          <p:cNvPr descr="image.png" id="164" name="Google Shape;164;p17"/>
          <p:cNvPicPr preferRelativeResize="0"/>
          <p:nvPr/>
        </p:nvPicPr>
        <p:blipFill rotWithShape="1">
          <a:blip r:embed="rId8">
            <a:alphaModFix/>
          </a:blip>
          <a:srcRect b="0" l="0" r="0" t="0"/>
          <a:stretch/>
        </p:blipFill>
        <p:spPr>
          <a:xfrm>
            <a:off x="771525" y="581025"/>
            <a:ext cx="733425" cy="628650"/>
          </a:xfrm>
          <a:prstGeom prst="rect">
            <a:avLst/>
          </a:prstGeom>
          <a:noFill/>
          <a:ln>
            <a:noFill/>
          </a:ln>
        </p:spPr>
      </p:pic>
      <p:sp>
        <p:nvSpPr>
          <p:cNvPr id="165" name="Google Shape;165;p17"/>
          <p:cNvSpPr txBox="1"/>
          <p:nvPr/>
        </p:nvSpPr>
        <p:spPr>
          <a:xfrm>
            <a:off x="771525" y="1864965"/>
            <a:ext cx="106489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Users naturally converse with AI as if it were a human with memory. They use conversational vagueness.</a:t>
            </a:r>
            <a:endParaRPr/>
          </a:p>
        </p:txBody>
      </p:sp>
      <p:pic>
        <p:nvPicPr>
          <p:cNvPr descr="image.png" id="166" name="Google Shape;166;p17"/>
          <p:cNvPicPr preferRelativeResize="0"/>
          <p:nvPr/>
        </p:nvPicPr>
        <p:blipFill rotWithShape="1">
          <a:blip r:embed="rId9">
            <a:alphaModFix/>
          </a:blip>
          <a:srcRect b="0" l="0" r="0" t="0"/>
          <a:stretch/>
        </p:blipFill>
        <p:spPr>
          <a:xfrm>
            <a:off x="985216" y="3707010"/>
            <a:ext cx="190500" cy="152400"/>
          </a:xfrm>
          <a:prstGeom prst="rect">
            <a:avLst/>
          </a:prstGeom>
          <a:noFill/>
          <a:ln>
            <a:noFill/>
          </a:ln>
        </p:spPr>
      </p:pic>
      <p:sp>
        <p:nvSpPr>
          <p:cNvPr id="167" name="Google Shape;167;p17"/>
          <p:cNvSpPr txBox="1"/>
          <p:nvPr/>
        </p:nvSpPr>
        <p:spPr>
          <a:xfrm>
            <a:off x="10687050" y="4469010"/>
            <a:ext cx="1047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A5B4FC"/>
                </a:solidFill>
                <a:latin typeface="Plus Jakarta Sans"/>
                <a:ea typeface="Plus Jakarta Sans"/>
                <a:cs typeface="Plus Jakarta Sans"/>
                <a:sym typeface="Plus Jakarta Sans"/>
              </a:rPr>
              <a:t>it</a:t>
            </a:r>
            <a:endParaRPr/>
          </a:p>
        </p:txBody>
      </p:sp>
      <p:pic>
        <p:nvPicPr>
          <p:cNvPr descr="image.png" id="168" name="Google Shape;168;p17"/>
          <p:cNvPicPr preferRelativeResize="0"/>
          <p:nvPr/>
        </p:nvPicPr>
        <p:blipFill rotWithShape="1">
          <a:blip r:embed="rId10">
            <a:alphaModFix/>
          </a:blip>
          <a:srcRect b="0" l="0" r="0" t="0"/>
          <a:stretch/>
        </p:blipFill>
        <p:spPr>
          <a:xfrm>
            <a:off x="1266825" y="5145285"/>
            <a:ext cx="152400" cy="152400"/>
          </a:xfrm>
          <a:prstGeom prst="rect">
            <a:avLst/>
          </a:prstGeom>
          <a:noFill/>
          <a:ln>
            <a:noFill/>
          </a:ln>
        </p:spPr>
      </p:pic>
      <p:sp>
        <p:nvSpPr>
          <p:cNvPr id="169" name="Google Shape;169;p17"/>
          <p:cNvSpPr txBox="1"/>
          <p:nvPr/>
        </p:nvSpPr>
        <p:spPr>
          <a:xfrm>
            <a:off x="1447800" y="5116710"/>
            <a:ext cx="11715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DA4AF"/>
                </a:solidFill>
                <a:latin typeface="Plus Jakarta Sans"/>
                <a:ea typeface="Plus Jakarta Sans"/>
                <a:cs typeface="Plus Jakarta Sans"/>
                <a:sym typeface="Plus Jakarta Sans"/>
              </a:rPr>
              <a:t>SYSTEM CRASH</a:t>
            </a:r>
            <a:endParaRPr/>
          </a:p>
        </p:txBody>
      </p:sp>
      <p:pic>
        <p:nvPicPr>
          <p:cNvPr id="170" name="Google Shape;170;p17"/>
          <p:cNvPicPr preferRelativeResize="0"/>
          <p:nvPr/>
        </p:nvPicPr>
        <p:blipFill>
          <a:blip r:embed="rId11">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74" name="Shape 174"/>
        <p:cNvGrpSpPr/>
        <p:nvPr/>
      </p:nvGrpSpPr>
      <p:grpSpPr>
        <a:xfrm>
          <a:off x="0" y="0"/>
          <a:ext cx="0" cy="0"/>
          <a:chOff x="0" y="0"/>
          <a:chExt cx="0" cy="0"/>
        </a:xfrm>
      </p:grpSpPr>
      <p:pic>
        <p:nvPicPr>
          <p:cNvPr descr="image.png" id="175" name="Google Shape;17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6" name="Google Shape;176;p18"/>
          <p:cNvPicPr preferRelativeResize="0"/>
          <p:nvPr/>
        </p:nvPicPr>
        <p:blipFill rotWithShape="1">
          <a:blip r:embed="rId4">
            <a:alphaModFix/>
          </a:blip>
          <a:srcRect b="0" l="0" r="0" t="0"/>
          <a:stretch/>
        </p:blipFill>
        <p:spPr>
          <a:xfrm>
            <a:off x="771525" y="2408932"/>
            <a:ext cx="5133975" cy="2954387"/>
          </a:xfrm>
          <a:prstGeom prst="rect">
            <a:avLst/>
          </a:prstGeom>
          <a:noFill/>
          <a:ln>
            <a:noFill/>
          </a:ln>
        </p:spPr>
      </p:pic>
      <p:sp>
        <p:nvSpPr>
          <p:cNvPr id="177" name="Google Shape;177;p18"/>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Why The </a:t>
            </a:r>
            <a:r>
              <a:rPr b="0" i="0" lang="en-US" sz="3150" u="none" cap="none" strike="noStrike">
                <a:solidFill>
                  <a:srgbClr val="14B8A6"/>
                </a:solidFill>
                <a:latin typeface="Space Grotesk"/>
                <a:ea typeface="Space Grotesk"/>
                <a:cs typeface="Space Grotesk"/>
                <a:sym typeface="Space Grotesk"/>
              </a:rPr>
              <a:t>Pronoun Drop</a:t>
            </a:r>
            <a:r>
              <a:rPr b="0" i="0" lang="en-US" sz="3150" u="none" cap="none" strike="noStrike">
                <a:solidFill>
                  <a:srgbClr val="F8FAFC"/>
                </a:solidFill>
                <a:latin typeface="Space Grotesk"/>
                <a:ea typeface="Space Grotesk"/>
                <a:cs typeface="Space Grotesk"/>
                <a:sym typeface="Space Grotesk"/>
              </a:rPr>
              <a:t> Fails</a:t>
            </a:r>
            <a:endParaRPr/>
          </a:p>
        </p:txBody>
      </p:sp>
      <p:pic>
        <p:nvPicPr>
          <p:cNvPr descr="image.png" id="178" name="Google Shape;178;p18"/>
          <p:cNvPicPr preferRelativeResize="0"/>
          <p:nvPr/>
        </p:nvPicPr>
        <p:blipFill rotWithShape="1">
          <a:blip r:embed="rId5">
            <a:alphaModFix/>
          </a:blip>
          <a:srcRect b="0" l="0" r="0" t="0"/>
          <a:stretch/>
        </p:blipFill>
        <p:spPr>
          <a:xfrm>
            <a:off x="771525" y="581025"/>
            <a:ext cx="628650" cy="628650"/>
          </a:xfrm>
          <a:prstGeom prst="rect">
            <a:avLst/>
          </a:prstGeom>
          <a:noFill/>
          <a:ln>
            <a:noFill/>
          </a:ln>
        </p:spPr>
      </p:pic>
      <p:sp>
        <p:nvSpPr>
          <p:cNvPr id="179" name="Google Shape;179;p18"/>
          <p:cNvSpPr txBox="1"/>
          <p:nvPr/>
        </p:nvSpPr>
        <p:spPr>
          <a:xfrm>
            <a:off x="1066800" y="2732782"/>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Vector Mechanics</a:t>
            </a:r>
            <a:endParaRPr/>
          </a:p>
        </p:txBody>
      </p:sp>
      <p:sp>
        <p:nvSpPr>
          <p:cNvPr id="180" name="Google Shape;180;p18"/>
          <p:cNvSpPr txBox="1"/>
          <p:nvPr/>
        </p:nvSpPr>
        <p:spPr>
          <a:xfrm>
            <a:off x="1066800" y="3161407"/>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user assumes the AI remembers the OCR context. However, </a:t>
            </a:r>
            <a:r>
              <a:rPr b="1" i="0" lang="en-US" sz="1425" u="none" cap="none" strike="noStrike">
                <a:solidFill>
                  <a:srgbClr val="CBD5E1"/>
                </a:solidFill>
                <a:latin typeface="Plus Jakarta Sans"/>
                <a:ea typeface="Plus Jakarta Sans"/>
                <a:cs typeface="Plus Jakarta Sans"/>
                <a:sym typeface="Plus Jakarta Sans"/>
              </a:rPr>
              <a:t>FAISS does not have memory.</a:t>
            </a:r>
            <a:endParaRPr/>
          </a:p>
        </p:txBody>
      </p:sp>
      <p:sp>
        <p:nvSpPr>
          <p:cNvPr id="181" name="Google Shape;181;p18"/>
          <p:cNvSpPr txBox="1"/>
          <p:nvPr/>
        </p:nvSpPr>
        <p:spPr>
          <a:xfrm>
            <a:off x="1066800" y="3883223"/>
            <a:ext cx="4543425" cy="592335"/>
          </a:xfrm>
          <a:prstGeom prst="rect">
            <a:avLst/>
          </a:prstGeom>
          <a:noFill/>
          <a:ln>
            <a:noFill/>
          </a:ln>
        </p:spPr>
        <p:txBody>
          <a:bodyPr anchorCtr="0" anchor="t" bIns="0" lIns="0" spcFirstLastPara="1" rIns="0" wrap="square" tIns="0">
            <a:spAutoFit/>
          </a:bodyPr>
          <a:lstStyle/>
          <a:p>
            <a:pPr indent="0" lvl="0" marL="0" marR="0" rtl="0" algn="l">
              <a:lnSpc>
                <a:spcPct val="126611"/>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pipeline blindly embeds the literal string: </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FDA4AF"/>
                </a:solidFill>
                <a:latin typeface="Plus Jakarta Sans"/>
                <a:ea typeface="Plus Jakarta Sans"/>
                <a:cs typeface="Plus Jakarta Sans"/>
                <a:sym typeface="Plus Jakarta Sans"/>
              </a:rPr>
              <a:t>"How do we fix it?"</a:t>
            </a:r>
            <a:endParaRPr/>
          </a:p>
        </p:txBody>
      </p:sp>
      <p:sp>
        <p:nvSpPr>
          <p:cNvPr id="182" name="Google Shape;182;p18"/>
          <p:cNvSpPr txBox="1"/>
          <p:nvPr/>
        </p:nvSpPr>
        <p:spPr>
          <a:xfrm>
            <a:off x="6286500" y="2408932"/>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Mathematical Result</a:t>
            </a:r>
            <a:endParaRPr/>
          </a:p>
        </p:txBody>
      </p:sp>
      <p:sp>
        <p:nvSpPr>
          <p:cNvPr id="183" name="Google Shape;183;p18"/>
          <p:cNvSpPr txBox="1"/>
          <p:nvPr/>
        </p:nvSpPr>
        <p:spPr>
          <a:xfrm>
            <a:off x="6286500" y="2837557"/>
            <a:ext cx="513397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Because the isolated string contains zero keywords related to "OCR," "documents," or "PDFs," the Cosine Similarity math goes rogue.</a:t>
            </a:r>
            <a:endParaRPr/>
          </a:p>
        </p:txBody>
      </p:sp>
      <p:sp>
        <p:nvSpPr>
          <p:cNvPr id="184" name="Google Shape;184;p18"/>
          <p:cNvSpPr txBox="1"/>
          <p:nvPr/>
        </p:nvSpPr>
        <p:spPr>
          <a:xfrm>
            <a:off x="6619875" y="3848844"/>
            <a:ext cx="48006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retrieves a chunk about fixing bugs in the UI.</a:t>
            </a:r>
            <a:endParaRPr/>
          </a:p>
        </p:txBody>
      </p:sp>
      <p:sp>
        <p:nvSpPr>
          <p:cNvPr id="185" name="Google Shape;185;p18"/>
          <p:cNvSpPr txBox="1"/>
          <p:nvPr/>
        </p:nvSpPr>
        <p:spPr>
          <a:xfrm>
            <a:off x="6619875" y="4263181"/>
            <a:ext cx="480060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retrieves a chunk about fixing the budget deficit.</a:t>
            </a:r>
            <a:endParaRPr/>
          </a:p>
        </p:txBody>
      </p:sp>
      <p:sp>
        <p:nvSpPr>
          <p:cNvPr id="186" name="Google Shape;186;p18"/>
          <p:cNvSpPr txBox="1"/>
          <p:nvPr/>
        </p:nvSpPr>
        <p:spPr>
          <a:xfrm>
            <a:off x="6619875" y="4677519"/>
            <a:ext cx="480060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pipeline completely fails to answer the user's actual intent.</a:t>
            </a:r>
            <a:endParaRPr/>
          </a:p>
        </p:txBody>
      </p:sp>
      <p:pic>
        <p:nvPicPr>
          <p:cNvPr descr="image.png" id="187" name="Google Shape;187;p18"/>
          <p:cNvPicPr preferRelativeResize="0"/>
          <p:nvPr/>
        </p:nvPicPr>
        <p:blipFill rotWithShape="1">
          <a:blip r:embed="rId6">
            <a:alphaModFix/>
          </a:blip>
          <a:srcRect b="0" l="0" r="0" t="0"/>
          <a:stretch/>
        </p:blipFill>
        <p:spPr>
          <a:xfrm>
            <a:off x="6286500" y="3891706"/>
            <a:ext cx="123825" cy="180975"/>
          </a:xfrm>
          <a:prstGeom prst="rect">
            <a:avLst/>
          </a:prstGeom>
          <a:noFill/>
          <a:ln>
            <a:noFill/>
          </a:ln>
        </p:spPr>
      </p:pic>
      <p:pic>
        <p:nvPicPr>
          <p:cNvPr descr="image.png" id="188" name="Google Shape;188;p18"/>
          <p:cNvPicPr preferRelativeResize="0"/>
          <p:nvPr/>
        </p:nvPicPr>
        <p:blipFill rotWithShape="1">
          <a:blip r:embed="rId6">
            <a:alphaModFix/>
          </a:blip>
          <a:srcRect b="0" l="0" r="0" t="0"/>
          <a:stretch/>
        </p:blipFill>
        <p:spPr>
          <a:xfrm>
            <a:off x="6286500" y="4306044"/>
            <a:ext cx="123825" cy="180975"/>
          </a:xfrm>
          <a:prstGeom prst="rect">
            <a:avLst/>
          </a:prstGeom>
          <a:noFill/>
          <a:ln>
            <a:noFill/>
          </a:ln>
        </p:spPr>
      </p:pic>
      <p:pic>
        <p:nvPicPr>
          <p:cNvPr descr="image.png" id="189" name="Google Shape;189;p18"/>
          <p:cNvPicPr preferRelativeResize="0"/>
          <p:nvPr/>
        </p:nvPicPr>
        <p:blipFill rotWithShape="1">
          <a:blip r:embed="rId6">
            <a:alphaModFix/>
          </a:blip>
          <a:srcRect b="0" l="0" r="0" t="0"/>
          <a:stretch/>
        </p:blipFill>
        <p:spPr>
          <a:xfrm>
            <a:off x="6286500" y="4720381"/>
            <a:ext cx="123825" cy="180975"/>
          </a:xfrm>
          <a:prstGeom prst="rect">
            <a:avLst/>
          </a:prstGeom>
          <a:noFill/>
          <a:ln>
            <a:noFill/>
          </a:ln>
        </p:spPr>
      </p:pic>
      <p:pic>
        <p:nvPicPr>
          <p:cNvPr id="190" name="Google Shape;190;p18"/>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194" name="Shape 194"/>
        <p:cNvGrpSpPr/>
        <p:nvPr/>
      </p:nvGrpSpPr>
      <p:grpSpPr>
        <a:xfrm>
          <a:off x="0" y="0"/>
          <a:ext cx="0" cy="0"/>
          <a:chOff x="0" y="0"/>
          <a:chExt cx="0" cy="0"/>
        </a:xfrm>
      </p:grpSpPr>
      <p:pic>
        <p:nvPicPr>
          <p:cNvPr descr="image.png" id="195" name="Google Shape;19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6" name="Google Shape;196;p19"/>
          <p:cNvPicPr preferRelativeResize="0"/>
          <p:nvPr/>
        </p:nvPicPr>
        <p:blipFill rotWithShape="1">
          <a:blip r:embed="rId4">
            <a:alphaModFix/>
          </a:blip>
          <a:srcRect b="0" l="0" r="0" t="0"/>
          <a:stretch/>
        </p:blipFill>
        <p:spPr>
          <a:xfrm>
            <a:off x="771525" y="2213520"/>
            <a:ext cx="10648950" cy="4063454"/>
          </a:xfrm>
          <a:prstGeom prst="rect">
            <a:avLst/>
          </a:prstGeom>
          <a:noFill/>
          <a:ln>
            <a:noFill/>
          </a:ln>
        </p:spPr>
      </p:pic>
      <p:pic>
        <p:nvPicPr>
          <p:cNvPr descr="image.png" id="197" name="Google Shape;197;p19"/>
          <p:cNvPicPr preferRelativeResize="0"/>
          <p:nvPr/>
        </p:nvPicPr>
        <p:blipFill rotWithShape="1">
          <a:blip r:embed="rId5">
            <a:alphaModFix/>
          </a:blip>
          <a:srcRect b="0" l="0" r="0" t="0"/>
          <a:stretch/>
        </p:blipFill>
        <p:spPr>
          <a:xfrm>
            <a:off x="1066800" y="2965995"/>
            <a:ext cx="10058400" cy="838200"/>
          </a:xfrm>
          <a:prstGeom prst="rect">
            <a:avLst/>
          </a:prstGeom>
          <a:noFill/>
          <a:ln>
            <a:noFill/>
          </a:ln>
        </p:spPr>
      </p:pic>
      <p:pic>
        <p:nvPicPr>
          <p:cNvPr descr="image.png" id="198" name="Google Shape;198;p19"/>
          <p:cNvPicPr preferRelativeResize="0"/>
          <p:nvPr/>
        </p:nvPicPr>
        <p:blipFill rotWithShape="1">
          <a:blip r:embed="rId6">
            <a:alphaModFix/>
          </a:blip>
          <a:srcRect b="0" l="0" r="0" t="0"/>
          <a:stretch/>
        </p:blipFill>
        <p:spPr>
          <a:xfrm>
            <a:off x="1066800" y="3994695"/>
            <a:ext cx="3162300" cy="504825"/>
          </a:xfrm>
          <a:prstGeom prst="rect">
            <a:avLst/>
          </a:prstGeom>
          <a:noFill/>
          <a:ln>
            <a:noFill/>
          </a:ln>
        </p:spPr>
      </p:pic>
      <p:pic>
        <p:nvPicPr>
          <p:cNvPr descr="image.png" id="199" name="Google Shape;199;p19"/>
          <p:cNvPicPr preferRelativeResize="0"/>
          <p:nvPr/>
        </p:nvPicPr>
        <p:blipFill rotWithShape="1">
          <a:blip r:embed="rId7">
            <a:alphaModFix/>
          </a:blip>
          <a:srcRect b="0" l="0" r="0" t="0"/>
          <a:stretch/>
        </p:blipFill>
        <p:spPr>
          <a:xfrm>
            <a:off x="4514850" y="3994695"/>
            <a:ext cx="3162300" cy="504825"/>
          </a:xfrm>
          <a:prstGeom prst="rect">
            <a:avLst/>
          </a:prstGeom>
          <a:noFill/>
          <a:ln>
            <a:noFill/>
          </a:ln>
        </p:spPr>
      </p:pic>
      <p:pic>
        <p:nvPicPr>
          <p:cNvPr descr="image.png" id="200" name="Google Shape;200;p19"/>
          <p:cNvPicPr preferRelativeResize="0"/>
          <p:nvPr/>
        </p:nvPicPr>
        <p:blipFill rotWithShape="1">
          <a:blip r:embed="rId8">
            <a:alphaModFix/>
          </a:blip>
          <a:srcRect b="0" l="0" r="0" t="0"/>
          <a:stretch/>
        </p:blipFill>
        <p:spPr>
          <a:xfrm>
            <a:off x="7962900" y="3994695"/>
            <a:ext cx="3162300" cy="504825"/>
          </a:xfrm>
          <a:prstGeom prst="rect">
            <a:avLst/>
          </a:prstGeom>
          <a:noFill/>
          <a:ln>
            <a:noFill/>
          </a:ln>
        </p:spPr>
      </p:pic>
      <p:sp>
        <p:nvSpPr>
          <p:cNvPr id="201" name="Google Shape;201;p19"/>
          <p:cNvSpPr txBox="1"/>
          <p:nvPr/>
        </p:nvSpPr>
        <p:spPr>
          <a:xfrm>
            <a:off x="1590675" y="581025"/>
            <a:ext cx="10321290"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Failure 2: </a:t>
            </a:r>
            <a:r>
              <a:rPr b="0" i="0" lang="en-US" sz="3150" u="none" cap="none" strike="noStrike">
                <a:solidFill>
                  <a:srgbClr val="14B8A6"/>
                </a:solidFill>
                <a:latin typeface="Space Grotesk"/>
                <a:ea typeface="Space Grotesk"/>
                <a:cs typeface="Space Grotesk"/>
                <a:sym typeface="Space Grotesk"/>
              </a:rPr>
              <a:t>The Multi-Headed Hydra</a:t>
            </a:r>
            <a:endParaRPr/>
          </a:p>
        </p:txBody>
      </p:sp>
      <p:pic>
        <p:nvPicPr>
          <p:cNvPr descr="image.png" id="202" name="Google Shape;202;p19"/>
          <p:cNvPicPr preferRelativeResize="0"/>
          <p:nvPr/>
        </p:nvPicPr>
        <p:blipFill rotWithShape="1">
          <a:blip r:embed="rId9">
            <a:alphaModFix/>
          </a:blip>
          <a:srcRect b="0" l="0" r="0" t="0"/>
          <a:stretch/>
        </p:blipFill>
        <p:spPr>
          <a:xfrm>
            <a:off x="771525" y="581025"/>
            <a:ext cx="676275" cy="628650"/>
          </a:xfrm>
          <a:prstGeom prst="rect">
            <a:avLst/>
          </a:prstGeom>
          <a:noFill/>
          <a:ln>
            <a:noFill/>
          </a:ln>
        </p:spPr>
      </p:pic>
      <p:sp>
        <p:nvSpPr>
          <p:cNvPr id="203" name="Google Shape;203;p19"/>
          <p:cNvSpPr txBox="1"/>
          <p:nvPr/>
        </p:nvSpPr>
        <p:spPr>
          <a:xfrm>
            <a:off x="771525" y="1495425"/>
            <a:ext cx="106489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Users frequently attempt to optimize their time by asking massive, multi-intent complex queries in a single breath.</a:t>
            </a:r>
            <a:endParaRPr/>
          </a:p>
        </p:txBody>
      </p:sp>
      <p:sp>
        <p:nvSpPr>
          <p:cNvPr id="204" name="Google Shape;204;p19"/>
          <p:cNvSpPr txBox="1"/>
          <p:nvPr/>
        </p:nvSpPr>
        <p:spPr>
          <a:xfrm>
            <a:off x="1066800" y="2537370"/>
            <a:ext cx="10561320"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User Prompt</a:t>
            </a:r>
            <a:endParaRPr/>
          </a:p>
        </p:txBody>
      </p:sp>
      <p:pic>
        <p:nvPicPr>
          <p:cNvPr id="205" name="Google Shape;205;p19"/>
          <p:cNvPicPr preferRelativeResize="0"/>
          <p:nvPr/>
        </p:nvPicPr>
        <p:blipFill>
          <a:blip r:embed="rId10">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09" name="Shape 209"/>
        <p:cNvGrpSpPr/>
        <p:nvPr/>
      </p:nvGrpSpPr>
      <p:grpSpPr>
        <a:xfrm>
          <a:off x="0" y="0"/>
          <a:ext cx="0" cy="0"/>
          <a:chOff x="0" y="0"/>
          <a:chExt cx="0" cy="0"/>
        </a:xfrm>
      </p:grpSpPr>
      <p:pic>
        <p:nvPicPr>
          <p:cNvPr descr="image.png" id="210" name="Google Shape;21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1" name="Google Shape;211;p20"/>
          <p:cNvPicPr preferRelativeResize="0"/>
          <p:nvPr/>
        </p:nvPicPr>
        <p:blipFill rotWithShape="1">
          <a:blip r:embed="rId4">
            <a:alphaModFix/>
          </a:blip>
          <a:srcRect b="0" l="0" r="0" t="0"/>
          <a:stretch/>
        </p:blipFill>
        <p:spPr>
          <a:xfrm>
            <a:off x="6286500" y="2315616"/>
            <a:ext cx="5133975" cy="3141166"/>
          </a:xfrm>
          <a:prstGeom prst="rect">
            <a:avLst/>
          </a:prstGeom>
          <a:noFill/>
          <a:ln>
            <a:noFill/>
          </a:ln>
        </p:spPr>
      </p:pic>
      <p:sp>
        <p:nvSpPr>
          <p:cNvPr id="212" name="Google Shape;212;p20"/>
          <p:cNvSpPr txBox="1"/>
          <p:nvPr/>
        </p:nvSpPr>
        <p:spPr>
          <a:xfrm>
            <a:off x="1447800" y="581025"/>
            <a:ext cx="10471308"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Math of the </a:t>
            </a:r>
            <a:r>
              <a:rPr b="0" i="0" lang="en-US" sz="3150" u="none" cap="none" strike="noStrike">
                <a:solidFill>
                  <a:srgbClr val="14B8A6"/>
                </a:solidFill>
                <a:latin typeface="Space Grotesk"/>
                <a:ea typeface="Space Grotesk"/>
                <a:cs typeface="Space Grotesk"/>
                <a:sym typeface="Space Grotesk"/>
              </a:rPr>
              <a:t>Hydra</a:t>
            </a:r>
            <a:endParaRPr/>
          </a:p>
        </p:txBody>
      </p:sp>
      <p:pic>
        <p:nvPicPr>
          <p:cNvPr descr="image.png" id="213" name="Google Shape;213;p20"/>
          <p:cNvPicPr preferRelativeResize="0"/>
          <p:nvPr/>
        </p:nvPicPr>
        <p:blipFill rotWithShape="1">
          <a:blip r:embed="rId5">
            <a:alphaModFix/>
          </a:blip>
          <a:srcRect b="0" l="0" r="0" t="0"/>
          <a:stretch/>
        </p:blipFill>
        <p:spPr>
          <a:xfrm>
            <a:off x="771525" y="581025"/>
            <a:ext cx="533400" cy="628650"/>
          </a:xfrm>
          <a:prstGeom prst="rect">
            <a:avLst/>
          </a:prstGeom>
          <a:noFill/>
          <a:ln>
            <a:noFill/>
          </a:ln>
        </p:spPr>
      </p:pic>
      <p:sp>
        <p:nvSpPr>
          <p:cNvPr id="214" name="Google Shape;214;p20"/>
          <p:cNvSpPr txBox="1"/>
          <p:nvPr/>
        </p:nvSpPr>
        <p:spPr>
          <a:xfrm>
            <a:off x="771525" y="2315616"/>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"Dead Zone" Averaging</a:t>
            </a:r>
            <a:endParaRPr/>
          </a:p>
        </p:txBody>
      </p:sp>
      <p:sp>
        <p:nvSpPr>
          <p:cNvPr id="215" name="Google Shape;215;p20"/>
          <p:cNvSpPr txBox="1"/>
          <p:nvPr/>
        </p:nvSpPr>
        <p:spPr>
          <a:xfrm>
            <a:off x="771525" y="2744241"/>
            <a:ext cx="513397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embedding model attempts to calculate a single 768-dimensional vector that represents the average mathematical meaning of "Author," "OCR," and "Budget."</a:t>
            </a:r>
            <a:endParaRPr/>
          </a:p>
        </p:txBody>
      </p:sp>
      <p:sp>
        <p:nvSpPr>
          <p:cNvPr id="216" name="Google Shape;216;p20"/>
          <p:cNvSpPr txBox="1"/>
          <p:nvPr/>
        </p:nvSpPr>
        <p:spPr>
          <a:xfrm>
            <a:off x="771525" y="3755528"/>
            <a:ext cx="51339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This averaged vector lands in a complete </a:t>
            </a:r>
            <a:r>
              <a:rPr b="1" i="0" lang="en-US" sz="1425" u="none" cap="none" strike="noStrike">
                <a:solidFill>
                  <a:srgbClr val="CBD5E1"/>
                </a:solidFill>
                <a:latin typeface="Plus Jakarta Sans"/>
                <a:ea typeface="Plus Jakarta Sans"/>
                <a:cs typeface="Plus Jakarta Sans"/>
                <a:sym typeface="Plus Jakarta Sans"/>
              </a:rPr>
              <a:t>"Dead Zone"</a:t>
            </a:r>
            <a:r>
              <a:rPr b="0" i="0" lang="en-US" sz="1425" u="none" cap="none" strike="noStrike">
                <a:solidFill>
                  <a:srgbClr val="CBD5E1"/>
                </a:solidFill>
                <a:latin typeface="Plus Jakarta Sans"/>
                <a:ea typeface="Plus Jakarta Sans"/>
                <a:cs typeface="Plus Jakarta Sans"/>
                <a:sym typeface="Plus Jakarta Sans"/>
              </a:rPr>
              <a:t> in the high-dimensional vector space.</a:t>
            </a:r>
            <a:endParaRPr/>
          </a:p>
        </p:txBody>
      </p:sp>
      <p:sp>
        <p:nvSpPr>
          <p:cNvPr id="217" name="Google Shape;217;p20"/>
          <p:cNvSpPr txBox="1"/>
          <p:nvPr/>
        </p:nvSpPr>
        <p:spPr>
          <a:xfrm>
            <a:off x="6581775" y="2639466"/>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Retrieval Failure</a:t>
            </a:r>
            <a:endParaRPr/>
          </a:p>
        </p:txBody>
      </p:sp>
      <p:sp>
        <p:nvSpPr>
          <p:cNvPr id="218" name="Google Shape;218;p20"/>
          <p:cNvSpPr txBox="1"/>
          <p:nvPr/>
        </p:nvSpPr>
        <p:spPr>
          <a:xfrm>
            <a:off x="6581775" y="4582566"/>
            <a:ext cx="454342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FDA4AF"/>
                </a:solidFill>
                <a:latin typeface="Plus Jakarta Sans"/>
                <a:ea typeface="Plus Jakarta Sans"/>
                <a:cs typeface="Plus Jakarta Sans"/>
                <a:sym typeface="Plus Jakarta Sans"/>
              </a:rPr>
              <a:t>Result: FAISS retrieves an irrelevant middle-ground chunk, satisfying none of the user's intents.</a:t>
            </a:r>
            <a:endParaRPr/>
          </a:p>
        </p:txBody>
      </p:sp>
      <p:sp>
        <p:nvSpPr>
          <p:cNvPr id="219" name="Google Shape;219;p20"/>
          <p:cNvSpPr txBox="1"/>
          <p:nvPr/>
        </p:nvSpPr>
        <p:spPr>
          <a:xfrm>
            <a:off x="6915150" y="3068091"/>
            <a:ext cx="4210050" cy="542925"/>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is not physically close enough to the Author chunks.</a:t>
            </a:r>
            <a:endParaRPr/>
          </a:p>
        </p:txBody>
      </p:sp>
      <p:sp>
        <p:nvSpPr>
          <p:cNvPr id="220" name="Google Shape;220;p20"/>
          <p:cNvSpPr txBox="1"/>
          <p:nvPr/>
        </p:nvSpPr>
        <p:spPr>
          <a:xfrm>
            <a:off x="6915150" y="3753891"/>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is not close enough to the OCR metric chunks.</a:t>
            </a:r>
            <a:endParaRPr/>
          </a:p>
        </p:txBody>
      </p:sp>
      <p:sp>
        <p:nvSpPr>
          <p:cNvPr id="221" name="Google Shape;221;p20"/>
          <p:cNvSpPr txBox="1"/>
          <p:nvPr/>
        </p:nvSpPr>
        <p:spPr>
          <a:xfrm>
            <a:off x="6915150" y="4168229"/>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is not close enough to the Financial chunks.</a:t>
            </a:r>
            <a:endParaRPr/>
          </a:p>
        </p:txBody>
      </p:sp>
      <p:pic>
        <p:nvPicPr>
          <p:cNvPr descr="image.png" id="222" name="Google Shape;222;p20"/>
          <p:cNvPicPr preferRelativeResize="0"/>
          <p:nvPr/>
        </p:nvPicPr>
        <p:blipFill rotWithShape="1">
          <a:blip r:embed="rId6">
            <a:alphaModFix/>
          </a:blip>
          <a:srcRect b="0" l="0" r="0" t="0"/>
          <a:stretch/>
        </p:blipFill>
        <p:spPr>
          <a:xfrm>
            <a:off x="6581775" y="3110954"/>
            <a:ext cx="171450" cy="180975"/>
          </a:xfrm>
          <a:prstGeom prst="rect">
            <a:avLst/>
          </a:prstGeom>
          <a:noFill/>
          <a:ln>
            <a:noFill/>
          </a:ln>
        </p:spPr>
      </p:pic>
      <p:pic>
        <p:nvPicPr>
          <p:cNvPr descr="image.png" id="223" name="Google Shape;223;p20"/>
          <p:cNvPicPr preferRelativeResize="0"/>
          <p:nvPr/>
        </p:nvPicPr>
        <p:blipFill rotWithShape="1">
          <a:blip r:embed="rId6">
            <a:alphaModFix/>
          </a:blip>
          <a:srcRect b="0" l="0" r="0" t="0"/>
          <a:stretch/>
        </p:blipFill>
        <p:spPr>
          <a:xfrm>
            <a:off x="6581775" y="3796754"/>
            <a:ext cx="171450" cy="180975"/>
          </a:xfrm>
          <a:prstGeom prst="rect">
            <a:avLst/>
          </a:prstGeom>
          <a:noFill/>
          <a:ln>
            <a:noFill/>
          </a:ln>
        </p:spPr>
      </p:pic>
      <p:pic>
        <p:nvPicPr>
          <p:cNvPr descr="image.png" id="224" name="Google Shape;224;p20"/>
          <p:cNvPicPr preferRelativeResize="0"/>
          <p:nvPr/>
        </p:nvPicPr>
        <p:blipFill rotWithShape="1">
          <a:blip r:embed="rId6">
            <a:alphaModFix/>
          </a:blip>
          <a:srcRect b="0" l="0" r="0" t="0"/>
          <a:stretch/>
        </p:blipFill>
        <p:spPr>
          <a:xfrm>
            <a:off x="6581775" y="4211091"/>
            <a:ext cx="171450" cy="180975"/>
          </a:xfrm>
          <a:prstGeom prst="rect">
            <a:avLst/>
          </a:prstGeom>
          <a:noFill/>
          <a:ln>
            <a:noFill/>
          </a:ln>
        </p:spPr>
      </p:pic>
      <p:pic>
        <p:nvPicPr>
          <p:cNvPr id="225" name="Google Shape;225;p20"/>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29" name="Shape 229"/>
        <p:cNvGrpSpPr/>
        <p:nvPr/>
      </p:nvGrpSpPr>
      <p:grpSpPr>
        <a:xfrm>
          <a:off x="0" y="0"/>
          <a:ext cx="0" cy="0"/>
          <a:chOff x="0" y="0"/>
          <a:chExt cx="0" cy="0"/>
        </a:xfrm>
      </p:grpSpPr>
      <p:pic>
        <p:nvPicPr>
          <p:cNvPr descr="image.png" id="230" name="Google Shape;230;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1" name="Google Shape;231;p21"/>
          <p:cNvPicPr preferRelativeResize="0"/>
          <p:nvPr/>
        </p:nvPicPr>
        <p:blipFill rotWithShape="1">
          <a:blip r:embed="rId4">
            <a:alphaModFix/>
          </a:blip>
          <a:srcRect b="0" l="0" r="0" t="0"/>
          <a:stretch/>
        </p:blipFill>
        <p:spPr>
          <a:xfrm>
            <a:off x="771525" y="3091011"/>
            <a:ext cx="5133975" cy="2308324"/>
          </a:xfrm>
          <a:prstGeom prst="rect">
            <a:avLst/>
          </a:prstGeom>
          <a:noFill/>
          <a:ln>
            <a:noFill/>
          </a:ln>
        </p:spPr>
      </p:pic>
      <p:pic>
        <p:nvPicPr>
          <p:cNvPr descr="image.png" id="232" name="Google Shape;232;p21"/>
          <p:cNvPicPr preferRelativeResize="0"/>
          <p:nvPr/>
        </p:nvPicPr>
        <p:blipFill rotWithShape="1">
          <a:blip r:embed="rId5">
            <a:alphaModFix/>
          </a:blip>
          <a:srcRect b="0" l="0" r="0" t="0"/>
          <a:stretch/>
        </p:blipFill>
        <p:spPr>
          <a:xfrm>
            <a:off x="1066800" y="3843486"/>
            <a:ext cx="4543425" cy="704850"/>
          </a:xfrm>
          <a:prstGeom prst="rect">
            <a:avLst/>
          </a:prstGeom>
          <a:noFill/>
          <a:ln>
            <a:noFill/>
          </a:ln>
        </p:spPr>
      </p:pic>
      <p:sp>
        <p:nvSpPr>
          <p:cNvPr id="233" name="Google Shape;233;p21"/>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Failure 3: </a:t>
            </a:r>
            <a:r>
              <a:rPr b="0" i="0" lang="en-US" sz="3150" u="none" cap="none" strike="noStrike">
                <a:solidFill>
                  <a:srgbClr val="14B8A6"/>
                </a:solidFill>
                <a:latin typeface="Space Grotesk"/>
                <a:ea typeface="Space Grotesk"/>
                <a:cs typeface="Space Grotesk"/>
                <a:sym typeface="Space Grotesk"/>
              </a:rPr>
              <a:t>Domain Mismatch</a:t>
            </a:r>
            <a:endParaRPr/>
          </a:p>
        </p:txBody>
      </p:sp>
      <p:pic>
        <p:nvPicPr>
          <p:cNvPr descr="image.png" id="234" name="Google Shape;234;p21"/>
          <p:cNvPicPr preferRelativeResize="0"/>
          <p:nvPr/>
        </p:nvPicPr>
        <p:blipFill rotWithShape="1">
          <a:blip r:embed="rId6">
            <a:alphaModFix/>
          </a:blip>
          <a:srcRect b="0" l="0" r="0" t="0"/>
          <a:stretch/>
        </p:blipFill>
        <p:spPr>
          <a:xfrm>
            <a:off x="771525" y="581025"/>
            <a:ext cx="628650" cy="628650"/>
          </a:xfrm>
          <a:prstGeom prst="rect">
            <a:avLst/>
          </a:prstGeom>
          <a:noFill/>
          <a:ln>
            <a:noFill/>
          </a:ln>
        </p:spPr>
      </p:pic>
      <p:sp>
        <p:nvSpPr>
          <p:cNvPr id="235" name="Google Shape;235;p21"/>
          <p:cNvSpPr txBox="1"/>
          <p:nvPr/>
        </p:nvSpPr>
        <p:spPr>
          <a:xfrm>
            <a:off x="771525" y="2372915"/>
            <a:ext cx="1064895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Users routinely confuse the capabilities of a Vector Search Engine with the capabilities of a Calculator or SQL Database.</a:t>
            </a:r>
            <a:endParaRPr/>
          </a:p>
        </p:txBody>
      </p:sp>
      <p:sp>
        <p:nvSpPr>
          <p:cNvPr id="236" name="Google Shape;236;p21"/>
          <p:cNvSpPr txBox="1"/>
          <p:nvPr/>
        </p:nvSpPr>
        <p:spPr>
          <a:xfrm>
            <a:off x="1066800" y="3414861"/>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User Prompt</a:t>
            </a:r>
            <a:endParaRPr/>
          </a:p>
        </p:txBody>
      </p:sp>
      <p:sp>
        <p:nvSpPr>
          <p:cNvPr id="237" name="Google Shape;237;p21"/>
          <p:cNvSpPr txBox="1"/>
          <p:nvPr/>
        </p:nvSpPr>
        <p:spPr>
          <a:xfrm>
            <a:off x="6286500" y="3091011"/>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Retrieval Crash</a:t>
            </a:r>
            <a:endParaRPr/>
          </a:p>
        </p:txBody>
      </p:sp>
      <p:sp>
        <p:nvSpPr>
          <p:cNvPr id="238" name="Google Shape;238;p21"/>
          <p:cNvSpPr txBox="1"/>
          <p:nvPr/>
        </p:nvSpPr>
        <p:spPr>
          <a:xfrm>
            <a:off x="6286500" y="3519636"/>
            <a:ext cx="51339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Naive RAG blindly routes this mathematical request directly to the FAISS text database.</a:t>
            </a:r>
            <a:endParaRPr/>
          </a:p>
        </p:txBody>
      </p:sp>
      <p:sp>
        <p:nvSpPr>
          <p:cNvPr id="239" name="Google Shape;239;p21"/>
          <p:cNvSpPr txBox="1"/>
          <p:nvPr/>
        </p:nvSpPr>
        <p:spPr>
          <a:xfrm>
            <a:off x="6286500" y="4241452"/>
            <a:ext cx="5133975"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searches for chunks containing vectors related to the words "calculate," "scale," and "15%". </a:t>
            </a:r>
            <a:r>
              <a:rPr b="1" i="0" lang="en-US" sz="1425" u="none" cap="none" strike="noStrike">
                <a:solidFill>
                  <a:srgbClr val="CBD5E1"/>
                </a:solidFill>
                <a:latin typeface="Plus Jakarta Sans"/>
                <a:ea typeface="Plus Jakarta Sans"/>
                <a:cs typeface="Plus Jakarta Sans"/>
                <a:sym typeface="Plus Jakarta Sans"/>
              </a:rPr>
              <a:t>It fails to find the answer because the answer requires live computation, not semantic text retrieval.</a:t>
            </a:r>
            <a:endParaRPr/>
          </a:p>
        </p:txBody>
      </p:sp>
      <p:pic>
        <p:nvPicPr>
          <p:cNvPr id="240" name="Google Shape;240;p21"/>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44" name="Shape 244"/>
        <p:cNvGrpSpPr/>
        <p:nvPr/>
      </p:nvGrpSpPr>
      <p:grpSpPr>
        <a:xfrm>
          <a:off x="0" y="0"/>
          <a:ext cx="0" cy="0"/>
          <a:chOff x="0" y="0"/>
          <a:chExt cx="0" cy="0"/>
        </a:xfrm>
      </p:grpSpPr>
      <p:pic>
        <p:nvPicPr>
          <p:cNvPr descr="image.png" id="245" name="Google Shape;24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6" name="Google Shape;246;p22"/>
          <p:cNvPicPr preferRelativeResize="0"/>
          <p:nvPr/>
        </p:nvPicPr>
        <p:blipFill rotWithShape="1">
          <a:blip r:embed="rId4">
            <a:alphaModFix/>
          </a:blip>
          <a:srcRect b="0" l="0" r="0" t="0"/>
          <a:stretch/>
        </p:blipFill>
        <p:spPr>
          <a:xfrm>
            <a:off x="6286500" y="2235100"/>
            <a:ext cx="5133975" cy="3302049"/>
          </a:xfrm>
          <a:prstGeom prst="rect">
            <a:avLst/>
          </a:prstGeom>
          <a:noFill/>
          <a:ln>
            <a:noFill/>
          </a:ln>
        </p:spPr>
      </p:pic>
      <p:sp>
        <p:nvSpPr>
          <p:cNvPr id="247" name="Google Shape;247;p22"/>
          <p:cNvSpPr txBox="1"/>
          <p:nvPr/>
        </p:nvSpPr>
        <p:spPr>
          <a:xfrm>
            <a:off x="1590675" y="581025"/>
            <a:ext cx="10321290"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Solution: </a:t>
            </a:r>
            <a:r>
              <a:rPr b="0" i="0" lang="en-US" sz="3150" u="none" cap="none" strike="noStrike">
                <a:solidFill>
                  <a:srgbClr val="14B8A6"/>
                </a:solidFill>
                <a:latin typeface="Space Grotesk"/>
                <a:ea typeface="Space Grotesk"/>
                <a:cs typeface="Space Grotesk"/>
                <a:sym typeface="Space Grotesk"/>
              </a:rPr>
              <a:t>Middleware</a:t>
            </a:r>
            <a:endParaRPr/>
          </a:p>
        </p:txBody>
      </p:sp>
      <p:pic>
        <p:nvPicPr>
          <p:cNvPr descr="image.png" id="248" name="Google Shape;248;p22"/>
          <p:cNvPicPr preferRelativeResize="0"/>
          <p:nvPr/>
        </p:nvPicPr>
        <p:blipFill rotWithShape="1">
          <a:blip r:embed="rId5">
            <a:alphaModFix/>
          </a:blip>
          <a:srcRect b="0" l="0" r="0" t="0"/>
          <a:stretch/>
        </p:blipFill>
        <p:spPr>
          <a:xfrm>
            <a:off x="771525" y="581025"/>
            <a:ext cx="676275" cy="628650"/>
          </a:xfrm>
          <a:prstGeom prst="rect">
            <a:avLst/>
          </a:prstGeom>
          <a:noFill/>
          <a:ln>
            <a:noFill/>
          </a:ln>
        </p:spPr>
      </p:pic>
      <p:sp>
        <p:nvSpPr>
          <p:cNvPr id="249" name="Google Shape;249;p22"/>
          <p:cNvSpPr txBox="1"/>
          <p:nvPr/>
        </p:nvSpPr>
        <p:spPr>
          <a:xfrm>
            <a:off x="771525" y="2235100"/>
            <a:ext cx="5390673"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Query Transformations</a:t>
            </a:r>
            <a:endParaRPr/>
          </a:p>
        </p:txBody>
      </p:sp>
      <p:sp>
        <p:nvSpPr>
          <p:cNvPr id="250" name="Google Shape;250;p22"/>
          <p:cNvSpPr txBox="1"/>
          <p:nvPr/>
        </p:nvSpPr>
        <p:spPr>
          <a:xfrm>
            <a:off x="771525" y="2663725"/>
            <a:ext cx="513397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If we cannot trust the user to write perfect prompts, we must </a:t>
            </a:r>
            <a:r>
              <a:rPr b="1" i="0" lang="en-US" sz="1425" u="none" cap="none" strike="noStrike">
                <a:solidFill>
                  <a:srgbClr val="CBD5E1"/>
                </a:solidFill>
                <a:latin typeface="Plus Jakarta Sans"/>
                <a:ea typeface="Plus Jakarta Sans"/>
                <a:cs typeface="Plus Jakarta Sans"/>
                <a:sym typeface="Plus Jakarta Sans"/>
              </a:rPr>
              <a:t>fix their prompts for them</a:t>
            </a:r>
            <a:r>
              <a:rPr b="0" i="0" lang="en-US" sz="1425" u="none" cap="none" strike="noStrike">
                <a:solidFill>
                  <a:srgbClr val="CBD5E1"/>
                </a:solidFill>
                <a:latin typeface="Plus Jakarta Sans"/>
                <a:ea typeface="Plus Jakarta Sans"/>
                <a:cs typeface="Plus Jakarta Sans"/>
                <a:sym typeface="Plus Jakarta Sans"/>
              </a:rPr>
              <a:t>, invisibly, before the vector database ever sees them.</a:t>
            </a:r>
            <a:endParaRPr/>
          </a:p>
        </p:txBody>
      </p:sp>
      <p:sp>
        <p:nvSpPr>
          <p:cNvPr id="251" name="Google Shape;251;p22"/>
          <p:cNvSpPr txBox="1"/>
          <p:nvPr/>
        </p:nvSpPr>
        <p:spPr>
          <a:xfrm>
            <a:off x="771525" y="3675012"/>
            <a:ext cx="5133975"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This introduces a powerful new architectural layer into our LCEL pipeline: The AI Middleware.</a:t>
            </a:r>
            <a:endParaRPr/>
          </a:p>
        </p:txBody>
      </p:sp>
      <p:sp>
        <p:nvSpPr>
          <p:cNvPr id="252" name="Google Shape;252;p22"/>
          <p:cNvSpPr txBox="1"/>
          <p:nvPr/>
        </p:nvSpPr>
        <p:spPr>
          <a:xfrm>
            <a:off x="6581775" y="2558950"/>
            <a:ext cx="4770596"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"Traffic Cop" LLM</a:t>
            </a:r>
            <a:endParaRPr/>
          </a:p>
        </p:txBody>
      </p:sp>
      <p:sp>
        <p:nvSpPr>
          <p:cNvPr id="253" name="Google Shape;253;p22"/>
          <p:cNvSpPr txBox="1"/>
          <p:nvPr/>
        </p:nvSpPr>
        <p:spPr>
          <a:xfrm>
            <a:off x="6581775" y="2987575"/>
            <a:ext cx="4543425"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Instead of wiring the user directly to FAISS, we place a lightweight LLM (the Traffic Cop) in front of the database.</a:t>
            </a:r>
            <a:endParaRPr/>
          </a:p>
        </p:txBody>
      </p:sp>
      <p:sp>
        <p:nvSpPr>
          <p:cNvPr id="254" name="Google Shape;254;p22"/>
          <p:cNvSpPr txBox="1"/>
          <p:nvPr/>
        </p:nvSpPr>
        <p:spPr>
          <a:xfrm>
            <a:off x="6915150" y="3998862"/>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Reads the messy query.</a:t>
            </a:r>
            <a:endParaRPr/>
          </a:p>
        </p:txBody>
      </p:sp>
      <p:sp>
        <p:nvSpPr>
          <p:cNvPr id="255" name="Google Shape;255;p22"/>
          <p:cNvSpPr txBox="1"/>
          <p:nvPr/>
        </p:nvSpPr>
        <p:spPr>
          <a:xfrm>
            <a:off x="6915150" y="4413200"/>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Restructures vague pronouns using chat history.</a:t>
            </a:r>
            <a:endParaRPr/>
          </a:p>
        </p:txBody>
      </p:sp>
      <p:sp>
        <p:nvSpPr>
          <p:cNvPr id="256" name="Google Shape;256;p22"/>
          <p:cNvSpPr txBox="1"/>
          <p:nvPr/>
        </p:nvSpPr>
        <p:spPr>
          <a:xfrm>
            <a:off x="6915150" y="4827537"/>
            <a:ext cx="4210050" cy="271462"/>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Breaks apart multi-headed questions.</a:t>
            </a:r>
            <a:endParaRPr/>
          </a:p>
        </p:txBody>
      </p:sp>
      <p:pic>
        <p:nvPicPr>
          <p:cNvPr descr="image.png" id="257" name="Google Shape;257;p22"/>
          <p:cNvPicPr preferRelativeResize="0"/>
          <p:nvPr/>
        </p:nvPicPr>
        <p:blipFill rotWithShape="1">
          <a:blip r:embed="rId6">
            <a:alphaModFix/>
          </a:blip>
          <a:srcRect b="0" l="0" r="0" t="0"/>
          <a:stretch/>
        </p:blipFill>
        <p:spPr>
          <a:xfrm>
            <a:off x="6581775" y="4041725"/>
            <a:ext cx="171450" cy="180975"/>
          </a:xfrm>
          <a:prstGeom prst="rect">
            <a:avLst/>
          </a:prstGeom>
          <a:noFill/>
          <a:ln>
            <a:noFill/>
          </a:ln>
        </p:spPr>
      </p:pic>
      <p:pic>
        <p:nvPicPr>
          <p:cNvPr descr="image.png" id="258" name="Google Shape;258;p22"/>
          <p:cNvPicPr preferRelativeResize="0"/>
          <p:nvPr/>
        </p:nvPicPr>
        <p:blipFill rotWithShape="1">
          <a:blip r:embed="rId7">
            <a:alphaModFix/>
          </a:blip>
          <a:srcRect b="0" l="0" r="0" t="0"/>
          <a:stretch/>
        </p:blipFill>
        <p:spPr>
          <a:xfrm>
            <a:off x="6581775" y="4456062"/>
            <a:ext cx="171450" cy="180975"/>
          </a:xfrm>
          <a:prstGeom prst="rect">
            <a:avLst/>
          </a:prstGeom>
          <a:noFill/>
          <a:ln>
            <a:noFill/>
          </a:ln>
        </p:spPr>
      </p:pic>
      <p:pic>
        <p:nvPicPr>
          <p:cNvPr descr="image.png" id="259" name="Google Shape;259;p22"/>
          <p:cNvPicPr preferRelativeResize="0"/>
          <p:nvPr/>
        </p:nvPicPr>
        <p:blipFill rotWithShape="1">
          <a:blip r:embed="rId8">
            <a:alphaModFix/>
          </a:blip>
          <a:srcRect b="0" l="0" r="0" t="0"/>
          <a:stretch/>
        </p:blipFill>
        <p:spPr>
          <a:xfrm>
            <a:off x="6581775" y="4870400"/>
            <a:ext cx="171450" cy="180975"/>
          </a:xfrm>
          <a:prstGeom prst="rect">
            <a:avLst/>
          </a:prstGeom>
          <a:noFill/>
          <a:ln>
            <a:noFill/>
          </a:ln>
        </p:spPr>
      </p:pic>
      <p:pic>
        <p:nvPicPr>
          <p:cNvPr id="260" name="Google Shape;260;p22"/>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64" name="Shape 264"/>
        <p:cNvGrpSpPr/>
        <p:nvPr/>
      </p:nvGrpSpPr>
      <p:grpSpPr>
        <a:xfrm>
          <a:off x="0" y="0"/>
          <a:ext cx="0" cy="0"/>
          <a:chOff x="0" y="0"/>
          <a:chExt cx="0" cy="0"/>
        </a:xfrm>
      </p:grpSpPr>
      <p:pic>
        <p:nvPicPr>
          <p:cNvPr descr="image.png" id="265" name="Google Shape;26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6" name="Google Shape;266;p23"/>
          <p:cNvPicPr preferRelativeResize="0"/>
          <p:nvPr/>
        </p:nvPicPr>
        <p:blipFill rotWithShape="1">
          <a:blip r:embed="rId4">
            <a:alphaModFix/>
          </a:blip>
          <a:srcRect b="0" l="0" r="0" t="0"/>
          <a:stretch/>
        </p:blipFill>
        <p:spPr>
          <a:xfrm>
            <a:off x="771525" y="2632769"/>
            <a:ext cx="2297906" cy="542925"/>
          </a:xfrm>
          <a:prstGeom prst="rect">
            <a:avLst/>
          </a:prstGeom>
          <a:noFill/>
          <a:ln>
            <a:noFill/>
          </a:ln>
        </p:spPr>
      </p:pic>
      <p:pic>
        <p:nvPicPr>
          <p:cNvPr descr="image.png" id="267" name="Google Shape;267;p23"/>
          <p:cNvPicPr preferRelativeResize="0"/>
          <p:nvPr/>
        </p:nvPicPr>
        <p:blipFill rotWithShape="1">
          <a:blip r:embed="rId5">
            <a:alphaModFix/>
          </a:blip>
          <a:srcRect b="0" l="0" r="0" t="0"/>
          <a:stretch/>
        </p:blipFill>
        <p:spPr>
          <a:xfrm>
            <a:off x="3555206" y="2632769"/>
            <a:ext cx="2297906" cy="542925"/>
          </a:xfrm>
          <a:prstGeom prst="rect">
            <a:avLst/>
          </a:prstGeom>
          <a:noFill/>
          <a:ln>
            <a:noFill/>
          </a:ln>
        </p:spPr>
      </p:pic>
      <p:pic>
        <p:nvPicPr>
          <p:cNvPr descr="image.png" id="268" name="Google Shape;268;p23"/>
          <p:cNvPicPr preferRelativeResize="0"/>
          <p:nvPr/>
        </p:nvPicPr>
        <p:blipFill rotWithShape="1">
          <a:blip r:embed="rId6">
            <a:alphaModFix/>
          </a:blip>
          <a:srcRect b="0" l="0" r="0" t="0"/>
          <a:stretch/>
        </p:blipFill>
        <p:spPr>
          <a:xfrm>
            <a:off x="6338887" y="2632769"/>
            <a:ext cx="2297906" cy="542925"/>
          </a:xfrm>
          <a:prstGeom prst="rect">
            <a:avLst/>
          </a:prstGeom>
          <a:noFill/>
          <a:ln>
            <a:noFill/>
          </a:ln>
        </p:spPr>
      </p:pic>
      <p:pic>
        <p:nvPicPr>
          <p:cNvPr descr="image.png" id="269" name="Google Shape;269;p23"/>
          <p:cNvPicPr preferRelativeResize="0"/>
          <p:nvPr/>
        </p:nvPicPr>
        <p:blipFill rotWithShape="1">
          <a:blip r:embed="rId7">
            <a:alphaModFix/>
          </a:blip>
          <a:srcRect b="0" l="0" r="0" t="0"/>
          <a:stretch/>
        </p:blipFill>
        <p:spPr>
          <a:xfrm>
            <a:off x="9122568" y="2632769"/>
            <a:ext cx="2297906" cy="542925"/>
          </a:xfrm>
          <a:prstGeom prst="rect">
            <a:avLst/>
          </a:prstGeom>
          <a:noFill/>
          <a:ln>
            <a:noFill/>
          </a:ln>
        </p:spPr>
      </p:pic>
      <p:pic>
        <p:nvPicPr>
          <p:cNvPr descr="image.png" id="270" name="Google Shape;270;p23"/>
          <p:cNvPicPr preferRelativeResize="0"/>
          <p:nvPr/>
        </p:nvPicPr>
        <p:blipFill rotWithShape="1">
          <a:blip r:embed="rId8">
            <a:alphaModFix/>
          </a:blip>
          <a:srcRect b="0" l="0" r="0" t="0"/>
          <a:stretch/>
        </p:blipFill>
        <p:spPr>
          <a:xfrm>
            <a:off x="771525" y="4652962"/>
            <a:ext cx="1741140" cy="542925"/>
          </a:xfrm>
          <a:prstGeom prst="rect">
            <a:avLst/>
          </a:prstGeom>
          <a:noFill/>
          <a:ln>
            <a:noFill/>
          </a:ln>
        </p:spPr>
      </p:pic>
      <p:pic>
        <p:nvPicPr>
          <p:cNvPr descr="image.png" id="271" name="Google Shape;271;p23"/>
          <p:cNvPicPr preferRelativeResize="0"/>
          <p:nvPr/>
        </p:nvPicPr>
        <p:blipFill rotWithShape="1">
          <a:blip r:embed="rId9">
            <a:alphaModFix/>
          </a:blip>
          <a:srcRect b="0" l="0" r="0" t="0"/>
          <a:stretch/>
        </p:blipFill>
        <p:spPr>
          <a:xfrm>
            <a:off x="2998440" y="4543425"/>
            <a:ext cx="1741140" cy="762000"/>
          </a:xfrm>
          <a:prstGeom prst="rect">
            <a:avLst/>
          </a:prstGeom>
          <a:noFill/>
          <a:ln>
            <a:noFill/>
          </a:ln>
        </p:spPr>
      </p:pic>
      <p:pic>
        <p:nvPicPr>
          <p:cNvPr descr="image.png" id="272" name="Google Shape;272;p23"/>
          <p:cNvPicPr preferRelativeResize="0"/>
          <p:nvPr/>
        </p:nvPicPr>
        <p:blipFill rotWithShape="1">
          <a:blip r:embed="rId10">
            <a:alphaModFix/>
          </a:blip>
          <a:srcRect b="0" l="0" r="0" t="0"/>
          <a:stretch/>
        </p:blipFill>
        <p:spPr>
          <a:xfrm>
            <a:off x="5225355" y="4652962"/>
            <a:ext cx="1741140" cy="542925"/>
          </a:xfrm>
          <a:prstGeom prst="rect">
            <a:avLst/>
          </a:prstGeom>
          <a:noFill/>
          <a:ln>
            <a:noFill/>
          </a:ln>
        </p:spPr>
      </p:pic>
      <p:pic>
        <p:nvPicPr>
          <p:cNvPr descr="image.png" id="273" name="Google Shape;273;p23"/>
          <p:cNvPicPr preferRelativeResize="0"/>
          <p:nvPr/>
        </p:nvPicPr>
        <p:blipFill rotWithShape="1">
          <a:blip r:embed="rId11">
            <a:alphaModFix/>
          </a:blip>
          <a:srcRect b="0" l="0" r="0" t="0"/>
          <a:stretch/>
        </p:blipFill>
        <p:spPr>
          <a:xfrm>
            <a:off x="7452270" y="4543425"/>
            <a:ext cx="1741140" cy="762000"/>
          </a:xfrm>
          <a:prstGeom prst="rect">
            <a:avLst/>
          </a:prstGeom>
          <a:noFill/>
          <a:ln>
            <a:noFill/>
          </a:ln>
        </p:spPr>
      </p:pic>
      <p:pic>
        <p:nvPicPr>
          <p:cNvPr descr="image.png" id="274" name="Google Shape;274;p23"/>
          <p:cNvPicPr preferRelativeResize="0"/>
          <p:nvPr/>
        </p:nvPicPr>
        <p:blipFill rotWithShape="1">
          <a:blip r:embed="rId12">
            <a:alphaModFix/>
          </a:blip>
          <a:srcRect b="0" l="0" r="0" t="0"/>
          <a:stretch/>
        </p:blipFill>
        <p:spPr>
          <a:xfrm>
            <a:off x="9679185" y="4652962"/>
            <a:ext cx="1741140" cy="542925"/>
          </a:xfrm>
          <a:prstGeom prst="rect">
            <a:avLst/>
          </a:prstGeom>
          <a:noFill/>
          <a:ln>
            <a:noFill/>
          </a:ln>
        </p:spPr>
      </p:pic>
      <p:sp>
        <p:nvSpPr>
          <p:cNvPr id="275" name="Google Shape;275;p23"/>
          <p:cNvSpPr txBox="1"/>
          <p:nvPr/>
        </p:nvSpPr>
        <p:spPr>
          <a:xfrm>
            <a:off x="1543050" y="581025"/>
            <a:ext cx="10371296" cy="6286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Architectural </a:t>
            </a:r>
            <a:r>
              <a:rPr b="0" i="0" lang="en-US" sz="3150" u="none" cap="none" strike="noStrike">
                <a:solidFill>
                  <a:srgbClr val="14B8A6"/>
                </a:solidFill>
                <a:latin typeface="Space Grotesk"/>
                <a:ea typeface="Space Grotesk"/>
                <a:cs typeface="Space Grotesk"/>
                <a:sym typeface="Space Grotesk"/>
              </a:rPr>
              <a:t>Evolution</a:t>
            </a:r>
            <a:endParaRPr/>
          </a:p>
        </p:txBody>
      </p:sp>
      <p:pic>
        <p:nvPicPr>
          <p:cNvPr descr="image.png" id="276" name="Google Shape;276;p23"/>
          <p:cNvPicPr preferRelativeResize="0"/>
          <p:nvPr/>
        </p:nvPicPr>
        <p:blipFill rotWithShape="1">
          <a:blip r:embed="rId13">
            <a:alphaModFix/>
          </a:blip>
          <a:srcRect b="0" l="0" r="0" t="0"/>
          <a:stretch/>
        </p:blipFill>
        <p:spPr>
          <a:xfrm>
            <a:off x="771525" y="581025"/>
            <a:ext cx="628650" cy="628650"/>
          </a:xfrm>
          <a:prstGeom prst="rect">
            <a:avLst/>
          </a:prstGeom>
          <a:noFill/>
          <a:ln>
            <a:noFill/>
          </a:ln>
        </p:spPr>
      </p:pic>
      <p:sp>
        <p:nvSpPr>
          <p:cNvPr id="277" name="Google Shape;277;p23"/>
          <p:cNvSpPr txBox="1"/>
          <p:nvPr/>
        </p:nvSpPr>
        <p:spPr>
          <a:xfrm>
            <a:off x="771525" y="2127944"/>
            <a:ext cx="11181397"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43F5E"/>
                </a:solidFill>
                <a:latin typeface="Plus Jakarta Sans"/>
                <a:ea typeface="Plus Jakarta Sans"/>
                <a:cs typeface="Plus Jakarta Sans"/>
                <a:sym typeface="Plus Jakarta Sans"/>
              </a:rPr>
              <a:t>Week 2: Naive RAG Architecture</a:t>
            </a:r>
            <a:endParaRPr/>
          </a:p>
        </p:txBody>
      </p:sp>
      <p:sp>
        <p:nvSpPr>
          <p:cNvPr id="278" name="Google Shape;278;p23"/>
          <p:cNvSpPr txBox="1"/>
          <p:nvPr/>
        </p:nvSpPr>
        <p:spPr>
          <a:xfrm>
            <a:off x="771525" y="3270944"/>
            <a:ext cx="106489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FDA4AF"/>
                </a:solidFill>
                <a:latin typeface="Plus Jakarta Sans"/>
                <a:ea typeface="Plus Jakarta Sans"/>
                <a:cs typeface="Plus Jakarta Sans"/>
                <a:sym typeface="Plus Jakarta Sans"/>
              </a:rPr>
              <a:t>Direct connection. Fragile against bad inputs.</a:t>
            </a:r>
            <a:endParaRPr/>
          </a:p>
        </p:txBody>
      </p:sp>
      <p:sp>
        <p:nvSpPr>
          <p:cNvPr id="279" name="Google Shape;279;p23"/>
          <p:cNvSpPr txBox="1"/>
          <p:nvPr/>
        </p:nvSpPr>
        <p:spPr>
          <a:xfrm>
            <a:off x="771525" y="4038600"/>
            <a:ext cx="11181397"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4B8A6"/>
                </a:solidFill>
                <a:latin typeface="Plus Jakarta Sans"/>
                <a:ea typeface="Plus Jakarta Sans"/>
                <a:cs typeface="Plus Jakarta Sans"/>
                <a:sym typeface="Plus Jakarta Sans"/>
              </a:rPr>
              <a:t>Week 3: Advanced RAG Architecture (Relay Race)</a:t>
            </a:r>
            <a:endParaRPr/>
          </a:p>
        </p:txBody>
      </p:sp>
      <p:sp>
        <p:nvSpPr>
          <p:cNvPr id="280" name="Google Shape;280;p23"/>
          <p:cNvSpPr txBox="1"/>
          <p:nvPr/>
        </p:nvSpPr>
        <p:spPr>
          <a:xfrm>
            <a:off x="771525" y="5400675"/>
            <a:ext cx="106489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5EEAD4"/>
                </a:solidFill>
                <a:latin typeface="Plus Jakarta Sans"/>
                <a:ea typeface="Plus Jakarta Sans"/>
                <a:cs typeface="Plus Jakarta Sans"/>
                <a:sym typeface="Plus Jakarta Sans"/>
              </a:rPr>
              <a:t>Microservice approach. Intelligent routing and query sanitization.</a:t>
            </a:r>
            <a:endParaRPr/>
          </a:p>
        </p:txBody>
      </p:sp>
      <p:pic>
        <p:nvPicPr>
          <p:cNvPr descr="image.png" id="281" name="Google Shape;281;p23"/>
          <p:cNvPicPr preferRelativeResize="0"/>
          <p:nvPr/>
        </p:nvPicPr>
        <p:blipFill rotWithShape="1">
          <a:blip r:embed="rId14">
            <a:alphaModFix/>
          </a:blip>
          <a:srcRect b="0" l="0" r="0" t="0"/>
          <a:stretch/>
        </p:blipFill>
        <p:spPr>
          <a:xfrm>
            <a:off x="3212306" y="2789932"/>
            <a:ext cx="200025" cy="228600"/>
          </a:xfrm>
          <a:prstGeom prst="rect">
            <a:avLst/>
          </a:prstGeom>
          <a:noFill/>
          <a:ln>
            <a:noFill/>
          </a:ln>
        </p:spPr>
      </p:pic>
      <p:pic>
        <p:nvPicPr>
          <p:cNvPr descr="image.png" id="282" name="Google Shape;282;p23"/>
          <p:cNvPicPr preferRelativeResize="0"/>
          <p:nvPr/>
        </p:nvPicPr>
        <p:blipFill rotWithShape="1">
          <a:blip r:embed="rId14">
            <a:alphaModFix/>
          </a:blip>
          <a:srcRect b="0" l="0" r="0" t="0"/>
          <a:stretch/>
        </p:blipFill>
        <p:spPr>
          <a:xfrm>
            <a:off x="5995987" y="2789932"/>
            <a:ext cx="200025" cy="228600"/>
          </a:xfrm>
          <a:prstGeom prst="rect">
            <a:avLst/>
          </a:prstGeom>
          <a:noFill/>
          <a:ln>
            <a:noFill/>
          </a:ln>
        </p:spPr>
      </p:pic>
      <p:pic>
        <p:nvPicPr>
          <p:cNvPr descr="image.png" id="283" name="Google Shape;283;p23"/>
          <p:cNvPicPr preferRelativeResize="0"/>
          <p:nvPr/>
        </p:nvPicPr>
        <p:blipFill rotWithShape="1">
          <a:blip r:embed="rId15">
            <a:alphaModFix/>
          </a:blip>
          <a:srcRect b="0" l="0" r="0" t="0"/>
          <a:stretch/>
        </p:blipFill>
        <p:spPr>
          <a:xfrm>
            <a:off x="8779668" y="2789932"/>
            <a:ext cx="200025" cy="228600"/>
          </a:xfrm>
          <a:prstGeom prst="rect">
            <a:avLst/>
          </a:prstGeom>
          <a:noFill/>
          <a:ln>
            <a:noFill/>
          </a:ln>
        </p:spPr>
      </p:pic>
      <p:pic>
        <p:nvPicPr>
          <p:cNvPr descr="image.png" id="284" name="Google Shape;284;p23"/>
          <p:cNvPicPr preferRelativeResize="0"/>
          <p:nvPr/>
        </p:nvPicPr>
        <p:blipFill rotWithShape="1">
          <a:blip r:embed="rId16">
            <a:alphaModFix/>
          </a:blip>
          <a:srcRect b="0" l="0" r="0" t="0"/>
          <a:stretch/>
        </p:blipFill>
        <p:spPr>
          <a:xfrm>
            <a:off x="2655540" y="4810125"/>
            <a:ext cx="200025" cy="228600"/>
          </a:xfrm>
          <a:prstGeom prst="rect">
            <a:avLst/>
          </a:prstGeom>
          <a:noFill/>
          <a:ln>
            <a:noFill/>
          </a:ln>
        </p:spPr>
      </p:pic>
      <p:pic>
        <p:nvPicPr>
          <p:cNvPr descr="image.png" id="285" name="Google Shape;285;p23"/>
          <p:cNvPicPr preferRelativeResize="0"/>
          <p:nvPr/>
        </p:nvPicPr>
        <p:blipFill rotWithShape="1">
          <a:blip r:embed="rId16">
            <a:alphaModFix/>
          </a:blip>
          <a:srcRect b="0" l="0" r="0" t="0"/>
          <a:stretch/>
        </p:blipFill>
        <p:spPr>
          <a:xfrm>
            <a:off x="4882455" y="4810125"/>
            <a:ext cx="200025" cy="228600"/>
          </a:xfrm>
          <a:prstGeom prst="rect">
            <a:avLst/>
          </a:prstGeom>
          <a:noFill/>
          <a:ln>
            <a:noFill/>
          </a:ln>
        </p:spPr>
      </p:pic>
      <p:pic>
        <p:nvPicPr>
          <p:cNvPr descr="image.png" id="286" name="Google Shape;286;p23"/>
          <p:cNvPicPr preferRelativeResize="0"/>
          <p:nvPr/>
        </p:nvPicPr>
        <p:blipFill rotWithShape="1">
          <a:blip r:embed="rId17">
            <a:alphaModFix/>
          </a:blip>
          <a:srcRect b="0" l="0" r="0" t="0"/>
          <a:stretch/>
        </p:blipFill>
        <p:spPr>
          <a:xfrm>
            <a:off x="7109370" y="4810125"/>
            <a:ext cx="200025" cy="228600"/>
          </a:xfrm>
          <a:prstGeom prst="rect">
            <a:avLst/>
          </a:prstGeom>
          <a:noFill/>
          <a:ln>
            <a:noFill/>
          </a:ln>
        </p:spPr>
      </p:pic>
      <p:pic>
        <p:nvPicPr>
          <p:cNvPr descr="image.png" id="287" name="Google Shape;287;p23"/>
          <p:cNvPicPr preferRelativeResize="0"/>
          <p:nvPr/>
        </p:nvPicPr>
        <p:blipFill rotWithShape="1">
          <a:blip r:embed="rId17">
            <a:alphaModFix/>
          </a:blip>
          <a:srcRect b="0" l="0" r="0" t="0"/>
          <a:stretch/>
        </p:blipFill>
        <p:spPr>
          <a:xfrm>
            <a:off x="9336285" y="4810125"/>
            <a:ext cx="200025" cy="228600"/>
          </a:xfrm>
          <a:prstGeom prst="rect">
            <a:avLst/>
          </a:prstGeom>
          <a:noFill/>
          <a:ln>
            <a:noFill/>
          </a:ln>
        </p:spPr>
      </p:pic>
      <p:sp>
        <p:nvSpPr>
          <p:cNvPr id="288" name="Google Shape;288;p23"/>
          <p:cNvSpPr txBox="1"/>
          <p:nvPr/>
        </p:nvSpPr>
        <p:spPr>
          <a:xfrm>
            <a:off x="3268860" y="4962525"/>
            <a:ext cx="1200150"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F8FAFC"/>
                </a:solidFill>
                <a:latin typeface="Plus Jakarta Sans"/>
                <a:ea typeface="Plus Jakarta Sans"/>
                <a:cs typeface="Plus Jakarta Sans"/>
                <a:sym typeface="Plus Jakarta Sans"/>
              </a:rPr>
              <a:t>(Transforms Query)</a:t>
            </a:r>
            <a:endParaRPr/>
          </a:p>
        </p:txBody>
      </p:sp>
      <p:sp>
        <p:nvSpPr>
          <p:cNvPr id="289" name="Google Shape;289;p23"/>
          <p:cNvSpPr txBox="1"/>
          <p:nvPr/>
        </p:nvSpPr>
        <p:spPr>
          <a:xfrm>
            <a:off x="7698878" y="4962525"/>
            <a:ext cx="1247775"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F8FAFC"/>
                </a:solidFill>
                <a:latin typeface="Plus Jakarta Sans"/>
                <a:ea typeface="Plus Jakarta Sans"/>
                <a:cs typeface="Plus Jakarta Sans"/>
                <a:sym typeface="Plus Jakarta Sans"/>
              </a:rPr>
              <a:t>(Generates Answer)</a:t>
            </a:r>
            <a:endParaRPr/>
          </a:p>
        </p:txBody>
      </p:sp>
      <p:pic>
        <p:nvPicPr>
          <p:cNvPr id="290" name="Google Shape;290;p23"/>
          <p:cNvPicPr preferRelativeResize="0"/>
          <p:nvPr/>
        </p:nvPicPr>
        <p:blipFill>
          <a:blip r:embed="rId1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294" name="Shape 294"/>
        <p:cNvGrpSpPr/>
        <p:nvPr/>
      </p:nvGrpSpPr>
      <p:grpSpPr>
        <a:xfrm>
          <a:off x="0" y="0"/>
          <a:ext cx="0" cy="0"/>
          <a:chOff x="0" y="0"/>
          <a:chExt cx="0" cy="0"/>
        </a:xfrm>
      </p:grpSpPr>
      <p:pic>
        <p:nvPicPr>
          <p:cNvPr descr="image.png" id="295" name="Google Shape;29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6" name="Google Shape;296;p24"/>
          <p:cNvPicPr preferRelativeResize="0"/>
          <p:nvPr/>
        </p:nvPicPr>
        <p:blipFill rotWithShape="1">
          <a:blip r:embed="rId4">
            <a:alphaModFix/>
          </a:blip>
          <a:srcRect b="0" l="0" r="0" t="0"/>
          <a:stretch/>
        </p:blipFill>
        <p:spPr>
          <a:xfrm>
            <a:off x="771525" y="2732782"/>
            <a:ext cx="5133974" cy="1470421"/>
          </a:xfrm>
          <a:prstGeom prst="rect">
            <a:avLst/>
          </a:prstGeom>
          <a:noFill/>
          <a:ln>
            <a:noFill/>
          </a:ln>
        </p:spPr>
      </p:pic>
      <p:pic>
        <p:nvPicPr>
          <p:cNvPr descr="image.png" id="297" name="Google Shape;297;p24"/>
          <p:cNvPicPr preferRelativeResize="0"/>
          <p:nvPr/>
        </p:nvPicPr>
        <p:blipFill rotWithShape="1">
          <a:blip r:embed="rId5">
            <a:alphaModFix/>
          </a:blip>
          <a:srcRect b="0" l="0" r="0" t="0"/>
          <a:stretch/>
        </p:blipFill>
        <p:spPr>
          <a:xfrm>
            <a:off x="6286500" y="2732782"/>
            <a:ext cx="5133974" cy="1470421"/>
          </a:xfrm>
          <a:prstGeom prst="rect">
            <a:avLst/>
          </a:prstGeom>
          <a:noFill/>
          <a:ln>
            <a:noFill/>
          </a:ln>
        </p:spPr>
      </p:pic>
      <p:pic>
        <p:nvPicPr>
          <p:cNvPr descr="image.png" id="298" name="Google Shape;298;p24"/>
          <p:cNvPicPr preferRelativeResize="0"/>
          <p:nvPr/>
        </p:nvPicPr>
        <p:blipFill rotWithShape="1">
          <a:blip r:embed="rId6">
            <a:alphaModFix/>
          </a:blip>
          <a:srcRect b="0" l="0" r="0" t="0"/>
          <a:stretch/>
        </p:blipFill>
        <p:spPr>
          <a:xfrm>
            <a:off x="771525" y="4584203"/>
            <a:ext cx="5133974" cy="1470421"/>
          </a:xfrm>
          <a:prstGeom prst="rect">
            <a:avLst/>
          </a:prstGeom>
          <a:noFill/>
          <a:ln>
            <a:noFill/>
          </a:ln>
        </p:spPr>
      </p:pic>
      <p:pic>
        <p:nvPicPr>
          <p:cNvPr descr="image.png" id="299" name="Google Shape;299;p24"/>
          <p:cNvPicPr preferRelativeResize="0"/>
          <p:nvPr/>
        </p:nvPicPr>
        <p:blipFill rotWithShape="1">
          <a:blip r:embed="rId7">
            <a:alphaModFix/>
          </a:blip>
          <a:srcRect b="0" l="0" r="0" t="0"/>
          <a:stretch/>
        </p:blipFill>
        <p:spPr>
          <a:xfrm>
            <a:off x="6286500" y="4584203"/>
            <a:ext cx="5133974" cy="1470421"/>
          </a:xfrm>
          <a:prstGeom prst="rect">
            <a:avLst/>
          </a:prstGeom>
          <a:noFill/>
          <a:ln>
            <a:noFill/>
          </a:ln>
        </p:spPr>
      </p:pic>
      <p:sp>
        <p:nvSpPr>
          <p:cNvPr id="300" name="Google Shape;300;p24"/>
          <p:cNvSpPr txBox="1"/>
          <p:nvPr/>
        </p:nvSpPr>
        <p:spPr>
          <a:xfrm>
            <a:off x="1543050" y="581025"/>
            <a:ext cx="103713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Multi-Tool </a:t>
            </a:r>
            <a:r>
              <a:rPr b="0" i="0" lang="en-US" sz="3150" u="none" cap="none" strike="noStrike">
                <a:solidFill>
                  <a:srgbClr val="14B8A6"/>
                </a:solidFill>
                <a:latin typeface="Space Grotesk"/>
                <a:ea typeface="Space Grotesk"/>
                <a:cs typeface="Space Grotesk"/>
                <a:sym typeface="Space Grotesk"/>
              </a:rPr>
              <a:t>Ecosystem</a:t>
            </a:r>
            <a:endParaRPr/>
          </a:p>
        </p:txBody>
      </p:sp>
      <p:pic>
        <p:nvPicPr>
          <p:cNvPr descr="image.png" id="301" name="Google Shape;301;p24"/>
          <p:cNvPicPr preferRelativeResize="0"/>
          <p:nvPr/>
        </p:nvPicPr>
        <p:blipFill rotWithShape="1">
          <a:blip r:embed="rId8">
            <a:alphaModFix/>
          </a:blip>
          <a:srcRect b="0" l="0" r="0" t="0"/>
          <a:stretch/>
        </p:blipFill>
        <p:spPr>
          <a:xfrm>
            <a:off x="771525" y="581025"/>
            <a:ext cx="628650" cy="628650"/>
          </a:xfrm>
          <a:prstGeom prst="rect">
            <a:avLst/>
          </a:prstGeom>
          <a:noFill/>
          <a:ln>
            <a:noFill/>
          </a:ln>
        </p:spPr>
      </p:pic>
      <p:sp>
        <p:nvSpPr>
          <p:cNvPr id="302" name="Google Shape;302;p24"/>
          <p:cNvSpPr txBox="1"/>
          <p:nvPr/>
        </p:nvSpPr>
        <p:spPr>
          <a:xfrm>
            <a:off x="771525" y="1717625"/>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 Week 2, we built a linear chain: Prompt → LLM → Parser. But in real-world projects like "Extract Once, Judge Many," users don't just ask about text PDFs. They query a massive web of specialized tools.</a:t>
            </a:r>
            <a:endParaRPr/>
          </a:p>
        </p:txBody>
      </p:sp>
      <p:sp>
        <p:nvSpPr>
          <p:cNvPr id="303" name="Google Shape;303;p24"/>
          <p:cNvSpPr txBox="1"/>
          <p:nvPr/>
        </p:nvSpPr>
        <p:spPr>
          <a:xfrm>
            <a:off x="1066800" y="3056632"/>
            <a:ext cx="4770600" cy="2310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0" i="0" lang="en-US" sz="1500" u="none" cap="none" strike="noStrike">
                <a:solidFill>
                  <a:srgbClr val="6366F1"/>
                </a:solidFill>
                <a:latin typeface="Plus Jakarta Sans SemiBold"/>
                <a:ea typeface="Plus Jakarta Sans SemiBold"/>
                <a:cs typeface="Plus Jakarta Sans SemiBold"/>
                <a:sym typeface="Plus Jakarta Sans SemiBold"/>
              </a:rPr>
              <a:t>FAISS Vector Database</a:t>
            </a:r>
            <a:endParaRPr/>
          </a:p>
        </p:txBody>
      </p:sp>
      <p:sp>
        <p:nvSpPr>
          <p:cNvPr id="304" name="Google Shape;304;p24"/>
          <p:cNvSpPr txBox="1"/>
          <p:nvPr/>
        </p:nvSpPr>
        <p:spPr>
          <a:xfrm>
            <a:off x="1066800" y="3390007"/>
            <a:ext cx="4543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Perfect for semantic, textual queries: </a:t>
            </a:r>
            <a:r>
              <a:rPr b="0" i="1" lang="en-US" sz="1275" u="none" cap="none" strike="noStrike">
                <a:solidFill>
                  <a:srgbClr val="CBD5E1"/>
                </a:solidFill>
                <a:latin typeface="Plus Jakarta Sans"/>
                <a:ea typeface="Plus Jakarta Sans"/>
                <a:cs typeface="Plus Jakarta Sans"/>
                <a:sym typeface="Plus Jakarta Sans"/>
              </a:rPr>
              <a:t>"What is the company policy on remote work?"</a:t>
            </a:r>
            <a:endParaRPr/>
          </a:p>
        </p:txBody>
      </p:sp>
      <p:sp>
        <p:nvSpPr>
          <p:cNvPr id="305" name="Google Shape;305;p24"/>
          <p:cNvSpPr txBox="1"/>
          <p:nvPr/>
        </p:nvSpPr>
        <p:spPr>
          <a:xfrm>
            <a:off x="6581775" y="3056632"/>
            <a:ext cx="4770600" cy="231000"/>
          </a:xfrm>
          <a:prstGeom prst="rect">
            <a:avLst/>
          </a:prstGeom>
          <a:noFill/>
          <a:ln>
            <a:noFill/>
          </a:ln>
        </p:spPr>
        <p:txBody>
          <a:bodyPr anchorCtr="0" anchor="t" bIns="0" lIns="171450" spcFirstLastPara="1" rIns="0" wrap="square" tIns="0">
            <a:spAutoFit/>
          </a:bodyPr>
          <a:lstStyle/>
          <a:p>
            <a:pPr indent="0" lvl="0" marL="0" marR="0" rtl="0" algn="l">
              <a:spcBef>
                <a:spcPts val="0"/>
              </a:spcBef>
              <a:spcAft>
                <a:spcPts val="0"/>
              </a:spcAft>
              <a:buNone/>
            </a:pPr>
            <a:r>
              <a:rPr b="0" i="0" lang="en-US" sz="1500" u="none" cap="none" strike="noStrike">
                <a:solidFill>
                  <a:srgbClr val="14B8A6"/>
                </a:solidFill>
                <a:latin typeface="Plus Jakarta Sans SemiBold"/>
                <a:ea typeface="Plus Jakarta Sans SemiBold"/>
                <a:cs typeface="Plus Jakarta Sans SemiBold"/>
                <a:sym typeface="Plus Jakarta Sans SemiBold"/>
              </a:rPr>
              <a:t>SQL Relational Database</a:t>
            </a:r>
            <a:endParaRPr/>
          </a:p>
        </p:txBody>
      </p:sp>
      <p:sp>
        <p:nvSpPr>
          <p:cNvPr id="306" name="Google Shape;306;p24"/>
          <p:cNvSpPr txBox="1"/>
          <p:nvPr/>
        </p:nvSpPr>
        <p:spPr>
          <a:xfrm>
            <a:off x="6581775" y="3390007"/>
            <a:ext cx="4543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Perfect for hard, relational metrics: </a:t>
            </a:r>
            <a:r>
              <a:rPr b="0" i="1" lang="en-US" sz="1275" u="none" cap="none" strike="noStrike">
                <a:solidFill>
                  <a:srgbClr val="CBD5E1"/>
                </a:solidFill>
                <a:latin typeface="Plus Jakarta Sans"/>
                <a:ea typeface="Plus Jakarta Sans"/>
                <a:cs typeface="Plus Jakarta Sans"/>
                <a:sym typeface="Plus Jakarta Sans"/>
              </a:rPr>
              <a:t>"List all employees who joined the engineering team in Q3."</a:t>
            </a:r>
            <a:endParaRPr/>
          </a:p>
        </p:txBody>
      </p:sp>
      <p:sp>
        <p:nvSpPr>
          <p:cNvPr id="307" name="Google Shape;307;p24"/>
          <p:cNvSpPr txBox="1"/>
          <p:nvPr/>
        </p:nvSpPr>
        <p:spPr>
          <a:xfrm>
            <a:off x="1066800" y="4908053"/>
            <a:ext cx="4770600" cy="231000"/>
          </a:xfrm>
          <a:prstGeom prst="rect">
            <a:avLst/>
          </a:prstGeom>
          <a:noFill/>
          <a:ln>
            <a:noFill/>
          </a:ln>
        </p:spPr>
        <p:txBody>
          <a:bodyPr anchorCtr="0" anchor="t" bIns="0" lIns="142875" spcFirstLastPara="1" rIns="0" wrap="square" tIns="0">
            <a:spAutoFit/>
          </a:bodyPr>
          <a:lstStyle/>
          <a:p>
            <a:pPr indent="0" lvl="0" marL="0" marR="0" rtl="0" algn="l">
              <a:spcBef>
                <a:spcPts val="0"/>
              </a:spcBef>
              <a:spcAft>
                <a:spcPts val="0"/>
              </a:spcAft>
              <a:buNone/>
            </a:pPr>
            <a:r>
              <a:rPr b="0" i="0" lang="en-US" sz="1500" u="none" cap="none" strike="noStrike">
                <a:solidFill>
                  <a:srgbClr val="F59E0B"/>
                </a:solidFill>
                <a:latin typeface="Plus Jakarta Sans SemiBold"/>
                <a:ea typeface="Plus Jakarta Sans SemiBold"/>
                <a:cs typeface="Plus Jakarta Sans SemiBold"/>
                <a:sym typeface="Plus Jakarta Sans SemiBold"/>
              </a:rPr>
              <a:t>Python REPL / Calculator</a:t>
            </a:r>
            <a:endParaRPr/>
          </a:p>
        </p:txBody>
      </p:sp>
      <p:sp>
        <p:nvSpPr>
          <p:cNvPr id="308" name="Google Shape;308;p24"/>
          <p:cNvSpPr txBox="1"/>
          <p:nvPr/>
        </p:nvSpPr>
        <p:spPr>
          <a:xfrm>
            <a:off x="1066800" y="5241428"/>
            <a:ext cx="4543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Perfect for strict computation: </a:t>
            </a:r>
            <a:r>
              <a:rPr b="0" i="1" lang="en-US" sz="1275" u="none" cap="none" strike="noStrike">
                <a:solidFill>
                  <a:srgbClr val="CBD5E1"/>
                </a:solidFill>
                <a:latin typeface="Plus Jakarta Sans"/>
                <a:ea typeface="Plus Jakarta Sans"/>
                <a:cs typeface="Plus Jakarta Sans"/>
                <a:sym typeface="Plus Jakarta Sans"/>
              </a:rPr>
              <a:t>"If we increase the $45k budget by 12%, what is the new total?"</a:t>
            </a:r>
            <a:endParaRPr/>
          </a:p>
        </p:txBody>
      </p:sp>
      <p:sp>
        <p:nvSpPr>
          <p:cNvPr id="309" name="Google Shape;309;p24"/>
          <p:cNvSpPr txBox="1"/>
          <p:nvPr/>
        </p:nvSpPr>
        <p:spPr>
          <a:xfrm>
            <a:off x="6581775" y="4908053"/>
            <a:ext cx="4770600" cy="231000"/>
          </a:xfrm>
          <a:prstGeom prst="rect">
            <a:avLst/>
          </a:prstGeom>
          <a:noFill/>
          <a:ln>
            <a:noFill/>
          </a:ln>
        </p:spPr>
        <p:txBody>
          <a:bodyPr anchorCtr="0" anchor="t" bIns="0" lIns="238125" spcFirstLastPara="1" rIns="0" wrap="square" tIns="0">
            <a:spAutoFit/>
          </a:bodyPr>
          <a:lstStyle/>
          <a:p>
            <a:pPr indent="0" lvl="0" marL="0" marR="0" rtl="0" algn="l">
              <a:spcBef>
                <a:spcPts val="0"/>
              </a:spcBef>
              <a:spcAft>
                <a:spcPts val="0"/>
              </a:spcAft>
              <a:buNone/>
            </a:pPr>
            <a:r>
              <a:rPr b="0" i="0" lang="en-US" sz="1500" u="none" cap="none" strike="noStrike">
                <a:solidFill>
                  <a:srgbClr val="F43F5E"/>
                </a:solidFill>
                <a:latin typeface="Plus Jakarta Sans SemiBold"/>
                <a:ea typeface="Plus Jakarta Sans SemiBold"/>
                <a:cs typeface="Plus Jakarta Sans SemiBold"/>
                <a:sym typeface="Plus Jakarta Sans SemiBold"/>
              </a:rPr>
              <a:t>General Chit-Chat Chain</a:t>
            </a:r>
            <a:endParaRPr/>
          </a:p>
        </p:txBody>
      </p:sp>
      <p:sp>
        <p:nvSpPr>
          <p:cNvPr id="310" name="Google Shape;310;p24"/>
          <p:cNvSpPr txBox="1"/>
          <p:nvPr/>
        </p:nvSpPr>
        <p:spPr>
          <a:xfrm>
            <a:off x="6581775" y="5241428"/>
            <a:ext cx="4543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Handles standard greetings: </a:t>
            </a:r>
            <a:r>
              <a:rPr b="0" i="1" lang="en-US" sz="1275" u="none" cap="none" strike="noStrike">
                <a:solidFill>
                  <a:srgbClr val="CBD5E1"/>
                </a:solidFill>
                <a:latin typeface="Plus Jakarta Sans"/>
                <a:ea typeface="Plus Jakarta Sans"/>
                <a:cs typeface="Plus Jakarta Sans"/>
                <a:sym typeface="Plus Jakarta Sans"/>
              </a:rPr>
              <a:t>"Hello, how are you?"</a:t>
            </a:r>
            <a:r>
              <a:rPr b="0" i="0" lang="en-US" sz="1275" u="none" cap="none" strike="noStrike">
                <a:solidFill>
                  <a:srgbClr val="CBD5E1"/>
                </a:solidFill>
                <a:latin typeface="Plus Jakarta Sans"/>
                <a:ea typeface="Plus Jakarta Sans"/>
                <a:cs typeface="Plus Jakarta Sans"/>
                <a:sym typeface="Plus Jakarta Sans"/>
              </a:rPr>
              <a:t> without wasting expensive vector database search credits.</a:t>
            </a:r>
            <a:endParaRPr/>
          </a:p>
        </p:txBody>
      </p:sp>
      <p:pic>
        <p:nvPicPr>
          <p:cNvPr descr="image.png" id="311" name="Google Shape;311;p24"/>
          <p:cNvPicPr preferRelativeResize="0"/>
          <p:nvPr/>
        </p:nvPicPr>
        <p:blipFill rotWithShape="1">
          <a:blip r:embed="rId9">
            <a:alphaModFix/>
          </a:blip>
          <a:srcRect b="0" l="0" r="0" t="0"/>
          <a:stretch/>
        </p:blipFill>
        <p:spPr>
          <a:xfrm>
            <a:off x="1066800" y="3094732"/>
            <a:ext cx="190500" cy="190500"/>
          </a:xfrm>
          <a:prstGeom prst="rect">
            <a:avLst/>
          </a:prstGeom>
          <a:noFill/>
          <a:ln>
            <a:noFill/>
          </a:ln>
        </p:spPr>
      </p:pic>
      <p:pic>
        <p:nvPicPr>
          <p:cNvPr descr="image.png" id="312" name="Google Shape;312;p24"/>
          <p:cNvPicPr preferRelativeResize="0"/>
          <p:nvPr/>
        </p:nvPicPr>
        <p:blipFill rotWithShape="1">
          <a:blip r:embed="rId10">
            <a:alphaModFix/>
          </a:blip>
          <a:srcRect b="0" l="0" r="0" t="0"/>
          <a:stretch/>
        </p:blipFill>
        <p:spPr>
          <a:xfrm>
            <a:off x="6581775" y="3094732"/>
            <a:ext cx="171450" cy="190500"/>
          </a:xfrm>
          <a:prstGeom prst="rect">
            <a:avLst/>
          </a:prstGeom>
          <a:noFill/>
          <a:ln>
            <a:noFill/>
          </a:ln>
        </p:spPr>
      </p:pic>
      <p:pic>
        <p:nvPicPr>
          <p:cNvPr descr="image.png" id="313" name="Google Shape;313;p24"/>
          <p:cNvPicPr preferRelativeResize="0"/>
          <p:nvPr/>
        </p:nvPicPr>
        <p:blipFill rotWithShape="1">
          <a:blip r:embed="rId11">
            <a:alphaModFix/>
          </a:blip>
          <a:srcRect b="0" l="0" r="0" t="0"/>
          <a:stretch/>
        </p:blipFill>
        <p:spPr>
          <a:xfrm>
            <a:off x="1066800" y="4946153"/>
            <a:ext cx="142875" cy="190500"/>
          </a:xfrm>
          <a:prstGeom prst="rect">
            <a:avLst/>
          </a:prstGeom>
          <a:noFill/>
          <a:ln>
            <a:noFill/>
          </a:ln>
        </p:spPr>
      </p:pic>
      <p:pic>
        <p:nvPicPr>
          <p:cNvPr descr="image.png" id="314" name="Google Shape;314;p24"/>
          <p:cNvPicPr preferRelativeResize="0"/>
          <p:nvPr/>
        </p:nvPicPr>
        <p:blipFill rotWithShape="1">
          <a:blip r:embed="rId12">
            <a:alphaModFix/>
          </a:blip>
          <a:srcRect b="0" l="0" r="0" t="0"/>
          <a:stretch/>
        </p:blipFill>
        <p:spPr>
          <a:xfrm>
            <a:off x="6581775" y="4946153"/>
            <a:ext cx="238125" cy="190500"/>
          </a:xfrm>
          <a:prstGeom prst="rect">
            <a:avLst/>
          </a:prstGeom>
          <a:noFill/>
          <a:ln>
            <a:noFill/>
          </a:ln>
        </p:spPr>
      </p:pic>
      <p:pic>
        <p:nvPicPr>
          <p:cNvPr id="315" name="Google Shape;315;p24"/>
          <p:cNvPicPr preferRelativeResize="0"/>
          <p:nvPr/>
        </p:nvPicPr>
        <p:blipFill>
          <a:blip r:embed="rId13">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319" name="Shape 319"/>
        <p:cNvGrpSpPr/>
        <p:nvPr/>
      </p:nvGrpSpPr>
      <p:grpSpPr>
        <a:xfrm>
          <a:off x="0" y="0"/>
          <a:ext cx="0" cy="0"/>
          <a:chOff x="0" y="0"/>
          <a:chExt cx="0" cy="0"/>
        </a:xfrm>
      </p:grpSpPr>
      <p:pic>
        <p:nvPicPr>
          <p:cNvPr descr="image.png" id="320" name="Google Shape;320;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1" name="Google Shape;321;p25"/>
          <p:cNvPicPr preferRelativeResize="0"/>
          <p:nvPr/>
        </p:nvPicPr>
        <p:blipFill rotWithShape="1">
          <a:blip r:embed="rId4">
            <a:alphaModFix/>
          </a:blip>
          <a:srcRect b="0" l="0" r="0" t="0"/>
          <a:stretch/>
        </p:blipFill>
        <p:spPr>
          <a:xfrm>
            <a:off x="771525" y="4124325"/>
            <a:ext cx="6160740" cy="1491257"/>
          </a:xfrm>
          <a:prstGeom prst="rect">
            <a:avLst/>
          </a:prstGeom>
          <a:noFill/>
          <a:ln>
            <a:noFill/>
          </a:ln>
        </p:spPr>
      </p:pic>
      <p:sp>
        <p:nvSpPr>
          <p:cNvPr id="322" name="Google Shape;322;p25"/>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Routing </a:t>
            </a:r>
            <a:r>
              <a:rPr b="0" i="0" lang="en-US" sz="3150" u="none" cap="none" strike="noStrike">
                <a:solidFill>
                  <a:srgbClr val="14B8A6"/>
                </a:solidFill>
                <a:latin typeface="Space Grotesk"/>
                <a:ea typeface="Space Grotesk"/>
                <a:cs typeface="Space Grotesk"/>
                <a:sym typeface="Space Grotesk"/>
              </a:rPr>
              <a:t>Problem</a:t>
            </a:r>
            <a:endParaRPr/>
          </a:p>
        </p:txBody>
      </p:sp>
      <p:pic>
        <p:nvPicPr>
          <p:cNvPr descr="image.png" id="323" name="Google Shape;323;p25"/>
          <p:cNvPicPr preferRelativeResize="0"/>
          <p:nvPr/>
        </p:nvPicPr>
        <p:blipFill rotWithShape="1">
          <a:blip r:embed="rId5">
            <a:alphaModFix/>
          </a:blip>
          <a:srcRect b="0" l="0" r="0" t="0"/>
          <a:stretch/>
        </p:blipFill>
        <p:spPr>
          <a:xfrm>
            <a:off x="771525" y="581025"/>
            <a:ext cx="733425" cy="628650"/>
          </a:xfrm>
          <a:prstGeom prst="rect">
            <a:avLst/>
          </a:prstGeom>
          <a:noFill/>
          <a:ln>
            <a:noFill/>
          </a:ln>
        </p:spPr>
      </p:pic>
      <p:sp>
        <p:nvSpPr>
          <p:cNvPr id="324" name="Google Shape;324;p25"/>
          <p:cNvSpPr txBox="1"/>
          <p:nvPr/>
        </p:nvSpPr>
        <p:spPr>
          <a:xfrm>
            <a:off x="771525" y="2156817"/>
            <a:ext cx="64689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Inevitable Crash</a:t>
            </a:r>
            <a:endParaRPr/>
          </a:p>
        </p:txBody>
      </p:sp>
      <p:sp>
        <p:nvSpPr>
          <p:cNvPr id="325" name="Google Shape;325;p25"/>
          <p:cNvSpPr txBox="1"/>
          <p:nvPr/>
        </p:nvSpPr>
        <p:spPr>
          <a:xfrm>
            <a:off x="771525" y="2585442"/>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If you wire a user's prompt directly into FAISS, and they ask a complex math question, the system crashes.</a:t>
            </a:r>
            <a:endParaRPr/>
          </a:p>
        </p:txBody>
      </p:sp>
      <p:sp>
        <p:nvSpPr>
          <p:cNvPr id="326" name="Google Shape;326;p25"/>
          <p:cNvSpPr txBox="1"/>
          <p:nvPr/>
        </p:nvSpPr>
        <p:spPr>
          <a:xfrm>
            <a:off x="771525" y="3307258"/>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will blindly search for the semantic words "increase," "budget," and "12%." It will fail to return a computed mathematical answer.</a:t>
            </a:r>
            <a:endParaRPr/>
          </a:p>
        </p:txBody>
      </p:sp>
      <p:pic>
        <p:nvPicPr>
          <p:cNvPr descr="image.png" id="327" name="Google Shape;327;p25"/>
          <p:cNvPicPr preferRelativeResize="0"/>
          <p:nvPr/>
        </p:nvPicPr>
        <p:blipFill rotWithShape="1">
          <a:blip r:embed="rId6">
            <a:alphaModFix/>
          </a:blip>
          <a:srcRect b="0" l="0" r="0" t="0"/>
          <a:stretch/>
        </p:blipFill>
        <p:spPr>
          <a:xfrm>
            <a:off x="9009608" y="3051869"/>
            <a:ext cx="714375" cy="1143000"/>
          </a:xfrm>
          <a:prstGeom prst="rect">
            <a:avLst/>
          </a:prstGeom>
          <a:noFill/>
          <a:ln>
            <a:noFill/>
          </a:ln>
        </p:spPr>
      </p:pic>
      <p:sp>
        <p:nvSpPr>
          <p:cNvPr id="328" name="Google Shape;328;p25"/>
          <p:cNvSpPr txBox="1"/>
          <p:nvPr/>
        </p:nvSpPr>
        <p:spPr>
          <a:xfrm>
            <a:off x="7961858" y="4385369"/>
            <a:ext cx="2809800" cy="254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650" u="none" cap="none" strike="noStrike">
                <a:solidFill>
                  <a:srgbClr val="F59E0B"/>
                </a:solidFill>
                <a:latin typeface="Plus Jakarta Sans"/>
                <a:ea typeface="Plus Jakarta Sans"/>
                <a:cs typeface="Plus Jakarta Sans"/>
                <a:sym typeface="Plus Jakarta Sans"/>
              </a:rPr>
              <a:t>Intercept → Assess → Route</a:t>
            </a:r>
            <a:endParaRPr/>
          </a:p>
        </p:txBody>
      </p:sp>
      <p:sp>
        <p:nvSpPr>
          <p:cNvPr id="329" name="Google Shape;329;p25"/>
          <p:cNvSpPr txBox="1"/>
          <p:nvPr/>
        </p:nvSpPr>
        <p:spPr>
          <a:xfrm>
            <a:off x="1000125" y="4314825"/>
            <a:ext cx="60288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43F5E"/>
                </a:solidFill>
                <a:latin typeface="Plus Jakarta Sans SemiBold"/>
                <a:ea typeface="Plus Jakarta Sans SemiBold"/>
                <a:cs typeface="Plus Jakarta Sans SemiBold"/>
                <a:sym typeface="Plus Jakarta Sans SemiBold"/>
              </a:rPr>
              <a:t>The Solution: The Traffic Cop</a:t>
            </a:r>
            <a:endParaRPr/>
          </a:p>
        </p:txBody>
      </p:sp>
      <p:sp>
        <p:nvSpPr>
          <p:cNvPr id="330" name="Google Shape;330;p25"/>
          <p:cNvSpPr txBox="1"/>
          <p:nvPr/>
        </p:nvSpPr>
        <p:spPr>
          <a:xfrm>
            <a:off x="1000125" y="4648200"/>
            <a:ext cx="5741700" cy="8241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We must build an intelligent </a:t>
            </a:r>
            <a:r>
              <a:rPr b="1" i="0" lang="en-US" sz="1275" u="none" cap="none" strike="noStrike">
                <a:solidFill>
                  <a:srgbClr val="CBD5E1"/>
                </a:solidFill>
                <a:latin typeface="Plus Jakarta Sans"/>
                <a:ea typeface="Plus Jakarta Sans"/>
                <a:cs typeface="Plus Jakarta Sans"/>
                <a:sym typeface="Plus Jakarta Sans"/>
              </a:rPr>
              <a:t>Router</a:t>
            </a:r>
            <a:r>
              <a:rPr b="0" i="0" lang="en-US" sz="1275" u="none" cap="none" strike="noStrike">
                <a:solidFill>
                  <a:srgbClr val="CBD5E1"/>
                </a:solidFill>
                <a:latin typeface="Plus Jakarta Sans"/>
                <a:ea typeface="Plus Jakarta Sans"/>
                <a:cs typeface="Plus Jakarta Sans"/>
                <a:sym typeface="Plus Jakarta Sans"/>
              </a:rPr>
              <a:t> that intercepts the query, assesses its semantic intent, and flips a switch to send the data down the correct specialized pipeline.</a:t>
            </a:r>
            <a:endParaRPr/>
          </a:p>
        </p:txBody>
      </p:sp>
      <p:pic>
        <p:nvPicPr>
          <p:cNvPr id="331" name="Google Shape;331;p25"/>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335" name="Shape 335"/>
        <p:cNvGrpSpPr/>
        <p:nvPr/>
      </p:nvGrpSpPr>
      <p:grpSpPr>
        <a:xfrm>
          <a:off x="0" y="0"/>
          <a:ext cx="0" cy="0"/>
          <a:chOff x="0" y="0"/>
          <a:chExt cx="0" cy="0"/>
        </a:xfrm>
      </p:grpSpPr>
      <p:pic>
        <p:nvPicPr>
          <p:cNvPr descr="image.png" id="336" name="Google Shape;33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7" name="Google Shape;337;p26"/>
          <p:cNvPicPr preferRelativeResize="0"/>
          <p:nvPr/>
        </p:nvPicPr>
        <p:blipFill rotWithShape="1">
          <a:blip r:embed="rId4">
            <a:alphaModFix/>
          </a:blip>
          <a:srcRect b="0" l="0" r="0" t="0"/>
          <a:stretch/>
        </p:blipFill>
        <p:spPr>
          <a:xfrm>
            <a:off x="771525" y="3008114"/>
            <a:ext cx="5133974" cy="2763738"/>
          </a:xfrm>
          <a:prstGeom prst="rect">
            <a:avLst/>
          </a:prstGeom>
          <a:noFill/>
          <a:ln>
            <a:noFill/>
          </a:ln>
        </p:spPr>
      </p:pic>
      <p:pic>
        <p:nvPicPr>
          <p:cNvPr descr="image.png" id="338" name="Google Shape;338;p26"/>
          <p:cNvPicPr preferRelativeResize="0"/>
          <p:nvPr/>
        </p:nvPicPr>
        <p:blipFill rotWithShape="1">
          <a:blip r:embed="rId5">
            <a:alphaModFix/>
          </a:blip>
          <a:srcRect b="0" l="0" r="0" t="0"/>
          <a:stretch/>
        </p:blipFill>
        <p:spPr>
          <a:xfrm>
            <a:off x="6286500" y="3008114"/>
            <a:ext cx="5133974" cy="2763738"/>
          </a:xfrm>
          <a:prstGeom prst="rect">
            <a:avLst/>
          </a:prstGeom>
          <a:noFill/>
          <a:ln>
            <a:noFill/>
          </a:ln>
        </p:spPr>
      </p:pic>
      <p:sp>
        <p:nvSpPr>
          <p:cNvPr id="339" name="Google Shape;339;p26"/>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Two Architectures of </a:t>
            </a:r>
            <a:r>
              <a:rPr b="0" i="0" lang="en-US" sz="3150" u="none" cap="none" strike="noStrike">
                <a:solidFill>
                  <a:srgbClr val="14B8A6"/>
                </a:solidFill>
                <a:latin typeface="Space Grotesk"/>
                <a:ea typeface="Space Grotesk"/>
                <a:cs typeface="Space Grotesk"/>
                <a:sym typeface="Space Grotesk"/>
              </a:rPr>
              <a:t>Routing</a:t>
            </a:r>
            <a:endParaRPr/>
          </a:p>
        </p:txBody>
      </p:sp>
      <p:pic>
        <p:nvPicPr>
          <p:cNvPr descr="image.png" id="340" name="Google Shape;340;p26"/>
          <p:cNvPicPr preferRelativeResize="0"/>
          <p:nvPr/>
        </p:nvPicPr>
        <p:blipFill rotWithShape="1">
          <a:blip r:embed="rId6">
            <a:alphaModFix/>
          </a:blip>
          <a:srcRect b="0" l="0" r="0" t="0"/>
          <a:stretch/>
        </p:blipFill>
        <p:spPr>
          <a:xfrm>
            <a:off x="771525" y="581025"/>
            <a:ext cx="676275" cy="628650"/>
          </a:xfrm>
          <a:prstGeom prst="rect">
            <a:avLst/>
          </a:prstGeom>
          <a:noFill/>
          <a:ln>
            <a:noFill/>
          </a:ln>
        </p:spPr>
      </p:pic>
      <p:sp>
        <p:nvSpPr>
          <p:cNvPr id="341" name="Google Shape;341;p26"/>
          <p:cNvSpPr txBox="1"/>
          <p:nvPr/>
        </p:nvSpPr>
        <p:spPr>
          <a:xfrm>
            <a:off x="771525" y="2000547"/>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A senior MLOps engineer must master both routing architectures and know exactly when to deploy them based on latency constraints and query complexity.</a:t>
            </a:r>
            <a:endParaRPr/>
          </a:p>
        </p:txBody>
      </p:sp>
      <p:pic>
        <p:nvPicPr>
          <p:cNvPr descr="image.png" id="342" name="Google Shape;342;p26"/>
          <p:cNvPicPr preferRelativeResize="0"/>
          <p:nvPr/>
        </p:nvPicPr>
        <p:blipFill rotWithShape="1">
          <a:blip r:embed="rId7">
            <a:alphaModFix/>
          </a:blip>
          <a:srcRect b="0" l="0" r="0" t="0"/>
          <a:stretch/>
        </p:blipFill>
        <p:spPr>
          <a:xfrm>
            <a:off x="1066800" y="3331964"/>
            <a:ext cx="381000" cy="381000"/>
          </a:xfrm>
          <a:prstGeom prst="rect">
            <a:avLst/>
          </a:prstGeom>
          <a:noFill/>
          <a:ln>
            <a:noFill/>
          </a:ln>
        </p:spPr>
      </p:pic>
      <p:sp>
        <p:nvSpPr>
          <p:cNvPr id="343" name="Google Shape;343;p26"/>
          <p:cNvSpPr txBox="1"/>
          <p:nvPr/>
        </p:nvSpPr>
        <p:spPr>
          <a:xfrm>
            <a:off x="1066800" y="3855839"/>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1. Logical Routing</a:t>
            </a:r>
            <a:endParaRPr/>
          </a:p>
        </p:txBody>
      </p:sp>
      <p:sp>
        <p:nvSpPr>
          <p:cNvPr id="344" name="Google Shape;344;p26"/>
          <p:cNvSpPr txBox="1"/>
          <p:nvPr/>
        </p:nvSpPr>
        <p:spPr>
          <a:xfrm>
            <a:off x="1066800" y="4284464"/>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Uses a smaller, fast LLM (like Gemini 3 Flash) purely as a classification engine.</a:t>
            </a:r>
            <a:endParaRPr/>
          </a:p>
        </p:txBody>
      </p:sp>
      <p:sp>
        <p:nvSpPr>
          <p:cNvPr id="345" name="Google Shape;345;p26"/>
          <p:cNvSpPr txBox="1"/>
          <p:nvPr/>
        </p:nvSpPr>
        <p:spPr>
          <a:xfrm>
            <a:off x="1066800" y="4958655"/>
            <a:ext cx="4543500" cy="418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None/>
            </a:pPr>
            <a:r>
              <a:rPr b="1" i="0" lang="en-US" sz="1275" u="none" cap="none" strike="noStrike">
                <a:solidFill>
                  <a:srgbClr val="94A3B8"/>
                </a:solidFill>
                <a:latin typeface="Plus Jakarta Sans"/>
                <a:ea typeface="Plus Jakarta Sans"/>
                <a:cs typeface="Plus Jakarta Sans"/>
                <a:sym typeface="Plus Jakarta Sans"/>
              </a:rPr>
              <a:t>Pro:</a:t>
            </a:r>
            <a:r>
              <a:rPr b="0" i="0" lang="en-US" sz="1275" u="none" cap="none" strike="noStrike">
                <a:solidFill>
                  <a:srgbClr val="94A3B8"/>
                </a:solidFill>
                <a:latin typeface="Plus Jakarta Sans"/>
                <a:ea typeface="Plus Jakarta Sans"/>
                <a:cs typeface="Plus Jakarta Sans"/>
                <a:sym typeface="Plus Jakarta Sans"/>
              </a:rPr>
              <a:t> Deep reasoning. Can understand extreme nuance.</a:t>
            </a:r>
            <a:br>
              <a:rPr b="0" i="0" lang="en-US" sz="1800" u="none" cap="none" strike="noStrike">
                <a:solidFill>
                  <a:schemeClr val="dk1"/>
                </a:solidFill>
                <a:latin typeface="Calibri"/>
                <a:ea typeface="Calibri"/>
                <a:cs typeface="Calibri"/>
                <a:sym typeface="Calibri"/>
              </a:rPr>
            </a:br>
            <a:r>
              <a:rPr b="1" i="0" lang="en-US" sz="1275" u="none" cap="none" strike="noStrike">
                <a:solidFill>
                  <a:srgbClr val="94A3B8"/>
                </a:solidFill>
                <a:latin typeface="Plus Jakarta Sans"/>
                <a:ea typeface="Plus Jakarta Sans"/>
                <a:cs typeface="Plus Jakarta Sans"/>
                <a:sym typeface="Plus Jakarta Sans"/>
              </a:rPr>
              <a:t>Con:</a:t>
            </a:r>
            <a:r>
              <a:rPr b="0" i="0" lang="en-US" sz="1275" u="none" cap="none" strike="noStrike">
                <a:solidFill>
                  <a:srgbClr val="94A3B8"/>
                </a:solidFill>
                <a:latin typeface="Plus Jakarta Sans"/>
                <a:ea typeface="Plus Jakarta Sans"/>
                <a:cs typeface="Plus Jakarta Sans"/>
                <a:sym typeface="Plus Jakarta Sans"/>
              </a:rPr>
              <a:t> Introduces generation latency.</a:t>
            </a:r>
            <a:endParaRPr/>
          </a:p>
        </p:txBody>
      </p:sp>
      <p:pic>
        <p:nvPicPr>
          <p:cNvPr descr="image.png" id="346" name="Google Shape;346;p26"/>
          <p:cNvPicPr preferRelativeResize="0"/>
          <p:nvPr/>
        </p:nvPicPr>
        <p:blipFill rotWithShape="1">
          <a:blip r:embed="rId8">
            <a:alphaModFix/>
          </a:blip>
          <a:srcRect b="0" l="0" r="0" t="0"/>
          <a:stretch/>
        </p:blipFill>
        <p:spPr>
          <a:xfrm>
            <a:off x="6581775" y="3331964"/>
            <a:ext cx="333375" cy="381000"/>
          </a:xfrm>
          <a:prstGeom prst="rect">
            <a:avLst/>
          </a:prstGeom>
          <a:noFill/>
          <a:ln>
            <a:noFill/>
          </a:ln>
        </p:spPr>
      </p:pic>
      <p:sp>
        <p:nvSpPr>
          <p:cNvPr id="347" name="Google Shape;347;p26"/>
          <p:cNvSpPr txBox="1"/>
          <p:nvPr/>
        </p:nvSpPr>
        <p:spPr>
          <a:xfrm>
            <a:off x="6581775" y="3855839"/>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2. Semantic Routing</a:t>
            </a:r>
            <a:endParaRPr/>
          </a:p>
        </p:txBody>
      </p:sp>
      <p:sp>
        <p:nvSpPr>
          <p:cNvPr id="348" name="Google Shape;348;p26"/>
          <p:cNvSpPr txBox="1"/>
          <p:nvPr/>
        </p:nvSpPr>
        <p:spPr>
          <a:xfrm>
            <a:off x="6581775" y="4284464"/>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Uses raw Cosine Similarity math and pre-computed exemplar vectors to bypass the LLM entirely.</a:t>
            </a:r>
            <a:endParaRPr/>
          </a:p>
        </p:txBody>
      </p:sp>
      <p:sp>
        <p:nvSpPr>
          <p:cNvPr id="349" name="Google Shape;349;p26"/>
          <p:cNvSpPr txBox="1"/>
          <p:nvPr/>
        </p:nvSpPr>
        <p:spPr>
          <a:xfrm>
            <a:off x="6581775" y="4958655"/>
            <a:ext cx="4543500" cy="418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None/>
            </a:pPr>
            <a:r>
              <a:rPr b="1" i="0" lang="en-US" sz="1275" u="none" cap="none" strike="noStrike">
                <a:solidFill>
                  <a:srgbClr val="94A3B8"/>
                </a:solidFill>
                <a:latin typeface="Plus Jakarta Sans"/>
                <a:ea typeface="Plus Jakarta Sans"/>
                <a:cs typeface="Plus Jakarta Sans"/>
                <a:sym typeface="Plus Jakarta Sans"/>
              </a:rPr>
              <a:t>Pro:</a:t>
            </a:r>
            <a:r>
              <a:rPr b="0" i="0" lang="en-US" sz="1275" u="none" cap="none" strike="noStrike">
                <a:solidFill>
                  <a:srgbClr val="94A3B8"/>
                </a:solidFill>
                <a:latin typeface="Plus Jakarta Sans"/>
                <a:ea typeface="Plus Jakarta Sans"/>
                <a:cs typeface="Plus Jakarta Sans"/>
                <a:sym typeface="Plus Jakarta Sans"/>
              </a:rPr>
              <a:t> Blistering, sub-second speed.</a:t>
            </a:r>
            <a:br>
              <a:rPr b="0" i="0" lang="en-US" sz="1800" u="none" cap="none" strike="noStrike">
                <a:solidFill>
                  <a:schemeClr val="dk1"/>
                </a:solidFill>
                <a:latin typeface="Calibri"/>
                <a:ea typeface="Calibri"/>
                <a:cs typeface="Calibri"/>
                <a:sym typeface="Calibri"/>
              </a:rPr>
            </a:br>
            <a:r>
              <a:rPr b="1" i="0" lang="en-US" sz="1275" u="none" cap="none" strike="noStrike">
                <a:solidFill>
                  <a:srgbClr val="94A3B8"/>
                </a:solidFill>
                <a:latin typeface="Plus Jakarta Sans"/>
                <a:ea typeface="Plus Jakarta Sans"/>
                <a:cs typeface="Plus Jakarta Sans"/>
                <a:sym typeface="Plus Jakarta Sans"/>
              </a:rPr>
              <a:t>Con:</a:t>
            </a:r>
            <a:r>
              <a:rPr b="0" i="0" lang="en-US" sz="1275" u="none" cap="none" strike="noStrike">
                <a:solidFill>
                  <a:srgbClr val="94A3B8"/>
                </a:solidFill>
                <a:latin typeface="Plus Jakarta Sans"/>
                <a:ea typeface="Plus Jakarta Sans"/>
                <a:cs typeface="Plus Jakarta Sans"/>
                <a:sym typeface="Plus Jakarta Sans"/>
              </a:rPr>
              <a:t> Struggles with highly ambiguous or tricky language.</a:t>
            </a:r>
            <a:endParaRPr/>
          </a:p>
        </p:txBody>
      </p:sp>
      <p:pic>
        <p:nvPicPr>
          <p:cNvPr id="350" name="Google Shape;350;p26"/>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354" name="Shape 354"/>
        <p:cNvGrpSpPr/>
        <p:nvPr/>
      </p:nvGrpSpPr>
      <p:grpSpPr>
        <a:xfrm>
          <a:off x="0" y="0"/>
          <a:ext cx="0" cy="0"/>
          <a:chOff x="0" y="0"/>
          <a:chExt cx="0" cy="0"/>
        </a:xfrm>
      </p:grpSpPr>
      <p:pic>
        <p:nvPicPr>
          <p:cNvPr descr="image.png" id="355" name="Google Shape;355;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6" name="Google Shape;356;p27"/>
          <p:cNvPicPr preferRelativeResize="0"/>
          <p:nvPr/>
        </p:nvPicPr>
        <p:blipFill rotWithShape="1">
          <a:blip r:embed="rId4">
            <a:alphaModFix/>
          </a:blip>
          <a:srcRect b="0" l="0" r="0" t="0"/>
          <a:stretch/>
        </p:blipFill>
        <p:spPr>
          <a:xfrm>
            <a:off x="6286500" y="1495425"/>
            <a:ext cx="5133974" cy="4781550"/>
          </a:xfrm>
          <a:prstGeom prst="rect">
            <a:avLst/>
          </a:prstGeom>
          <a:noFill/>
          <a:ln>
            <a:noFill/>
          </a:ln>
        </p:spPr>
      </p:pic>
      <p:sp>
        <p:nvSpPr>
          <p:cNvPr id="357" name="Google Shape;357;p27"/>
          <p:cNvSpPr txBox="1"/>
          <p:nvPr/>
        </p:nvSpPr>
        <p:spPr>
          <a:xfrm>
            <a:off x="1495425" y="581025"/>
            <a:ext cx="104214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Logical Routing </a:t>
            </a:r>
            <a:r>
              <a:rPr b="0" i="0" lang="en-US" sz="3150" u="none" cap="none" strike="noStrike">
                <a:solidFill>
                  <a:srgbClr val="14B8A6"/>
                </a:solidFill>
                <a:latin typeface="Space Grotesk"/>
                <a:ea typeface="Space Grotesk"/>
                <a:cs typeface="Space Grotesk"/>
                <a:sym typeface="Space Grotesk"/>
              </a:rPr>
              <a:t>(LLM-as-Classifier)</a:t>
            </a:r>
            <a:endParaRPr/>
          </a:p>
        </p:txBody>
      </p:sp>
      <p:pic>
        <p:nvPicPr>
          <p:cNvPr descr="image.png" id="358" name="Google Shape;358;p27"/>
          <p:cNvPicPr preferRelativeResize="0"/>
          <p:nvPr/>
        </p:nvPicPr>
        <p:blipFill rotWithShape="1">
          <a:blip r:embed="rId5">
            <a:alphaModFix/>
          </a:blip>
          <a:srcRect b="0" l="0" r="0" t="0"/>
          <a:stretch/>
        </p:blipFill>
        <p:spPr>
          <a:xfrm>
            <a:off x="771525" y="581025"/>
            <a:ext cx="581025" cy="628650"/>
          </a:xfrm>
          <a:prstGeom prst="rect">
            <a:avLst/>
          </a:prstGeom>
          <a:noFill/>
          <a:ln>
            <a:noFill/>
          </a:ln>
        </p:spPr>
      </p:pic>
      <p:sp>
        <p:nvSpPr>
          <p:cNvPr id="359" name="Google Shape;359;p27"/>
          <p:cNvSpPr txBox="1"/>
          <p:nvPr/>
        </p:nvSpPr>
        <p:spPr>
          <a:xfrm>
            <a:off x="771525" y="1495425"/>
            <a:ext cx="539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Gatekeeper Concept</a:t>
            </a:r>
            <a:endParaRPr/>
          </a:p>
        </p:txBody>
      </p:sp>
      <p:sp>
        <p:nvSpPr>
          <p:cNvPr id="360" name="Google Shape;360;p27"/>
          <p:cNvSpPr txBox="1"/>
          <p:nvPr/>
        </p:nvSpPr>
        <p:spPr>
          <a:xfrm>
            <a:off x="771525" y="1924050"/>
            <a:ext cx="5133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do not ask this LLM to answer the user's question; we ask it to strictly categorize the question.</a:t>
            </a:r>
            <a:endParaRPr/>
          </a:p>
        </p:txBody>
      </p:sp>
      <p:sp>
        <p:nvSpPr>
          <p:cNvPr id="361" name="Google Shape;361;p27"/>
          <p:cNvSpPr txBox="1"/>
          <p:nvPr/>
        </p:nvSpPr>
        <p:spPr>
          <a:xfrm>
            <a:off x="6581775" y="1819275"/>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Benefit of Reasoning</a:t>
            </a:r>
            <a:endParaRPr/>
          </a:p>
        </p:txBody>
      </p:sp>
      <p:sp>
        <p:nvSpPr>
          <p:cNvPr id="362" name="Google Shape;362;p27"/>
          <p:cNvSpPr txBox="1"/>
          <p:nvPr/>
        </p:nvSpPr>
        <p:spPr>
          <a:xfrm>
            <a:off x="6581775" y="2247900"/>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Because it utilizes the Transformer architecture, it can parse incredibly complex intent.</a:t>
            </a:r>
            <a:endParaRPr/>
          </a:p>
        </p:txBody>
      </p:sp>
      <p:sp>
        <p:nvSpPr>
          <p:cNvPr id="363" name="Google Shape;363;p27"/>
          <p:cNvSpPr txBox="1"/>
          <p:nvPr/>
        </p:nvSpPr>
        <p:spPr>
          <a:xfrm>
            <a:off x="6581775" y="2969716"/>
            <a:ext cx="4543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n-US" sz="1275" u="none" cap="none" strike="noStrike">
                <a:solidFill>
                  <a:srgbClr val="CBD5E1"/>
                </a:solidFill>
                <a:latin typeface="Plus Jakarta Sans"/>
                <a:ea typeface="Plus Jakarta Sans"/>
                <a:cs typeface="Plus Jakarta Sans"/>
                <a:sym typeface="Plus Jakarta Sans"/>
              </a:rPr>
              <a:t>"Calculate the variance between the Q3 audit report and the Q4 audit report."</a:t>
            </a:r>
            <a:endParaRPr/>
          </a:p>
        </p:txBody>
      </p:sp>
      <p:sp>
        <p:nvSpPr>
          <p:cNvPr id="364" name="Google Shape;364;p27"/>
          <p:cNvSpPr txBox="1"/>
          <p:nvPr/>
        </p:nvSpPr>
        <p:spPr>
          <a:xfrm>
            <a:off x="6581775" y="3630513"/>
            <a:ext cx="4543500" cy="8241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CBD5E1"/>
                </a:solidFill>
                <a:latin typeface="Plus Jakarta Sans"/>
                <a:ea typeface="Plus Jakarta Sans"/>
                <a:cs typeface="Plus Jakarta Sans"/>
                <a:sym typeface="Plus Jakarta Sans"/>
              </a:rPr>
              <a:t>A simple keyword router might send this to the Math tool because of "Calculate." A logical LLM realizes it needs to read the reports first, routing it to FAISS.</a:t>
            </a:r>
            <a:endParaRPr/>
          </a:p>
        </p:txBody>
      </p:sp>
      <p:sp>
        <p:nvSpPr>
          <p:cNvPr id="365" name="Google Shape;365;p27"/>
          <p:cNvSpPr txBox="1"/>
          <p:nvPr/>
        </p:nvSpPr>
        <p:spPr>
          <a:xfrm>
            <a:off x="1104900" y="2693491"/>
            <a:ext cx="48006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write a highly specific, few-shot prompt.</a:t>
            </a:r>
            <a:endParaRPr/>
          </a:p>
        </p:txBody>
      </p:sp>
      <p:sp>
        <p:nvSpPr>
          <p:cNvPr id="366" name="Google Shape;366;p27"/>
          <p:cNvSpPr txBox="1"/>
          <p:nvPr/>
        </p:nvSpPr>
        <p:spPr>
          <a:xfrm>
            <a:off x="1104900" y="3107828"/>
            <a:ext cx="48006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combine it with Pydantic structured output (from Session 1.2).</a:t>
            </a:r>
            <a:endParaRPr/>
          </a:p>
        </p:txBody>
      </p:sp>
      <p:sp>
        <p:nvSpPr>
          <p:cNvPr id="367" name="Google Shape;367;p27"/>
          <p:cNvSpPr txBox="1"/>
          <p:nvPr/>
        </p:nvSpPr>
        <p:spPr>
          <a:xfrm>
            <a:off x="1104900" y="3793628"/>
            <a:ext cx="48006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force the LLM to return a single, hardcoded string.</a:t>
            </a:r>
            <a:endParaRPr/>
          </a:p>
        </p:txBody>
      </p:sp>
      <p:pic>
        <p:nvPicPr>
          <p:cNvPr descr="image.png" id="368" name="Google Shape;368;p27"/>
          <p:cNvPicPr preferRelativeResize="0"/>
          <p:nvPr/>
        </p:nvPicPr>
        <p:blipFill rotWithShape="1">
          <a:blip r:embed="rId6">
            <a:alphaModFix/>
          </a:blip>
          <a:srcRect b="0" l="0" r="0" t="0"/>
          <a:stretch/>
        </p:blipFill>
        <p:spPr>
          <a:xfrm>
            <a:off x="771525" y="2736353"/>
            <a:ext cx="171450" cy="180975"/>
          </a:xfrm>
          <a:prstGeom prst="rect">
            <a:avLst/>
          </a:prstGeom>
          <a:noFill/>
          <a:ln>
            <a:noFill/>
          </a:ln>
        </p:spPr>
      </p:pic>
      <p:pic>
        <p:nvPicPr>
          <p:cNvPr descr="image.png" id="369" name="Google Shape;369;p27"/>
          <p:cNvPicPr preferRelativeResize="0"/>
          <p:nvPr/>
        </p:nvPicPr>
        <p:blipFill rotWithShape="1">
          <a:blip r:embed="rId7">
            <a:alphaModFix/>
          </a:blip>
          <a:srcRect b="0" l="0" r="0" t="0"/>
          <a:stretch/>
        </p:blipFill>
        <p:spPr>
          <a:xfrm>
            <a:off x="771525" y="3150691"/>
            <a:ext cx="190500" cy="180975"/>
          </a:xfrm>
          <a:prstGeom prst="rect">
            <a:avLst/>
          </a:prstGeom>
          <a:noFill/>
          <a:ln>
            <a:noFill/>
          </a:ln>
        </p:spPr>
      </p:pic>
      <p:pic>
        <p:nvPicPr>
          <p:cNvPr descr="image.png" id="370" name="Google Shape;370;p27"/>
          <p:cNvPicPr preferRelativeResize="0"/>
          <p:nvPr/>
        </p:nvPicPr>
        <p:blipFill rotWithShape="1">
          <a:blip r:embed="rId8">
            <a:alphaModFix/>
          </a:blip>
          <a:srcRect b="0" l="0" r="0" t="0"/>
          <a:stretch/>
        </p:blipFill>
        <p:spPr>
          <a:xfrm>
            <a:off x="771525" y="3836491"/>
            <a:ext cx="152400" cy="180975"/>
          </a:xfrm>
          <a:prstGeom prst="rect">
            <a:avLst/>
          </a:prstGeom>
          <a:noFill/>
          <a:ln>
            <a:noFill/>
          </a:ln>
        </p:spPr>
      </p:pic>
      <p:pic>
        <p:nvPicPr>
          <p:cNvPr id="371" name="Google Shape;371;p27"/>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375" name="Shape 375"/>
        <p:cNvGrpSpPr/>
        <p:nvPr/>
      </p:nvGrpSpPr>
      <p:grpSpPr>
        <a:xfrm>
          <a:off x="0" y="0"/>
          <a:ext cx="0" cy="0"/>
          <a:chOff x="0" y="0"/>
          <a:chExt cx="0" cy="0"/>
        </a:xfrm>
      </p:grpSpPr>
      <p:pic>
        <p:nvPicPr>
          <p:cNvPr descr="image.png" id="376" name="Google Shape;376;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7" name="Google Shape;377;p28"/>
          <p:cNvPicPr preferRelativeResize="0"/>
          <p:nvPr/>
        </p:nvPicPr>
        <p:blipFill rotWithShape="1">
          <a:blip r:embed="rId4">
            <a:alphaModFix/>
          </a:blip>
          <a:srcRect b="0" l="0" r="0" t="0"/>
          <a:stretch/>
        </p:blipFill>
        <p:spPr>
          <a:xfrm>
            <a:off x="771525" y="2578447"/>
            <a:ext cx="10648949" cy="3238202"/>
          </a:xfrm>
          <a:prstGeom prst="rect">
            <a:avLst/>
          </a:prstGeom>
          <a:noFill/>
          <a:ln>
            <a:noFill/>
          </a:ln>
        </p:spPr>
      </p:pic>
      <p:sp>
        <p:nvSpPr>
          <p:cNvPr id="378" name="Google Shape;378;p28"/>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Logical </a:t>
            </a:r>
            <a:r>
              <a:rPr b="0" i="0" lang="en-US" sz="3150" u="none" cap="none" strike="noStrike">
                <a:solidFill>
                  <a:srgbClr val="14B8A6"/>
                </a:solidFill>
                <a:latin typeface="Space Grotesk"/>
                <a:ea typeface="Space Grotesk"/>
                <a:cs typeface="Space Grotesk"/>
                <a:sym typeface="Space Grotesk"/>
              </a:rPr>
              <a:t>Router Prompt</a:t>
            </a:r>
            <a:endParaRPr/>
          </a:p>
        </p:txBody>
      </p:sp>
      <p:pic>
        <p:nvPicPr>
          <p:cNvPr descr="image.png" id="379" name="Google Shape;379;p28"/>
          <p:cNvPicPr preferRelativeResize="0"/>
          <p:nvPr/>
        </p:nvPicPr>
        <p:blipFill rotWithShape="1">
          <a:blip r:embed="rId5">
            <a:alphaModFix/>
          </a:blip>
          <a:srcRect b="0" l="0" r="0" t="0"/>
          <a:stretch/>
        </p:blipFill>
        <p:spPr>
          <a:xfrm>
            <a:off x="771525" y="581025"/>
            <a:ext cx="676275" cy="628650"/>
          </a:xfrm>
          <a:prstGeom prst="rect">
            <a:avLst/>
          </a:prstGeom>
          <a:noFill/>
          <a:ln>
            <a:noFill/>
          </a:ln>
        </p:spPr>
      </p:pic>
      <p:sp>
        <p:nvSpPr>
          <p:cNvPr id="380" name="Google Shape;380;p28"/>
          <p:cNvSpPr txBox="1"/>
          <p:nvPr/>
        </p:nvSpPr>
        <p:spPr>
          <a:xfrm>
            <a:off x="771525" y="1955601"/>
            <a:ext cx="106491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By forcing the LLM to select from a strict list, we guarantee predictable routing behavior.</a:t>
            </a:r>
            <a:endParaRPr/>
          </a:p>
        </p:txBody>
      </p:sp>
      <p:sp>
        <p:nvSpPr>
          <p:cNvPr id="381" name="Google Shape;381;p28"/>
          <p:cNvSpPr txBox="1"/>
          <p:nvPr/>
        </p:nvSpPr>
        <p:spPr>
          <a:xfrm>
            <a:off x="1019175" y="2845147"/>
            <a:ext cx="61818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350" u="none" cap="none" strike="noStrike">
                <a:solidFill>
                  <a:srgbClr val="64748B"/>
                </a:solidFill>
                <a:latin typeface="Fira Code"/>
                <a:ea typeface="Fira Code"/>
                <a:cs typeface="Fira Code"/>
                <a:sym typeface="Fira Code"/>
              </a:rPr>
              <a:t>System: You are an expert routing classification algorithm.</a:t>
            </a:r>
            <a:endParaRPr/>
          </a:p>
        </p:txBody>
      </p:sp>
      <p:sp>
        <p:nvSpPr>
          <p:cNvPr id="382" name="Google Shape;382;p28"/>
          <p:cNvSpPr txBox="1"/>
          <p:nvPr/>
        </p:nvSpPr>
        <p:spPr>
          <a:xfrm>
            <a:off x="1019175" y="3119437"/>
            <a:ext cx="84867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350" u="none" cap="none" strike="noStrike">
                <a:solidFill>
                  <a:srgbClr val="64748B"/>
                </a:solidFill>
                <a:latin typeface="Fira Code"/>
                <a:ea typeface="Fira Code"/>
                <a:cs typeface="Fira Code"/>
                <a:sym typeface="Fira Code"/>
              </a:rPr>
              <a:t>Read the user's query and classify it into one of the following exact categories:</a:t>
            </a:r>
            <a:endParaRPr/>
          </a:p>
        </p:txBody>
      </p:sp>
      <p:sp>
        <p:nvSpPr>
          <p:cNvPr id="383" name="Google Shape;383;p28"/>
          <p:cNvSpPr txBox="1"/>
          <p:nvPr/>
        </p:nvSpPr>
        <p:spPr>
          <a:xfrm>
            <a:off x="1228725" y="3668017"/>
            <a:ext cx="11526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8C379"/>
                </a:solidFill>
                <a:latin typeface="Fira Code"/>
                <a:ea typeface="Fira Code"/>
                <a:cs typeface="Fira Code"/>
                <a:sym typeface="Fira Code"/>
              </a:rPr>
              <a:t>"vector_db"</a:t>
            </a:r>
            <a:endParaRPr/>
          </a:p>
        </p:txBody>
      </p:sp>
      <p:sp>
        <p:nvSpPr>
          <p:cNvPr id="384" name="Google Shape;384;p28"/>
          <p:cNvSpPr txBox="1"/>
          <p:nvPr/>
        </p:nvSpPr>
        <p:spPr>
          <a:xfrm>
            <a:off x="1228725" y="3942308"/>
            <a:ext cx="8382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8C379"/>
                </a:solidFill>
                <a:latin typeface="Fira Code"/>
                <a:ea typeface="Fira Code"/>
                <a:cs typeface="Fira Code"/>
                <a:sym typeface="Fira Code"/>
              </a:rPr>
              <a:t>"sql_db"</a:t>
            </a:r>
            <a:endParaRPr/>
          </a:p>
        </p:txBody>
      </p:sp>
      <p:sp>
        <p:nvSpPr>
          <p:cNvPr id="385" name="Google Shape;385;p28"/>
          <p:cNvSpPr txBox="1"/>
          <p:nvPr/>
        </p:nvSpPr>
        <p:spPr>
          <a:xfrm>
            <a:off x="1228725" y="4216598"/>
            <a:ext cx="11526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8C379"/>
                </a:solidFill>
                <a:latin typeface="Fira Code"/>
                <a:ea typeface="Fira Code"/>
                <a:cs typeface="Fira Code"/>
                <a:sym typeface="Fira Code"/>
              </a:rPr>
              <a:t>"math_tool"</a:t>
            </a:r>
            <a:endParaRPr/>
          </a:p>
        </p:txBody>
      </p:sp>
      <p:sp>
        <p:nvSpPr>
          <p:cNvPr id="386" name="Google Shape;386;p28"/>
          <p:cNvSpPr txBox="1"/>
          <p:nvPr/>
        </p:nvSpPr>
        <p:spPr>
          <a:xfrm>
            <a:off x="1228725" y="4490888"/>
            <a:ext cx="9429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98C379"/>
                </a:solidFill>
                <a:latin typeface="Fira Code"/>
                <a:ea typeface="Fira Code"/>
                <a:cs typeface="Fira Code"/>
                <a:sym typeface="Fira Code"/>
              </a:rPr>
              <a:t>"general"</a:t>
            </a:r>
            <a:endParaRPr/>
          </a:p>
        </p:txBody>
      </p:sp>
      <p:sp>
        <p:nvSpPr>
          <p:cNvPr id="387" name="Google Shape;387;p28"/>
          <p:cNvSpPr txBox="1"/>
          <p:nvPr/>
        </p:nvSpPr>
        <p:spPr>
          <a:xfrm>
            <a:off x="2276475" y="5039469"/>
            <a:ext cx="7335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678DD"/>
                </a:solidFill>
                <a:latin typeface="Fira Code"/>
                <a:ea typeface="Fira Code"/>
                <a:cs typeface="Fira Code"/>
                <a:sym typeface="Fira Code"/>
              </a:rPr>
              <a:t>{query}</a:t>
            </a:r>
            <a:endParaRPr/>
          </a:p>
        </p:txBody>
      </p:sp>
      <p:pic>
        <p:nvPicPr>
          <p:cNvPr id="388" name="Google Shape;388;p28"/>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392" name="Shape 392"/>
        <p:cNvGrpSpPr/>
        <p:nvPr/>
      </p:nvGrpSpPr>
      <p:grpSpPr>
        <a:xfrm>
          <a:off x="0" y="0"/>
          <a:ext cx="0" cy="0"/>
          <a:chOff x="0" y="0"/>
          <a:chExt cx="0" cy="0"/>
        </a:xfrm>
      </p:grpSpPr>
      <p:pic>
        <p:nvPicPr>
          <p:cNvPr descr="image.png" id="393" name="Google Shape;3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4" name="Google Shape;394;p29"/>
          <p:cNvPicPr preferRelativeResize="0"/>
          <p:nvPr/>
        </p:nvPicPr>
        <p:blipFill rotWithShape="1">
          <a:blip r:embed="rId4">
            <a:alphaModFix/>
          </a:blip>
          <a:srcRect b="0" l="0" r="0" t="0"/>
          <a:stretch/>
        </p:blipFill>
        <p:spPr>
          <a:xfrm>
            <a:off x="771525" y="2502991"/>
            <a:ext cx="10648949" cy="794295"/>
          </a:xfrm>
          <a:prstGeom prst="rect">
            <a:avLst/>
          </a:prstGeom>
          <a:noFill/>
          <a:ln>
            <a:noFill/>
          </a:ln>
        </p:spPr>
      </p:pic>
      <p:pic>
        <p:nvPicPr>
          <p:cNvPr descr="image.png" id="395" name="Google Shape;395;p29"/>
          <p:cNvPicPr preferRelativeResize="0"/>
          <p:nvPr/>
        </p:nvPicPr>
        <p:blipFill rotWithShape="1">
          <a:blip r:embed="rId5">
            <a:alphaModFix/>
          </a:blip>
          <a:srcRect b="0" l="0" r="0" t="0"/>
          <a:stretch/>
        </p:blipFill>
        <p:spPr>
          <a:xfrm>
            <a:off x="771525" y="3821162"/>
            <a:ext cx="10648949" cy="2455812"/>
          </a:xfrm>
          <a:prstGeom prst="rect">
            <a:avLst/>
          </a:prstGeom>
          <a:noFill/>
          <a:ln>
            <a:noFill/>
          </a:ln>
        </p:spPr>
      </p:pic>
      <p:sp>
        <p:nvSpPr>
          <p:cNvPr id="396" name="Google Shape;396;p29"/>
          <p:cNvSpPr txBox="1"/>
          <p:nvPr/>
        </p:nvSpPr>
        <p:spPr>
          <a:xfrm>
            <a:off x="1495425" y="581025"/>
            <a:ext cx="104214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Latency Trade-off</a:t>
            </a:r>
            <a:endParaRPr/>
          </a:p>
        </p:txBody>
      </p:sp>
      <p:pic>
        <p:nvPicPr>
          <p:cNvPr descr="image.png" id="397" name="Google Shape;397;p29"/>
          <p:cNvPicPr preferRelativeResize="0"/>
          <p:nvPr/>
        </p:nvPicPr>
        <p:blipFill rotWithShape="1">
          <a:blip r:embed="rId6">
            <a:alphaModFix/>
          </a:blip>
          <a:srcRect b="0" l="0" r="0" t="0"/>
          <a:stretch/>
        </p:blipFill>
        <p:spPr>
          <a:xfrm>
            <a:off x="771525" y="581025"/>
            <a:ext cx="581025" cy="628650"/>
          </a:xfrm>
          <a:prstGeom prst="rect">
            <a:avLst/>
          </a:prstGeom>
          <a:noFill/>
          <a:ln>
            <a:noFill/>
          </a:ln>
        </p:spPr>
      </p:pic>
      <p:sp>
        <p:nvSpPr>
          <p:cNvPr id="398" name="Google Shape;398;p29"/>
          <p:cNvSpPr txBox="1"/>
          <p:nvPr/>
        </p:nvSpPr>
        <p:spPr>
          <a:xfrm>
            <a:off x="771525" y="1495425"/>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Logical routing guarantees incredible accuracy, but it introduces </a:t>
            </a:r>
            <a:r>
              <a:rPr b="1" i="0" lang="en-US" sz="1425" u="none" cap="none" strike="noStrike">
                <a:solidFill>
                  <a:srgbClr val="CBD5E1"/>
                </a:solidFill>
                <a:latin typeface="Plus Jakarta Sans"/>
                <a:ea typeface="Plus Jakarta Sans"/>
                <a:cs typeface="Plus Jakarta Sans"/>
                <a:sym typeface="Plus Jakarta Sans"/>
              </a:rPr>
              <a:t>Sequential Latency</a:t>
            </a:r>
            <a:r>
              <a:rPr b="0" i="0" lang="en-US" sz="1425" u="none" cap="none" strike="noStrike">
                <a:solidFill>
                  <a:srgbClr val="CBD5E1"/>
                </a:solidFill>
                <a:latin typeface="Plus Jakarta Sans"/>
                <a:ea typeface="Plus Jakarta Sans"/>
                <a:cs typeface="Plus Jakarta Sans"/>
                <a:sym typeface="Plus Jakarta Sans"/>
              </a:rPr>
              <a:t>. By placing an LLM in front of the database, you add 500ms to 1.5 seconds of "dead time" before the actual work even begins.</a:t>
            </a:r>
            <a:endParaRPr/>
          </a:p>
        </p:txBody>
      </p:sp>
      <p:sp>
        <p:nvSpPr>
          <p:cNvPr id="399" name="Google Shape;399;p29"/>
          <p:cNvSpPr txBox="1"/>
          <p:nvPr/>
        </p:nvSpPr>
        <p:spPr>
          <a:xfrm>
            <a:off x="4925853" y="4622303"/>
            <a:ext cx="23403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59E0B"/>
                </a:solidFill>
                <a:latin typeface="Plus Jakarta Sans SemiBold"/>
                <a:ea typeface="Plus Jakarta Sans SemiBold"/>
                <a:cs typeface="Plus Jakarta Sans SemiBold"/>
                <a:sym typeface="Plus Jakarta Sans SemiBold"/>
              </a:rPr>
              <a:t>The Architect's Dilemma</a:t>
            </a:r>
            <a:endParaRPr/>
          </a:p>
        </p:txBody>
      </p:sp>
      <p:sp>
        <p:nvSpPr>
          <p:cNvPr id="400" name="Google Shape;400;p29"/>
          <p:cNvSpPr txBox="1"/>
          <p:nvPr/>
        </p:nvSpPr>
        <p:spPr>
          <a:xfrm>
            <a:off x="971550" y="4955678"/>
            <a:ext cx="10248900" cy="54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Plus Jakarta Sans"/>
                <a:ea typeface="Plus Jakarta Sans"/>
                <a:cs typeface="Plus Jakarta Sans"/>
                <a:sym typeface="Plus Jakarta Sans"/>
              </a:rPr>
              <a:t>In the 'Extract Once' pipeline, enterprise data is highly complex. We gladly trade 1 second of latency for absolute accuracy to distinguish between a request to read a budget (Vector DB) versus calculating a new budget (Math Tool).</a:t>
            </a:r>
            <a:endParaRPr/>
          </a:p>
        </p:txBody>
      </p:sp>
      <p:pic>
        <p:nvPicPr>
          <p:cNvPr id="401" name="Google Shape;401;p29"/>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05" name="Shape 405"/>
        <p:cNvGrpSpPr/>
        <p:nvPr/>
      </p:nvGrpSpPr>
      <p:grpSpPr>
        <a:xfrm>
          <a:off x="0" y="0"/>
          <a:ext cx="0" cy="0"/>
          <a:chOff x="0" y="0"/>
          <a:chExt cx="0" cy="0"/>
        </a:xfrm>
      </p:grpSpPr>
      <p:pic>
        <p:nvPicPr>
          <p:cNvPr descr="image.png" id="406" name="Google Shape;406;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07" name="Google Shape;407;p30"/>
          <p:cNvPicPr preferRelativeResize="0"/>
          <p:nvPr/>
        </p:nvPicPr>
        <p:blipFill rotWithShape="1">
          <a:blip r:embed="rId4">
            <a:alphaModFix/>
          </a:blip>
          <a:srcRect b="0" l="0" r="0" t="0"/>
          <a:stretch/>
        </p:blipFill>
        <p:spPr>
          <a:xfrm>
            <a:off x="6286500" y="1495425"/>
            <a:ext cx="5133974" cy="4781550"/>
          </a:xfrm>
          <a:prstGeom prst="rect">
            <a:avLst/>
          </a:prstGeom>
          <a:noFill/>
          <a:ln>
            <a:noFill/>
          </a:ln>
        </p:spPr>
      </p:pic>
      <p:sp>
        <p:nvSpPr>
          <p:cNvPr id="408" name="Google Shape;408;p30"/>
          <p:cNvSpPr txBox="1"/>
          <p:nvPr/>
        </p:nvSpPr>
        <p:spPr>
          <a:xfrm>
            <a:off x="1543050" y="581025"/>
            <a:ext cx="103713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Semantic Routing </a:t>
            </a:r>
            <a:r>
              <a:rPr b="0" i="0" lang="en-US" sz="3150" u="none" cap="none" strike="noStrike">
                <a:solidFill>
                  <a:srgbClr val="14B8A6"/>
                </a:solidFill>
                <a:latin typeface="Space Grotesk"/>
                <a:ea typeface="Space Grotesk"/>
                <a:cs typeface="Space Grotesk"/>
                <a:sym typeface="Space Grotesk"/>
              </a:rPr>
              <a:t>(Supersonic Switch)</a:t>
            </a:r>
            <a:endParaRPr/>
          </a:p>
        </p:txBody>
      </p:sp>
      <p:pic>
        <p:nvPicPr>
          <p:cNvPr descr="image.png" id="409" name="Google Shape;409;p30"/>
          <p:cNvPicPr preferRelativeResize="0"/>
          <p:nvPr/>
        </p:nvPicPr>
        <p:blipFill rotWithShape="1">
          <a:blip r:embed="rId5">
            <a:alphaModFix/>
          </a:blip>
          <a:srcRect b="0" l="0" r="0" t="0"/>
          <a:stretch/>
        </p:blipFill>
        <p:spPr>
          <a:xfrm>
            <a:off x="771525" y="581025"/>
            <a:ext cx="628650" cy="628650"/>
          </a:xfrm>
          <a:prstGeom prst="rect">
            <a:avLst/>
          </a:prstGeom>
          <a:noFill/>
          <a:ln>
            <a:noFill/>
          </a:ln>
        </p:spPr>
      </p:pic>
      <p:sp>
        <p:nvSpPr>
          <p:cNvPr id="410" name="Google Shape;410;p30"/>
          <p:cNvSpPr txBox="1"/>
          <p:nvPr/>
        </p:nvSpPr>
        <p:spPr>
          <a:xfrm>
            <a:off x="771525" y="1495425"/>
            <a:ext cx="539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Bypassing the LLM</a:t>
            </a:r>
            <a:endParaRPr/>
          </a:p>
        </p:txBody>
      </p:sp>
      <p:sp>
        <p:nvSpPr>
          <p:cNvPr id="411" name="Google Shape;411;p30"/>
          <p:cNvSpPr txBox="1"/>
          <p:nvPr/>
        </p:nvSpPr>
        <p:spPr>
          <a:xfrm>
            <a:off x="771525" y="1924050"/>
            <a:ext cx="51339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If your application requires blistering, sub-second speed, you cannot wait for an LLM to generate text. You must use Semantic Routing.</a:t>
            </a:r>
            <a:endParaRPr/>
          </a:p>
        </p:txBody>
      </p:sp>
      <p:sp>
        <p:nvSpPr>
          <p:cNvPr id="412" name="Google Shape;412;p30"/>
          <p:cNvSpPr txBox="1"/>
          <p:nvPr/>
        </p:nvSpPr>
        <p:spPr>
          <a:xfrm>
            <a:off x="771525" y="2935337"/>
            <a:ext cx="51339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Instead of neural network generation, it uses the raw </a:t>
            </a:r>
            <a:r>
              <a:rPr b="1" i="0" lang="en-US" sz="1425" u="none" cap="none" strike="noStrike">
                <a:solidFill>
                  <a:srgbClr val="CBD5E1"/>
                </a:solidFill>
                <a:latin typeface="Plus Jakarta Sans"/>
                <a:ea typeface="Plus Jakarta Sans"/>
                <a:cs typeface="Plus Jakarta Sans"/>
                <a:sym typeface="Plus Jakarta Sans"/>
              </a:rPr>
              <a:t>Cosine Similarity math</a:t>
            </a:r>
            <a:r>
              <a:rPr b="0" i="0" lang="en-US" sz="1425" u="none" cap="none" strike="noStrike">
                <a:solidFill>
                  <a:srgbClr val="CBD5E1"/>
                </a:solidFill>
                <a:latin typeface="Plus Jakarta Sans"/>
                <a:ea typeface="Plus Jakarta Sans"/>
                <a:cs typeface="Plus Jakarta Sans"/>
                <a:sym typeface="Plus Jakarta Sans"/>
              </a:rPr>
              <a:t> we learned in Session 2.1.</a:t>
            </a:r>
            <a:endParaRPr/>
          </a:p>
        </p:txBody>
      </p:sp>
      <p:sp>
        <p:nvSpPr>
          <p:cNvPr id="413" name="Google Shape;413;p30"/>
          <p:cNvSpPr txBox="1"/>
          <p:nvPr/>
        </p:nvSpPr>
        <p:spPr>
          <a:xfrm>
            <a:off x="6581775" y="1819275"/>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Execution Speed</a:t>
            </a:r>
            <a:endParaRPr/>
          </a:p>
        </p:txBody>
      </p:sp>
      <p:sp>
        <p:nvSpPr>
          <p:cNvPr id="414" name="Google Shape;414;p30"/>
          <p:cNvSpPr txBox="1"/>
          <p:nvPr/>
        </p:nvSpPr>
        <p:spPr>
          <a:xfrm>
            <a:off x="6581775" y="2247900"/>
            <a:ext cx="45435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Because it relies on vector distance calculation (an $O(1)$ lookup in optimized space), it executes in </a:t>
            </a:r>
            <a:r>
              <a:rPr b="1" i="0" lang="en-US" sz="1425" u="none" cap="none" strike="noStrike">
                <a:solidFill>
                  <a:srgbClr val="CBD5E1"/>
                </a:solidFill>
                <a:latin typeface="Plus Jakarta Sans"/>
                <a:ea typeface="Plus Jakarta Sans"/>
                <a:cs typeface="Plus Jakarta Sans"/>
                <a:sym typeface="Plus Jakarta Sans"/>
              </a:rPr>
              <a:t>&lt;50 milliseconds</a:t>
            </a:r>
            <a:r>
              <a:rPr b="0" i="0" lang="en-US" sz="1425" u="none" cap="none" strike="noStrike">
                <a:solidFill>
                  <a:srgbClr val="CBD5E1"/>
                </a:solidFill>
                <a:latin typeface="Plus Jakarta Sans"/>
                <a:ea typeface="Plus Jakarta Sans"/>
                <a:cs typeface="Plus Jakarta Sans"/>
                <a:sym typeface="Plus Jakarta Sans"/>
              </a:rPr>
              <a:t>.</a:t>
            </a:r>
            <a:endParaRPr/>
          </a:p>
        </p:txBody>
      </p:sp>
      <p:sp>
        <p:nvSpPr>
          <p:cNvPr id="415" name="Google Shape;415;p30"/>
          <p:cNvSpPr txBox="1"/>
          <p:nvPr/>
        </p:nvSpPr>
        <p:spPr>
          <a:xfrm>
            <a:off x="6581775" y="3259187"/>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It completely removes Latency_Router_LLM from the pipeline equation.</a:t>
            </a:r>
            <a:endParaRPr/>
          </a:p>
        </p:txBody>
      </p:sp>
      <p:pic>
        <p:nvPicPr>
          <p:cNvPr id="416" name="Google Shape;416;p30"/>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20" name="Shape 420"/>
        <p:cNvGrpSpPr/>
        <p:nvPr/>
      </p:nvGrpSpPr>
      <p:grpSpPr>
        <a:xfrm>
          <a:off x="0" y="0"/>
          <a:ext cx="0" cy="0"/>
          <a:chOff x="0" y="0"/>
          <a:chExt cx="0" cy="0"/>
        </a:xfrm>
      </p:grpSpPr>
      <p:pic>
        <p:nvPicPr>
          <p:cNvPr descr="image.png" id="421" name="Google Shape;421;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22" name="Google Shape;422;p31"/>
          <p:cNvPicPr preferRelativeResize="0"/>
          <p:nvPr/>
        </p:nvPicPr>
        <p:blipFill rotWithShape="1">
          <a:blip r:embed="rId4">
            <a:alphaModFix/>
          </a:blip>
          <a:srcRect b="0" l="0" r="0" t="0"/>
          <a:stretch/>
        </p:blipFill>
        <p:spPr>
          <a:xfrm>
            <a:off x="771525" y="2938462"/>
            <a:ext cx="3130599" cy="1895475"/>
          </a:xfrm>
          <a:prstGeom prst="rect">
            <a:avLst/>
          </a:prstGeom>
          <a:noFill/>
          <a:ln>
            <a:noFill/>
          </a:ln>
        </p:spPr>
      </p:pic>
      <p:pic>
        <p:nvPicPr>
          <p:cNvPr descr="image.png" id="423" name="Google Shape;423;p31"/>
          <p:cNvPicPr preferRelativeResize="0"/>
          <p:nvPr/>
        </p:nvPicPr>
        <p:blipFill rotWithShape="1">
          <a:blip r:embed="rId5">
            <a:alphaModFix/>
          </a:blip>
          <a:srcRect b="0" l="0" r="0" t="0"/>
          <a:stretch/>
        </p:blipFill>
        <p:spPr>
          <a:xfrm>
            <a:off x="4530774" y="2938462"/>
            <a:ext cx="3130599" cy="1438275"/>
          </a:xfrm>
          <a:prstGeom prst="rect">
            <a:avLst/>
          </a:prstGeom>
          <a:noFill/>
          <a:ln>
            <a:noFill/>
          </a:ln>
        </p:spPr>
      </p:pic>
      <p:pic>
        <p:nvPicPr>
          <p:cNvPr descr="image.png" id="424" name="Google Shape;424;p31"/>
          <p:cNvPicPr preferRelativeResize="0"/>
          <p:nvPr/>
        </p:nvPicPr>
        <p:blipFill rotWithShape="1">
          <a:blip r:embed="rId6">
            <a:alphaModFix/>
          </a:blip>
          <a:srcRect b="0" l="0" r="0" t="0"/>
          <a:stretch/>
        </p:blipFill>
        <p:spPr>
          <a:xfrm>
            <a:off x="8290024" y="2938462"/>
            <a:ext cx="3130599" cy="1666875"/>
          </a:xfrm>
          <a:prstGeom prst="rect">
            <a:avLst/>
          </a:prstGeom>
          <a:noFill/>
          <a:ln>
            <a:noFill/>
          </a:ln>
        </p:spPr>
      </p:pic>
      <p:sp>
        <p:nvSpPr>
          <p:cNvPr id="425" name="Google Shape;425;p31"/>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Semantic Routing </a:t>
            </a:r>
            <a:r>
              <a:rPr b="0" i="0" lang="en-US" sz="3150" u="none" cap="none" strike="noStrike">
                <a:solidFill>
                  <a:srgbClr val="14B8A6"/>
                </a:solidFill>
                <a:latin typeface="Space Grotesk"/>
                <a:ea typeface="Space Grotesk"/>
                <a:cs typeface="Space Grotesk"/>
                <a:sym typeface="Space Grotesk"/>
              </a:rPr>
              <a:t>Mechanics</a:t>
            </a:r>
            <a:endParaRPr/>
          </a:p>
        </p:txBody>
      </p:sp>
      <p:pic>
        <p:nvPicPr>
          <p:cNvPr descr="image.png" id="426" name="Google Shape;426;p31"/>
          <p:cNvPicPr preferRelativeResize="0"/>
          <p:nvPr/>
        </p:nvPicPr>
        <p:blipFill rotWithShape="1">
          <a:blip r:embed="rId7">
            <a:alphaModFix/>
          </a:blip>
          <a:srcRect b="0" l="0" r="0" t="0"/>
          <a:stretch/>
        </p:blipFill>
        <p:spPr>
          <a:xfrm>
            <a:off x="771525" y="581025"/>
            <a:ext cx="733425" cy="628650"/>
          </a:xfrm>
          <a:prstGeom prst="rect">
            <a:avLst/>
          </a:prstGeom>
          <a:noFill/>
          <a:ln>
            <a:noFill/>
          </a:ln>
        </p:spPr>
      </p:pic>
      <p:sp>
        <p:nvSpPr>
          <p:cNvPr id="427" name="Google Shape;427;p31"/>
          <p:cNvSpPr txBox="1"/>
          <p:nvPr/>
        </p:nvSpPr>
        <p:spPr>
          <a:xfrm>
            <a:off x="913287" y="3148012"/>
            <a:ext cx="28470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59E0B"/>
                </a:solidFill>
                <a:latin typeface="Plus Jakarta Sans SemiBold"/>
                <a:ea typeface="Plus Jakarta Sans SemiBold"/>
                <a:cs typeface="Plus Jakarta Sans SemiBold"/>
                <a:sym typeface="Plus Jakarta Sans SemiBold"/>
              </a:rPr>
              <a:t>1. Define Exemplars</a:t>
            </a:r>
            <a:endParaRPr/>
          </a:p>
        </p:txBody>
      </p:sp>
      <p:sp>
        <p:nvSpPr>
          <p:cNvPr id="428" name="Google Shape;428;p31"/>
          <p:cNvSpPr txBox="1"/>
          <p:nvPr/>
        </p:nvSpPr>
        <p:spPr>
          <a:xfrm>
            <a:off x="981075" y="3481387"/>
            <a:ext cx="2711400" cy="96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Manually define list of example queries per route.</a:t>
            </a:r>
            <a:br>
              <a:rPr b="0" i="0" lang="en-US" sz="1800" u="none" cap="none" strike="noStrike">
                <a:solidFill>
                  <a:schemeClr val="dk1"/>
                </a:solidFill>
                <a:latin typeface="Calibri"/>
                <a:ea typeface="Calibri"/>
                <a:cs typeface="Calibri"/>
                <a:sym typeface="Calibri"/>
              </a:rPr>
            </a:br>
            <a:br>
              <a:rPr b="0" i="0" lang="en-US" sz="1800" u="none" cap="none" strike="noStrike">
                <a:solidFill>
                  <a:schemeClr val="dk1"/>
                </a:solidFill>
                <a:latin typeface="Calibri"/>
                <a:ea typeface="Calibri"/>
                <a:cs typeface="Calibri"/>
                <a:sym typeface="Calibri"/>
              </a:rPr>
            </a:br>
            <a:r>
              <a:rPr b="0" i="0" lang="en-US" sz="1125" u="none" cap="none" strike="noStrike">
                <a:solidFill>
                  <a:srgbClr val="CBD5E1"/>
                </a:solidFill>
                <a:latin typeface="Plus Jakarta Sans"/>
                <a:ea typeface="Plus Jakarta Sans"/>
                <a:cs typeface="Plus Jakarta Sans"/>
                <a:sym typeface="Plus Jakarta Sans"/>
              </a:rPr>
              <a:t> Math: ["Calculate sum", "Multiply"]</a:t>
            </a:r>
            <a:br>
              <a:rPr b="0" i="0" lang="en-US" sz="1800" u="none" cap="none" strike="noStrike">
                <a:solidFill>
                  <a:schemeClr val="dk1"/>
                </a:solidFill>
                <a:latin typeface="Calibri"/>
                <a:ea typeface="Calibri"/>
                <a:cs typeface="Calibri"/>
                <a:sym typeface="Calibri"/>
              </a:rPr>
            </a:br>
            <a:r>
              <a:rPr b="0" i="0" lang="en-US" sz="1125" u="none" cap="none" strike="noStrike">
                <a:solidFill>
                  <a:srgbClr val="CBD5E1"/>
                </a:solidFill>
                <a:latin typeface="Plus Jakarta Sans"/>
                <a:ea typeface="Plus Jakarta Sans"/>
                <a:cs typeface="Plus Jakarta Sans"/>
                <a:sym typeface="Plus Jakarta Sans"/>
              </a:rPr>
              <a:t> FAISS: ["Read report", "Audit"]</a:t>
            </a:r>
            <a:endParaRPr/>
          </a:p>
        </p:txBody>
      </p:sp>
      <p:pic>
        <p:nvPicPr>
          <p:cNvPr descr="image.png" id="429" name="Google Shape;429;p31"/>
          <p:cNvPicPr preferRelativeResize="0"/>
          <p:nvPr/>
        </p:nvPicPr>
        <p:blipFill rotWithShape="1">
          <a:blip r:embed="rId8">
            <a:alphaModFix/>
          </a:blip>
          <a:srcRect b="0" l="0" r="0" t="0"/>
          <a:stretch/>
        </p:blipFill>
        <p:spPr>
          <a:xfrm>
            <a:off x="4092624" y="2938462"/>
            <a:ext cx="247650" cy="285750"/>
          </a:xfrm>
          <a:prstGeom prst="rect">
            <a:avLst/>
          </a:prstGeom>
          <a:noFill/>
          <a:ln>
            <a:noFill/>
          </a:ln>
        </p:spPr>
      </p:pic>
      <p:sp>
        <p:nvSpPr>
          <p:cNvPr id="430" name="Google Shape;430;p31"/>
          <p:cNvSpPr txBox="1"/>
          <p:nvPr/>
        </p:nvSpPr>
        <p:spPr>
          <a:xfrm>
            <a:off x="4672537" y="3148012"/>
            <a:ext cx="28470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6366F1"/>
                </a:solidFill>
                <a:latin typeface="Plus Jakarta Sans SemiBold"/>
                <a:ea typeface="Plus Jakarta Sans SemiBold"/>
                <a:cs typeface="Plus Jakarta Sans SemiBold"/>
                <a:sym typeface="Plus Jakarta Sans SemiBold"/>
              </a:rPr>
              <a:t>2. Pre-Embed</a:t>
            </a:r>
            <a:endParaRPr/>
          </a:p>
        </p:txBody>
      </p:sp>
      <p:sp>
        <p:nvSpPr>
          <p:cNvPr id="431" name="Google Shape;431;p31"/>
          <p:cNvSpPr txBox="1"/>
          <p:nvPr/>
        </p:nvSpPr>
        <p:spPr>
          <a:xfrm>
            <a:off x="4740324" y="3481387"/>
            <a:ext cx="2711400" cy="72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Convert all exemplars into high-dimensional vectors ahead of time and store them in memory.</a:t>
            </a:r>
            <a:endParaRPr/>
          </a:p>
        </p:txBody>
      </p:sp>
      <p:pic>
        <p:nvPicPr>
          <p:cNvPr descr="image.png" id="432" name="Google Shape;432;p31"/>
          <p:cNvPicPr preferRelativeResize="0"/>
          <p:nvPr/>
        </p:nvPicPr>
        <p:blipFill rotWithShape="1">
          <a:blip r:embed="rId9">
            <a:alphaModFix/>
          </a:blip>
          <a:srcRect b="0" l="0" r="0" t="0"/>
          <a:stretch/>
        </p:blipFill>
        <p:spPr>
          <a:xfrm>
            <a:off x="7851874" y="2938462"/>
            <a:ext cx="247650" cy="285750"/>
          </a:xfrm>
          <a:prstGeom prst="rect">
            <a:avLst/>
          </a:prstGeom>
          <a:noFill/>
          <a:ln>
            <a:noFill/>
          </a:ln>
        </p:spPr>
      </p:pic>
      <p:sp>
        <p:nvSpPr>
          <p:cNvPr id="433" name="Google Shape;433;p31"/>
          <p:cNvSpPr txBox="1"/>
          <p:nvPr/>
        </p:nvSpPr>
        <p:spPr>
          <a:xfrm>
            <a:off x="8431786" y="3148012"/>
            <a:ext cx="28470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14B8A6"/>
                </a:solidFill>
                <a:latin typeface="Plus Jakarta Sans SemiBold"/>
                <a:ea typeface="Plus Jakarta Sans SemiBold"/>
                <a:cs typeface="Plus Jakarta Sans SemiBold"/>
                <a:sym typeface="Plus Jakarta Sans SemiBold"/>
              </a:rPr>
              <a:t>3. Compute Distance</a:t>
            </a:r>
            <a:endParaRPr/>
          </a:p>
        </p:txBody>
      </p:sp>
      <p:sp>
        <p:nvSpPr>
          <p:cNvPr id="434" name="Google Shape;434;p31"/>
          <p:cNvSpPr txBox="1"/>
          <p:nvPr/>
        </p:nvSpPr>
        <p:spPr>
          <a:xfrm>
            <a:off x="8499574" y="3481387"/>
            <a:ext cx="2711400" cy="100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Instantly embed user query. Calculate Cosine Similarity against all exemplars. Route to the closest mathematical match.</a:t>
            </a:r>
            <a:endParaRPr/>
          </a:p>
        </p:txBody>
      </p:sp>
      <p:pic>
        <p:nvPicPr>
          <p:cNvPr id="435" name="Google Shape;435;p31"/>
          <p:cNvPicPr preferRelativeResize="0"/>
          <p:nvPr/>
        </p:nvPicPr>
        <p:blipFill>
          <a:blip r:embed="rId10">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39" name="Shape 439"/>
        <p:cNvGrpSpPr/>
        <p:nvPr/>
      </p:nvGrpSpPr>
      <p:grpSpPr>
        <a:xfrm>
          <a:off x="0" y="0"/>
          <a:ext cx="0" cy="0"/>
          <a:chOff x="0" y="0"/>
          <a:chExt cx="0" cy="0"/>
        </a:xfrm>
      </p:grpSpPr>
      <p:pic>
        <p:nvPicPr>
          <p:cNvPr descr="image.png" id="440" name="Google Shape;440;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1" name="Google Shape;441;p32"/>
          <p:cNvSpPr txBox="1"/>
          <p:nvPr/>
        </p:nvSpPr>
        <p:spPr>
          <a:xfrm>
            <a:off x="1543050" y="581025"/>
            <a:ext cx="103713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Architectural </a:t>
            </a:r>
            <a:r>
              <a:rPr b="0" i="0" lang="en-US" sz="3150" u="none" cap="none" strike="noStrike">
                <a:solidFill>
                  <a:srgbClr val="14B8A6"/>
                </a:solidFill>
                <a:latin typeface="Space Grotesk"/>
                <a:ea typeface="Space Grotesk"/>
                <a:cs typeface="Space Grotesk"/>
                <a:sym typeface="Space Grotesk"/>
              </a:rPr>
              <a:t>Comparison</a:t>
            </a:r>
            <a:endParaRPr/>
          </a:p>
        </p:txBody>
      </p:sp>
      <p:pic>
        <p:nvPicPr>
          <p:cNvPr descr="image.png" id="442" name="Google Shape;442;p32"/>
          <p:cNvPicPr preferRelativeResize="0"/>
          <p:nvPr/>
        </p:nvPicPr>
        <p:blipFill rotWithShape="1">
          <a:blip r:embed="rId4">
            <a:alphaModFix/>
          </a:blip>
          <a:srcRect b="0" l="0" r="0" t="0"/>
          <a:stretch/>
        </p:blipFill>
        <p:spPr>
          <a:xfrm>
            <a:off x="771525" y="581025"/>
            <a:ext cx="628650" cy="628650"/>
          </a:xfrm>
          <a:prstGeom prst="rect">
            <a:avLst/>
          </a:prstGeom>
          <a:noFill/>
          <a:ln>
            <a:noFill/>
          </a:ln>
        </p:spPr>
      </p:pic>
      <p:sp>
        <p:nvSpPr>
          <p:cNvPr id="443" name="Google Shape;443;p32"/>
          <p:cNvSpPr/>
          <p:nvPr/>
        </p:nvSpPr>
        <p:spPr>
          <a:xfrm>
            <a:off x="771525" y="2452687"/>
            <a:ext cx="10649100" cy="3009900"/>
          </a:xfrm>
          <a:prstGeom prst="roundRect">
            <a:avLst>
              <a:gd fmla="val 0" name="adj"/>
            </a:avLst>
          </a:prstGeom>
          <a:solidFill>
            <a:srgbClr val="1E293B"/>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444" name="Google Shape;444;p32"/>
          <p:cNvGraphicFramePr/>
          <p:nvPr/>
        </p:nvGraphicFramePr>
        <p:xfrm>
          <a:off x="771525" y="2452687"/>
          <a:ext cx="3000000" cy="3000000"/>
        </p:xfrm>
        <a:graphic>
          <a:graphicData uri="http://schemas.openxmlformats.org/drawingml/2006/table">
            <a:tbl>
              <a:tblPr bandRow="1" firstRow="1">
                <a:noFill/>
                <a:tableStyleId>{EF230EF3-5E40-4AAD-8CF3-C08F8DDD3656}</a:tableStyleId>
              </a:tblPr>
              <a:tblGrid>
                <a:gridCol w="1968850"/>
                <a:gridCol w="4099025"/>
                <a:gridCol w="4571550"/>
              </a:tblGrid>
              <a:tr h="601975">
                <a:tc>
                  <a:txBody>
                    <a:bodyPr/>
                    <a:lstStyle/>
                    <a:p>
                      <a:pPr indent="0" lvl="0" marL="0" marR="0" rtl="0" algn="l">
                        <a:spcBef>
                          <a:spcPts val="0"/>
                        </a:spcBef>
                        <a:spcAft>
                          <a:spcPts val="0"/>
                        </a:spcAft>
                        <a:buNone/>
                      </a:pPr>
                      <a:r>
                        <a:rPr b="1" i="0" lang="en-US" sz="1500" u="none" cap="none" strike="noStrike">
                          <a:solidFill>
                            <a:srgbClr val="14B8A6"/>
                          </a:solidFill>
                          <a:latin typeface="Space Grotesk"/>
                          <a:ea typeface="Space Grotesk"/>
                          <a:cs typeface="Space Grotesk"/>
                          <a:sym typeface="Space Grotesk"/>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500" u="none" cap="none" strike="noStrike">
                          <a:solidFill>
                            <a:srgbClr val="14B8A6"/>
                          </a:solidFill>
                          <a:latin typeface="Space Grotesk"/>
                          <a:ea typeface="Space Grotesk"/>
                          <a:cs typeface="Space Grotesk"/>
                          <a:sym typeface="Space Grotesk"/>
                        </a:rPr>
                        <a:t>Logical Routing (LLM)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c>
                  <a:txBody>
                    <a:bodyPr/>
                    <a:lstStyle/>
                    <a:p>
                      <a:pPr indent="0" lvl="0" marL="0" marR="0" rtl="0" algn="l">
                        <a:spcBef>
                          <a:spcPts val="0"/>
                        </a:spcBef>
                        <a:spcAft>
                          <a:spcPts val="0"/>
                        </a:spcAft>
                        <a:buNone/>
                      </a:pPr>
                      <a:r>
                        <a:rPr b="1" i="0" lang="en-US" sz="1500" u="none" cap="none" strike="noStrike">
                          <a:solidFill>
                            <a:srgbClr val="14B8A6"/>
                          </a:solidFill>
                          <a:latin typeface="Space Grotesk"/>
                          <a:ea typeface="Space Grotesk"/>
                          <a:cs typeface="Space Grotesk"/>
                          <a:sym typeface="Space Grotesk"/>
                        </a:rPr>
                        <a:t>Semantic Routing (Vectors)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293B"/>
                    </a:solidFill>
                  </a:tcPr>
                </a:tc>
              </a:tr>
              <a:tr h="601975">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Mechanism</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Generative Reasoning / Few-Shot Prompt</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Cosine Similarity / Exemplar Distance</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Latency</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F43F5E"/>
                          </a:solidFill>
                          <a:latin typeface="Plus Jakarta Sans"/>
                          <a:ea typeface="Plus Jakarta Sans"/>
                          <a:cs typeface="Plus Jakarta Sans"/>
                          <a:sym typeface="Plus Jakarta Sans"/>
                        </a:rPr>
                        <a:t>High (500ms - 1.5s)</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Blistering (&lt;50ms)</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Nuance Handling</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Excellent (Understands complex intent)</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F59E0B"/>
                          </a:solidFill>
                          <a:latin typeface="Plus Jakarta Sans"/>
                          <a:ea typeface="Plus Jakarta Sans"/>
                          <a:cs typeface="Plus Jakarta Sans"/>
                          <a:sym typeface="Plus Jakarta Sans"/>
                        </a:rPr>
                        <a:t>Moderate (Fails on highly ambiguous language)</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975">
                <a:tc>
                  <a:txBody>
                    <a:bodyPr/>
                    <a:lstStyle/>
                    <a:p>
                      <a:pPr indent="0" lvl="0" marL="0" marR="0" rtl="0" algn="l">
                        <a:spcBef>
                          <a:spcPts val="0"/>
                        </a:spcBef>
                        <a:spcAft>
                          <a:spcPts val="0"/>
                        </a:spcAft>
                        <a:buNone/>
                      </a:pPr>
                      <a:r>
                        <a:rPr b="1" i="0" lang="en-US" sz="1200" u="none" cap="none" strike="noStrike">
                          <a:latin typeface="Plus Jakarta Sans"/>
                          <a:ea typeface="Plus Jakarta Sans"/>
                          <a:cs typeface="Plus Jakarta Sans"/>
                          <a:sym typeface="Plus Jakarta Sans"/>
                        </a:rPr>
                        <a:t>Cost</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F43F5E"/>
                          </a:solidFill>
                          <a:latin typeface="Plus Jakarta Sans"/>
                          <a:ea typeface="Plus Jakarta Sans"/>
                          <a:cs typeface="Plus Jakarta Sans"/>
                          <a:sym typeface="Plus Jakarta Sans"/>
                        </a:rPr>
                        <a:t>High (Burns Generation API Tokens)</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Low (Only burns Embedding API Tokens)</a:t>
                      </a:r>
                      <a:endParaRPr b="1"/>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445" name="Google Shape;445;p32"/>
          <p:cNvPicPr preferRelativeResize="0"/>
          <p:nvPr/>
        </p:nvPicPr>
        <p:blipFill>
          <a:blip r:embed="rId5">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49" name="Shape 449"/>
        <p:cNvGrpSpPr/>
        <p:nvPr/>
      </p:nvGrpSpPr>
      <p:grpSpPr>
        <a:xfrm>
          <a:off x="0" y="0"/>
          <a:ext cx="0" cy="0"/>
          <a:chOff x="0" y="0"/>
          <a:chExt cx="0" cy="0"/>
        </a:xfrm>
      </p:grpSpPr>
      <p:pic>
        <p:nvPicPr>
          <p:cNvPr descr="image.png" id="450" name="Google Shape;450;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51" name="Google Shape;451;p33"/>
          <p:cNvPicPr preferRelativeResize="0"/>
          <p:nvPr/>
        </p:nvPicPr>
        <p:blipFill rotWithShape="1">
          <a:blip r:embed="rId4">
            <a:alphaModFix/>
          </a:blip>
          <a:srcRect b="0" l="0" r="0" t="0"/>
          <a:stretch/>
        </p:blipFill>
        <p:spPr>
          <a:xfrm>
            <a:off x="7313265" y="1495425"/>
            <a:ext cx="4107209" cy="4781550"/>
          </a:xfrm>
          <a:prstGeom prst="rect">
            <a:avLst/>
          </a:prstGeom>
          <a:noFill/>
          <a:ln>
            <a:noFill/>
          </a:ln>
        </p:spPr>
      </p:pic>
      <p:sp>
        <p:nvSpPr>
          <p:cNvPr id="452" name="Google Shape;452;p33"/>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Wiring the Router in </a:t>
            </a:r>
            <a:r>
              <a:rPr b="0" i="0" lang="en-US" sz="3150" u="none" cap="none" strike="noStrike">
                <a:solidFill>
                  <a:srgbClr val="14B8A6"/>
                </a:solidFill>
                <a:latin typeface="Space Grotesk"/>
                <a:ea typeface="Space Grotesk"/>
                <a:cs typeface="Space Grotesk"/>
                <a:sym typeface="Space Grotesk"/>
              </a:rPr>
              <a:t>LCEL</a:t>
            </a:r>
            <a:endParaRPr/>
          </a:p>
        </p:txBody>
      </p:sp>
      <p:pic>
        <p:nvPicPr>
          <p:cNvPr descr="image.png" id="453" name="Google Shape;453;p33"/>
          <p:cNvPicPr preferRelativeResize="0"/>
          <p:nvPr/>
        </p:nvPicPr>
        <p:blipFill rotWithShape="1">
          <a:blip r:embed="rId5">
            <a:alphaModFix/>
          </a:blip>
          <a:srcRect b="0" l="0" r="0" t="0"/>
          <a:stretch/>
        </p:blipFill>
        <p:spPr>
          <a:xfrm>
            <a:off x="771525" y="581025"/>
            <a:ext cx="733425" cy="628650"/>
          </a:xfrm>
          <a:prstGeom prst="rect">
            <a:avLst/>
          </a:prstGeom>
          <a:noFill/>
          <a:ln>
            <a:noFill/>
          </a:ln>
        </p:spPr>
      </p:pic>
      <p:sp>
        <p:nvSpPr>
          <p:cNvPr id="454" name="Google Shape;454;p33"/>
          <p:cNvSpPr txBox="1"/>
          <p:nvPr/>
        </p:nvSpPr>
        <p:spPr>
          <a:xfrm>
            <a:off x="771525" y="2479476"/>
            <a:ext cx="64689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Introducing RunnableBranch</a:t>
            </a:r>
            <a:endParaRPr/>
          </a:p>
        </p:txBody>
      </p:sp>
      <p:sp>
        <p:nvSpPr>
          <p:cNvPr id="455" name="Google Shape;455;p33"/>
          <p:cNvSpPr txBox="1"/>
          <p:nvPr/>
        </p:nvSpPr>
        <p:spPr>
          <a:xfrm>
            <a:off x="771525" y="2908101"/>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LangChain provides a specialized module explicitly designed to handle conditional logic inside a declarative pipeline.</a:t>
            </a:r>
            <a:endParaRPr/>
          </a:p>
        </p:txBody>
      </p:sp>
      <p:sp>
        <p:nvSpPr>
          <p:cNvPr id="456" name="Google Shape;456;p33"/>
          <p:cNvSpPr txBox="1"/>
          <p:nvPr/>
        </p:nvSpPr>
        <p:spPr>
          <a:xfrm>
            <a:off x="771525" y="3677542"/>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Think of RunnableBranch as a massive </a:t>
            </a:r>
            <a:r>
              <a:rPr b="1" i="0" lang="en-US" sz="1425" u="none" cap="none" strike="noStrike">
                <a:solidFill>
                  <a:srgbClr val="CBD5E1"/>
                </a:solidFill>
                <a:latin typeface="Plus Jakarta Sans"/>
                <a:ea typeface="Plus Jakarta Sans"/>
                <a:cs typeface="Plus Jakarta Sans"/>
                <a:sym typeface="Plus Jakarta Sans"/>
              </a:rPr>
              <a:t>if / elif / else statement</a:t>
            </a:r>
            <a:r>
              <a:rPr b="0" i="0" lang="en-US" sz="1425" u="none" cap="none" strike="noStrike">
                <a:solidFill>
                  <a:srgbClr val="CBD5E1"/>
                </a:solidFill>
                <a:latin typeface="Plus Jakarta Sans"/>
                <a:ea typeface="Plus Jakarta Sans"/>
                <a:cs typeface="Plus Jakarta Sans"/>
                <a:sym typeface="Plus Jakarta Sans"/>
              </a:rPr>
              <a:t> built directly into your data flow.</a:t>
            </a:r>
            <a:endParaRPr/>
          </a:p>
        </p:txBody>
      </p:sp>
      <p:pic>
        <p:nvPicPr>
          <p:cNvPr descr="image.png" id="457" name="Google Shape;457;p33"/>
          <p:cNvPicPr preferRelativeResize="0"/>
          <p:nvPr/>
        </p:nvPicPr>
        <p:blipFill rotWithShape="1">
          <a:blip r:embed="rId6">
            <a:alphaModFix/>
          </a:blip>
          <a:srcRect b="0" l="0" r="0" t="0"/>
          <a:stretch/>
        </p:blipFill>
        <p:spPr>
          <a:xfrm>
            <a:off x="9033420" y="3088034"/>
            <a:ext cx="666750" cy="762000"/>
          </a:xfrm>
          <a:prstGeom prst="rect">
            <a:avLst/>
          </a:prstGeom>
          <a:noFill/>
          <a:ln>
            <a:noFill/>
          </a:ln>
        </p:spPr>
      </p:pic>
      <p:sp>
        <p:nvSpPr>
          <p:cNvPr id="458" name="Google Shape;458;p33"/>
          <p:cNvSpPr txBox="1"/>
          <p:nvPr/>
        </p:nvSpPr>
        <p:spPr>
          <a:xfrm>
            <a:off x="8194149" y="4040534"/>
            <a:ext cx="2345400" cy="3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Dynamic Data Flow</a:t>
            </a:r>
            <a:endParaRPr/>
          </a:p>
        </p:txBody>
      </p:sp>
      <p:sp>
        <p:nvSpPr>
          <p:cNvPr id="459" name="Google Shape;459;p33"/>
          <p:cNvSpPr txBox="1"/>
          <p:nvPr/>
        </p:nvSpPr>
        <p:spPr>
          <a:xfrm>
            <a:off x="7785645" y="4469159"/>
            <a:ext cx="31623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Route execution without breaking the chain.</a:t>
            </a:r>
            <a:endParaRPr/>
          </a:p>
        </p:txBody>
      </p:sp>
      <p:sp>
        <p:nvSpPr>
          <p:cNvPr id="460" name="Google Shape;460;p33"/>
          <p:cNvSpPr txBox="1"/>
          <p:nvPr/>
        </p:nvSpPr>
        <p:spPr>
          <a:xfrm>
            <a:off x="1104900" y="4454574"/>
            <a:ext cx="58275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Dynamically flips tracks based on data properties.</a:t>
            </a:r>
            <a:endParaRPr/>
          </a:p>
        </p:txBody>
      </p:sp>
      <p:sp>
        <p:nvSpPr>
          <p:cNvPr id="461" name="Google Shape;461;p33"/>
          <p:cNvSpPr txBox="1"/>
          <p:nvPr/>
        </p:nvSpPr>
        <p:spPr>
          <a:xfrm>
            <a:off x="1104900" y="4868912"/>
            <a:ext cx="58275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Preserves the seamless | pipe operator architecture.</a:t>
            </a:r>
            <a:endParaRPr/>
          </a:p>
        </p:txBody>
      </p:sp>
      <p:pic>
        <p:nvPicPr>
          <p:cNvPr descr="image.png" id="462" name="Google Shape;462;p33"/>
          <p:cNvPicPr preferRelativeResize="0"/>
          <p:nvPr/>
        </p:nvPicPr>
        <p:blipFill rotWithShape="1">
          <a:blip r:embed="rId7">
            <a:alphaModFix/>
          </a:blip>
          <a:srcRect b="0" l="0" r="0" t="0"/>
          <a:stretch/>
        </p:blipFill>
        <p:spPr>
          <a:xfrm>
            <a:off x="771525" y="4497437"/>
            <a:ext cx="152400" cy="180975"/>
          </a:xfrm>
          <a:prstGeom prst="rect">
            <a:avLst/>
          </a:prstGeom>
          <a:noFill/>
          <a:ln>
            <a:noFill/>
          </a:ln>
        </p:spPr>
      </p:pic>
      <p:pic>
        <p:nvPicPr>
          <p:cNvPr descr="image.png" id="463" name="Google Shape;463;p33"/>
          <p:cNvPicPr preferRelativeResize="0"/>
          <p:nvPr/>
        </p:nvPicPr>
        <p:blipFill rotWithShape="1">
          <a:blip r:embed="rId7">
            <a:alphaModFix/>
          </a:blip>
          <a:srcRect b="0" l="0" r="0" t="0"/>
          <a:stretch/>
        </p:blipFill>
        <p:spPr>
          <a:xfrm>
            <a:off x="771525" y="4911774"/>
            <a:ext cx="152400" cy="180975"/>
          </a:xfrm>
          <a:prstGeom prst="rect">
            <a:avLst/>
          </a:prstGeom>
          <a:noFill/>
          <a:ln>
            <a:noFill/>
          </a:ln>
        </p:spPr>
      </p:pic>
      <p:pic>
        <p:nvPicPr>
          <p:cNvPr id="464" name="Google Shape;464;p33"/>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68" name="Shape 468"/>
        <p:cNvGrpSpPr/>
        <p:nvPr/>
      </p:nvGrpSpPr>
      <p:grpSpPr>
        <a:xfrm>
          <a:off x="0" y="0"/>
          <a:ext cx="0" cy="0"/>
          <a:chOff x="0" y="0"/>
          <a:chExt cx="0" cy="0"/>
        </a:xfrm>
      </p:grpSpPr>
      <p:pic>
        <p:nvPicPr>
          <p:cNvPr descr="image.png" id="469" name="Google Shape;469;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70" name="Google Shape;470;p34"/>
          <p:cNvPicPr preferRelativeResize="0"/>
          <p:nvPr/>
        </p:nvPicPr>
        <p:blipFill rotWithShape="1">
          <a:blip r:embed="rId4">
            <a:alphaModFix/>
          </a:blip>
          <a:srcRect b="0" l="0" r="0" t="0"/>
          <a:stretch/>
        </p:blipFill>
        <p:spPr>
          <a:xfrm>
            <a:off x="771525" y="3072854"/>
            <a:ext cx="5133974" cy="1634281"/>
          </a:xfrm>
          <a:prstGeom prst="rect">
            <a:avLst/>
          </a:prstGeom>
          <a:noFill/>
          <a:ln>
            <a:noFill/>
          </a:ln>
        </p:spPr>
      </p:pic>
      <p:pic>
        <p:nvPicPr>
          <p:cNvPr descr="image.png" id="471" name="Google Shape;471;p34"/>
          <p:cNvPicPr preferRelativeResize="0"/>
          <p:nvPr/>
        </p:nvPicPr>
        <p:blipFill rotWithShape="1">
          <a:blip r:embed="rId5">
            <a:alphaModFix/>
          </a:blip>
          <a:srcRect b="0" l="0" r="0" t="0"/>
          <a:stretch/>
        </p:blipFill>
        <p:spPr>
          <a:xfrm>
            <a:off x="6286500" y="3072854"/>
            <a:ext cx="5133974" cy="1634281"/>
          </a:xfrm>
          <a:prstGeom prst="rect">
            <a:avLst/>
          </a:prstGeom>
          <a:noFill/>
          <a:ln>
            <a:noFill/>
          </a:ln>
        </p:spPr>
      </p:pic>
      <p:sp>
        <p:nvSpPr>
          <p:cNvPr id="472" name="Google Shape;472;p34"/>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RunnableBranch </a:t>
            </a:r>
            <a:r>
              <a:rPr b="0" i="0" lang="en-US" sz="3150" u="none" cap="none" strike="noStrike">
                <a:solidFill>
                  <a:srgbClr val="14B8A6"/>
                </a:solidFill>
                <a:latin typeface="Space Grotesk"/>
                <a:ea typeface="Space Grotesk"/>
                <a:cs typeface="Space Grotesk"/>
                <a:sym typeface="Space Grotesk"/>
              </a:rPr>
              <a:t>Mechanics</a:t>
            </a:r>
            <a:endParaRPr/>
          </a:p>
        </p:txBody>
      </p:sp>
      <p:pic>
        <p:nvPicPr>
          <p:cNvPr descr="image.png" id="473" name="Google Shape;473;p34"/>
          <p:cNvPicPr preferRelativeResize="0"/>
          <p:nvPr/>
        </p:nvPicPr>
        <p:blipFill rotWithShape="1">
          <a:blip r:embed="rId6">
            <a:alphaModFix/>
          </a:blip>
          <a:srcRect b="0" l="0" r="0" t="0"/>
          <a:stretch/>
        </p:blipFill>
        <p:spPr>
          <a:xfrm>
            <a:off x="771525" y="581025"/>
            <a:ext cx="733425" cy="628650"/>
          </a:xfrm>
          <a:prstGeom prst="rect">
            <a:avLst/>
          </a:prstGeom>
          <a:noFill/>
          <a:ln>
            <a:noFill/>
          </a:ln>
        </p:spPr>
      </p:pic>
      <p:sp>
        <p:nvSpPr>
          <p:cNvPr id="474" name="Google Shape;474;p34"/>
          <p:cNvSpPr txBox="1"/>
          <p:nvPr/>
        </p:nvSpPr>
        <p:spPr>
          <a:xfrm>
            <a:off x="771525" y="2347168"/>
            <a:ext cx="106491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When you configure a RunnableBranch, you pass it tuples containing exactly two things:</a:t>
            </a:r>
            <a:endParaRPr/>
          </a:p>
        </p:txBody>
      </p:sp>
      <p:sp>
        <p:nvSpPr>
          <p:cNvPr id="475" name="Google Shape;475;p34"/>
          <p:cNvSpPr txBox="1"/>
          <p:nvPr/>
        </p:nvSpPr>
        <p:spPr>
          <a:xfrm>
            <a:off x="771525" y="5135760"/>
            <a:ext cx="106491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A5B4FC"/>
                </a:solidFill>
                <a:latin typeface="Plus Jakarta Sans"/>
                <a:ea typeface="Plus Jakarta Sans"/>
                <a:cs typeface="Plus Jakarta Sans"/>
                <a:sym typeface="Plus Jakarta Sans"/>
              </a:rPr>
              <a:t>The final argument is always the Default Fallback Chain (the "else" block).</a:t>
            </a:r>
            <a:endParaRPr/>
          </a:p>
        </p:txBody>
      </p:sp>
      <p:sp>
        <p:nvSpPr>
          <p:cNvPr id="476" name="Google Shape;476;p34"/>
          <p:cNvSpPr txBox="1"/>
          <p:nvPr/>
        </p:nvSpPr>
        <p:spPr>
          <a:xfrm>
            <a:off x="1066800" y="3396704"/>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1. The Condition</a:t>
            </a:r>
            <a:endParaRPr/>
          </a:p>
        </p:txBody>
      </p:sp>
      <p:sp>
        <p:nvSpPr>
          <p:cNvPr id="477" name="Google Shape;477;p34"/>
          <p:cNvSpPr txBox="1"/>
          <p:nvPr/>
        </p:nvSpPr>
        <p:spPr>
          <a:xfrm>
            <a:off x="1066800" y="3825329"/>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A simple Python function (like a lambda) or a Runnable that evaluates to strictly </a:t>
            </a:r>
            <a:r>
              <a:rPr b="1" i="0" lang="en-US" sz="1425" u="none" cap="none" strike="noStrike">
                <a:solidFill>
                  <a:srgbClr val="CBD5E1"/>
                </a:solidFill>
                <a:latin typeface="Plus Jakarta Sans"/>
                <a:ea typeface="Plus Jakarta Sans"/>
                <a:cs typeface="Plus Jakarta Sans"/>
                <a:sym typeface="Plus Jakarta Sans"/>
              </a:rPr>
              <a:t>True or False</a:t>
            </a:r>
            <a:r>
              <a:rPr b="0" i="0" lang="en-US" sz="1425" u="none" cap="none" strike="noStrike">
                <a:solidFill>
                  <a:srgbClr val="CBD5E1"/>
                </a:solidFill>
                <a:latin typeface="Plus Jakarta Sans"/>
                <a:ea typeface="Plus Jakarta Sans"/>
                <a:cs typeface="Plus Jakarta Sans"/>
                <a:sym typeface="Plus Jakarta Sans"/>
              </a:rPr>
              <a:t>.</a:t>
            </a:r>
            <a:endParaRPr/>
          </a:p>
        </p:txBody>
      </p:sp>
      <p:sp>
        <p:nvSpPr>
          <p:cNvPr id="478" name="Google Shape;478;p34"/>
          <p:cNvSpPr txBox="1"/>
          <p:nvPr/>
        </p:nvSpPr>
        <p:spPr>
          <a:xfrm>
            <a:off x="6581775" y="3396704"/>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2. The Target Chain</a:t>
            </a:r>
            <a:endParaRPr/>
          </a:p>
        </p:txBody>
      </p:sp>
      <p:sp>
        <p:nvSpPr>
          <p:cNvPr id="479" name="Google Shape;479;p34"/>
          <p:cNvSpPr txBox="1"/>
          <p:nvPr/>
        </p:nvSpPr>
        <p:spPr>
          <a:xfrm>
            <a:off x="6581775" y="3825329"/>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specific, specialized LCEL pipeline to execute if the condition evaluates to True.</a:t>
            </a:r>
            <a:endParaRPr/>
          </a:p>
        </p:txBody>
      </p:sp>
      <p:pic>
        <p:nvPicPr>
          <p:cNvPr id="480" name="Google Shape;480;p34"/>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484" name="Shape 484"/>
        <p:cNvGrpSpPr/>
        <p:nvPr/>
      </p:nvGrpSpPr>
      <p:grpSpPr>
        <a:xfrm>
          <a:off x="0" y="0"/>
          <a:ext cx="0" cy="0"/>
          <a:chOff x="0" y="0"/>
          <a:chExt cx="0" cy="0"/>
        </a:xfrm>
      </p:grpSpPr>
      <p:pic>
        <p:nvPicPr>
          <p:cNvPr descr="image.png" id="485" name="Google Shape;485;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86" name="Google Shape;486;p35"/>
          <p:cNvPicPr preferRelativeResize="0"/>
          <p:nvPr/>
        </p:nvPicPr>
        <p:blipFill rotWithShape="1">
          <a:blip r:embed="rId4">
            <a:alphaModFix/>
          </a:blip>
          <a:srcRect b="0" l="0" r="0" t="0"/>
          <a:stretch/>
        </p:blipFill>
        <p:spPr>
          <a:xfrm>
            <a:off x="771525" y="2549872"/>
            <a:ext cx="10648949" cy="2095500"/>
          </a:xfrm>
          <a:prstGeom prst="rect">
            <a:avLst/>
          </a:prstGeom>
          <a:noFill/>
          <a:ln>
            <a:noFill/>
          </a:ln>
        </p:spPr>
      </p:pic>
      <p:sp>
        <p:nvSpPr>
          <p:cNvPr id="487" name="Google Shape;487;p35"/>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Conceptual Pipeline </a:t>
            </a:r>
            <a:r>
              <a:rPr b="0" i="0" lang="en-US" sz="3150" u="none" cap="none" strike="noStrike">
                <a:solidFill>
                  <a:srgbClr val="14B8A6"/>
                </a:solidFill>
                <a:latin typeface="Space Grotesk"/>
                <a:ea typeface="Space Grotesk"/>
                <a:cs typeface="Space Grotesk"/>
                <a:sym typeface="Space Grotesk"/>
              </a:rPr>
              <a:t>Architecture</a:t>
            </a:r>
            <a:endParaRPr/>
          </a:p>
        </p:txBody>
      </p:sp>
      <p:pic>
        <p:nvPicPr>
          <p:cNvPr descr="image.png" id="488" name="Google Shape;488;p35"/>
          <p:cNvPicPr preferRelativeResize="0"/>
          <p:nvPr/>
        </p:nvPicPr>
        <p:blipFill rotWithShape="1">
          <a:blip r:embed="rId5">
            <a:alphaModFix/>
          </a:blip>
          <a:srcRect b="0" l="0" r="0" t="0"/>
          <a:stretch/>
        </p:blipFill>
        <p:spPr>
          <a:xfrm>
            <a:off x="771525" y="581025"/>
            <a:ext cx="676275" cy="628650"/>
          </a:xfrm>
          <a:prstGeom prst="rect">
            <a:avLst/>
          </a:prstGeom>
          <a:noFill/>
          <a:ln>
            <a:noFill/>
          </a:ln>
        </p:spPr>
      </p:pic>
      <p:sp>
        <p:nvSpPr>
          <p:cNvPr id="489" name="Google Shape;489;p35"/>
          <p:cNvSpPr txBox="1"/>
          <p:nvPr/>
        </p:nvSpPr>
        <p:spPr>
          <a:xfrm>
            <a:off x="771525" y="4978747"/>
            <a:ext cx="106491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14B8A6"/>
                </a:solidFill>
                <a:latin typeface="Plus Jakarta Sans"/>
                <a:ea typeface="Plus Jakarta Sans"/>
                <a:cs typeface="Plus Jakarta Sans"/>
                <a:sym typeface="Plus Jakarta Sans"/>
              </a:rPr>
              <a:t>The illusion of magic: The user types into one single box, and the AI autonomously figures out which backend system to query.</a:t>
            </a:r>
            <a:endParaRPr/>
          </a:p>
        </p:txBody>
      </p:sp>
      <p:sp>
        <p:nvSpPr>
          <p:cNvPr id="490" name="Google Shape;490;p35"/>
          <p:cNvSpPr txBox="1"/>
          <p:nvPr/>
        </p:nvSpPr>
        <p:spPr>
          <a:xfrm>
            <a:off x="1019175" y="2816572"/>
            <a:ext cx="3429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from</a:t>
            </a:r>
            <a:endParaRPr/>
          </a:p>
        </p:txBody>
      </p:sp>
      <p:sp>
        <p:nvSpPr>
          <p:cNvPr id="491" name="Google Shape;491;p35"/>
          <p:cNvSpPr txBox="1"/>
          <p:nvPr/>
        </p:nvSpPr>
        <p:spPr>
          <a:xfrm>
            <a:off x="3590925" y="2816572"/>
            <a:ext cx="5145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import</a:t>
            </a:r>
            <a:endParaRPr/>
          </a:p>
        </p:txBody>
      </p:sp>
      <p:sp>
        <p:nvSpPr>
          <p:cNvPr id="492" name="Google Shape;492;p35"/>
          <p:cNvSpPr txBox="1"/>
          <p:nvPr/>
        </p:nvSpPr>
        <p:spPr>
          <a:xfrm>
            <a:off x="1019175" y="2816572"/>
            <a:ext cx="100299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125" u="none" cap="none" strike="noStrike">
                <a:solidFill>
                  <a:srgbClr val="64748B"/>
                </a:solidFill>
                <a:latin typeface="Fira Code"/>
                <a:ea typeface="Fira Code"/>
                <a:cs typeface="Fira Code"/>
                <a:sym typeface="Fira Code"/>
              </a:rPr>
              <a:t># Assuming an upstream LLM outputs "math", "vector", or "general" into x["topic"]</a:t>
            </a:r>
            <a:endParaRPr/>
          </a:p>
        </p:txBody>
      </p:sp>
      <p:sp>
        <p:nvSpPr>
          <p:cNvPr id="493" name="Google Shape;493;p35"/>
          <p:cNvSpPr txBox="1"/>
          <p:nvPr/>
        </p:nvSpPr>
        <p:spPr>
          <a:xfrm>
            <a:off x="1447800" y="3273772"/>
            <a:ext cx="5145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lambda</a:t>
            </a:r>
            <a:endParaRPr/>
          </a:p>
        </p:txBody>
      </p:sp>
      <p:sp>
        <p:nvSpPr>
          <p:cNvPr id="494" name="Google Shape;494;p35"/>
          <p:cNvSpPr txBox="1"/>
          <p:nvPr/>
        </p:nvSpPr>
        <p:spPr>
          <a:xfrm>
            <a:off x="2305050" y="3273772"/>
            <a:ext cx="5145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8C379"/>
                </a:solidFill>
                <a:latin typeface="Fira Code"/>
                <a:ea typeface="Fira Code"/>
                <a:cs typeface="Fira Code"/>
                <a:sym typeface="Fira Code"/>
              </a:rPr>
              <a:t>"math"</a:t>
            </a:r>
            <a:endParaRPr/>
          </a:p>
        </p:txBody>
      </p:sp>
      <p:sp>
        <p:nvSpPr>
          <p:cNvPr id="495" name="Google Shape;495;p35"/>
          <p:cNvSpPr txBox="1"/>
          <p:nvPr/>
        </p:nvSpPr>
        <p:spPr>
          <a:xfrm>
            <a:off x="2905125" y="3273772"/>
            <a:ext cx="1716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in</a:t>
            </a:r>
            <a:endParaRPr/>
          </a:p>
        </p:txBody>
      </p:sp>
      <p:sp>
        <p:nvSpPr>
          <p:cNvPr id="496" name="Google Shape;496;p35"/>
          <p:cNvSpPr txBox="1"/>
          <p:nvPr/>
        </p:nvSpPr>
        <p:spPr>
          <a:xfrm>
            <a:off x="3333750" y="3273772"/>
            <a:ext cx="600000" cy="45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8C379"/>
                </a:solidFill>
                <a:latin typeface="Fira Code"/>
                <a:ea typeface="Fira Code"/>
                <a:cs typeface="Fira Code"/>
                <a:sym typeface="Fira Code"/>
              </a:rPr>
              <a:t>"topic"</a:t>
            </a:r>
            <a:endParaRPr/>
          </a:p>
        </p:txBody>
      </p:sp>
      <p:sp>
        <p:nvSpPr>
          <p:cNvPr id="497" name="Google Shape;497;p35"/>
          <p:cNvSpPr txBox="1"/>
          <p:nvPr/>
        </p:nvSpPr>
        <p:spPr>
          <a:xfrm>
            <a:off x="1447800" y="3502372"/>
            <a:ext cx="5145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lambda</a:t>
            </a:r>
            <a:endParaRPr/>
          </a:p>
        </p:txBody>
      </p:sp>
      <p:sp>
        <p:nvSpPr>
          <p:cNvPr id="498" name="Google Shape;498;p35"/>
          <p:cNvSpPr txBox="1"/>
          <p:nvPr/>
        </p:nvSpPr>
        <p:spPr>
          <a:xfrm>
            <a:off x="2305050" y="3502372"/>
            <a:ext cx="6858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8C379"/>
                </a:solidFill>
                <a:latin typeface="Fira Code"/>
                <a:ea typeface="Fira Code"/>
                <a:cs typeface="Fira Code"/>
                <a:sym typeface="Fira Code"/>
              </a:rPr>
              <a:t>"vector"</a:t>
            </a:r>
            <a:endParaRPr/>
          </a:p>
        </p:txBody>
      </p:sp>
      <p:sp>
        <p:nvSpPr>
          <p:cNvPr id="499" name="Google Shape;499;p35"/>
          <p:cNvSpPr txBox="1"/>
          <p:nvPr/>
        </p:nvSpPr>
        <p:spPr>
          <a:xfrm>
            <a:off x="3076575" y="3502372"/>
            <a:ext cx="1716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678DD"/>
                </a:solidFill>
                <a:latin typeface="Fira Code"/>
                <a:ea typeface="Fira Code"/>
                <a:cs typeface="Fira Code"/>
                <a:sym typeface="Fira Code"/>
              </a:rPr>
              <a:t>in</a:t>
            </a:r>
            <a:endParaRPr/>
          </a:p>
        </p:txBody>
      </p:sp>
      <p:sp>
        <p:nvSpPr>
          <p:cNvPr id="500" name="Google Shape;500;p35"/>
          <p:cNvSpPr txBox="1"/>
          <p:nvPr/>
        </p:nvSpPr>
        <p:spPr>
          <a:xfrm>
            <a:off x="3505200" y="3502372"/>
            <a:ext cx="600000" cy="45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98C379"/>
                </a:solidFill>
                <a:latin typeface="Fira Code"/>
                <a:ea typeface="Fira Code"/>
                <a:cs typeface="Fira Code"/>
                <a:sym typeface="Fira Code"/>
              </a:rPr>
              <a:t>"topic"</a:t>
            </a:r>
            <a:endParaRPr/>
          </a:p>
        </p:txBody>
      </p:sp>
      <p:sp>
        <p:nvSpPr>
          <p:cNvPr id="501" name="Google Shape;501;p35"/>
          <p:cNvSpPr txBox="1"/>
          <p:nvPr/>
        </p:nvSpPr>
        <p:spPr>
          <a:xfrm>
            <a:off x="1362075" y="3730972"/>
            <a:ext cx="45435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125" u="none" cap="none" strike="noStrike">
                <a:solidFill>
                  <a:srgbClr val="64748B"/>
                </a:solidFill>
                <a:latin typeface="Fira Code"/>
                <a:ea typeface="Fira Code"/>
                <a:cs typeface="Fira Code"/>
                <a:sym typeface="Fira Code"/>
              </a:rPr>
              <a:t># The default fallback chain if no conditions are met</a:t>
            </a:r>
            <a:endParaRPr/>
          </a:p>
        </p:txBody>
      </p:sp>
      <p:sp>
        <p:nvSpPr>
          <p:cNvPr id="502" name="Google Shape;502;p35"/>
          <p:cNvSpPr txBox="1"/>
          <p:nvPr/>
        </p:nvSpPr>
        <p:spPr>
          <a:xfrm>
            <a:off x="1190625" y="4188172"/>
            <a:ext cx="2057400" cy="173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125" u="none" cap="none" strike="noStrike">
                <a:solidFill>
                  <a:srgbClr val="64748B"/>
                </a:solidFill>
                <a:latin typeface="Fira Code"/>
                <a:ea typeface="Fira Code"/>
                <a:cs typeface="Fira Code"/>
                <a:sym typeface="Fira Code"/>
              </a:rPr>
              <a:t># The Full Pipeline Flow</a:t>
            </a:r>
            <a:endParaRPr/>
          </a:p>
        </p:txBody>
      </p:sp>
      <p:pic>
        <p:nvPicPr>
          <p:cNvPr id="503" name="Google Shape;503;p35"/>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07" name="Shape 507"/>
        <p:cNvGrpSpPr/>
        <p:nvPr/>
      </p:nvGrpSpPr>
      <p:grpSpPr>
        <a:xfrm>
          <a:off x="0" y="0"/>
          <a:ext cx="0" cy="0"/>
          <a:chOff x="0" y="0"/>
          <a:chExt cx="0" cy="0"/>
        </a:xfrm>
      </p:grpSpPr>
      <p:pic>
        <p:nvPicPr>
          <p:cNvPr descr="image.png" id="508" name="Google Shape;508;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9" name="Google Shape;509;p36"/>
          <p:cNvPicPr preferRelativeResize="0"/>
          <p:nvPr/>
        </p:nvPicPr>
        <p:blipFill rotWithShape="1">
          <a:blip r:embed="rId4">
            <a:alphaModFix/>
          </a:blip>
          <a:srcRect b="0" l="0" r="0" t="0"/>
          <a:stretch/>
        </p:blipFill>
        <p:spPr>
          <a:xfrm>
            <a:off x="7313265" y="1495425"/>
            <a:ext cx="4107209" cy="4781550"/>
          </a:xfrm>
          <a:prstGeom prst="rect">
            <a:avLst/>
          </a:prstGeom>
          <a:noFill/>
          <a:ln>
            <a:noFill/>
          </a:ln>
        </p:spPr>
      </p:pic>
      <p:pic>
        <p:nvPicPr>
          <p:cNvPr descr="image.png" id="510" name="Google Shape;510;p36"/>
          <p:cNvPicPr preferRelativeResize="0"/>
          <p:nvPr/>
        </p:nvPicPr>
        <p:blipFill rotWithShape="1">
          <a:blip r:embed="rId5">
            <a:alphaModFix/>
          </a:blip>
          <a:srcRect b="0" l="0" r="0" t="0"/>
          <a:stretch/>
        </p:blipFill>
        <p:spPr>
          <a:xfrm>
            <a:off x="7960221" y="2324100"/>
            <a:ext cx="3164978" cy="1352550"/>
          </a:xfrm>
          <a:prstGeom prst="rect">
            <a:avLst/>
          </a:prstGeom>
          <a:noFill/>
          <a:ln>
            <a:noFill/>
          </a:ln>
        </p:spPr>
      </p:pic>
      <p:sp>
        <p:nvSpPr>
          <p:cNvPr id="511" name="Google Shape;511;p36"/>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Multi-Headed Hydra</a:t>
            </a:r>
            <a:endParaRPr/>
          </a:p>
        </p:txBody>
      </p:sp>
      <p:pic>
        <p:nvPicPr>
          <p:cNvPr descr="image.png" id="512" name="Google Shape;512;p36"/>
          <p:cNvPicPr preferRelativeResize="0"/>
          <p:nvPr/>
        </p:nvPicPr>
        <p:blipFill rotWithShape="1">
          <a:blip r:embed="rId6">
            <a:alphaModFix/>
          </a:blip>
          <a:srcRect b="0" l="0" r="0" t="0"/>
          <a:stretch/>
        </p:blipFill>
        <p:spPr>
          <a:xfrm>
            <a:off x="771525" y="581025"/>
            <a:ext cx="676275" cy="628650"/>
          </a:xfrm>
          <a:prstGeom prst="rect">
            <a:avLst/>
          </a:prstGeom>
          <a:noFill/>
          <a:ln>
            <a:noFill/>
          </a:ln>
        </p:spPr>
      </p:pic>
      <p:sp>
        <p:nvSpPr>
          <p:cNvPr id="513" name="Google Shape;513;p36"/>
          <p:cNvSpPr txBox="1"/>
          <p:nvPr/>
        </p:nvSpPr>
        <p:spPr>
          <a:xfrm>
            <a:off x="771525" y="2926258"/>
            <a:ext cx="64689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The Complexity of Human Prompts</a:t>
            </a:r>
            <a:endParaRPr/>
          </a:p>
        </p:txBody>
      </p:sp>
      <p:sp>
        <p:nvSpPr>
          <p:cNvPr id="514" name="Google Shape;514;p36"/>
          <p:cNvSpPr txBox="1"/>
          <p:nvPr/>
        </p:nvSpPr>
        <p:spPr>
          <a:xfrm>
            <a:off x="771525" y="3354883"/>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built a Router to send FAISS queries to FAISS. But what if the query belongs in FAISS, but it is an absolute mess of overlapping requests?</a:t>
            </a:r>
            <a:endParaRPr/>
          </a:p>
        </p:txBody>
      </p:sp>
      <p:sp>
        <p:nvSpPr>
          <p:cNvPr id="515" name="Google Shape;515;p36"/>
          <p:cNvSpPr txBox="1"/>
          <p:nvPr/>
        </p:nvSpPr>
        <p:spPr>
          <a:xfrm>
            <a:off x="7608540" y="1819275"/>
            <a:ext cx="36924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43F5E"/>
                </a:solidFill>
                <a:latin typeface="Plus Jakarta Sans"/>
                <a:ea typeface="Plus Jakarta Sans"/>
                <a:cs typeface="Plus Jakarta Sans"/>
                <a:sym typeface="Plus Jakarta Sans"/>
              </a:rPr>
              <a:t>The Real-World Prompt</a:t>
            </a:r>
            <a:endParaRPr/>
          </a:p>
        </p:txBody>
      </p:sp>
      <p:sp>
        <p:nvSpPr>
          <p:cNvPr id="516" name="Google Shape;516;p36"/>
          <p:cNvSpPr txBox="1"/>
          <p:nvPr/>
        </p:nvSpPr>
        <p:spPr>
          <a:xfrm>
            <a:off x="7608540" y="3819525"/>
            <a:ext cx="35166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This query demands three completely different pieces of semantic information simultaneously.</a:t>
            </a:r>
            <a:endParaRPr/>
          </a:p>
        </p:txBody>
      </p:sp>
      <p:sp>
        <p:nvSpPr>
          <p:cNvPr id="517" name="Google Shape;517;p36"/>
          <p:cNvSpPr txBox="1"/>
          <p:nvPr/>
        </p:nvSpPr>
        <p:spPr>
          <a:xfrm>
            <a:off x="771525" y="4171950"/>
            <a:ext cx="61608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59E0B"/>
                </a:solidFill>
                <a:latin typeface="Plus Jakarta Sans SemiBold"/>
                <a:ea typeface="Plus Jakarta Sans SemiBold"/>
                <a:cs typeface="Plus Jakarta Sans SemiBold"/>
                <a:sym typeface="Plus Jakarta Sans SemiBold"/>
              </a:rPr>
              <a:t>To a human: One cohesive thought.</a:t>
            </a:r>
            <a:endParaRPr/>
          </a:p>
        </p:txBody>
      </p:sp>
      <p:sp>
        <p:nvSpPr>
          <p:cNvPr id="518" name="Google Shape;518;p36"/>
          <p:cNvSpPr txBox="1"/>
          <p:nvPr/>
        </p:nvSpPr>
        <p:spPr>
          <a:xfrm>
            <a:off x="771525" y="4556670"/>
            <a:ext cx="6160800" cy="2193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F43F5E"/>
                </a:solidFill>
                <a:latin typeface="Plus Jakarta Sans SemiBold"/>
                <a:ea typeface="Plus Jakarta Sans SemiBold"/>
                <a:cs typeface="Plus Jakarta Sans SemiBold"/>
                <a:sym typeface="Plus Jakarta Sans SemiBold"/>
              </a:rPr>
              <a:t>To a Vector Database: A mathematical disaster.</a:t>
            </a:r>
            <a:endParaRPr/>
          </a:p>
        </p:txBody>
      </p:sp>
      <p:pic>
        <p:nvPicPr>
          <p:cNvPr id="519" name="Google Shape;519;p36"/>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23" name="Shape 523"/>
        <p:cNvGrpSpPr/>
        <p:nvPr/>
      </p:nvGrpSpPr>
      <p:grpSpPr>
        <a:xfrm>
          <a:off x="0" y="0"/>
          <a:ext cx="0" cy="0"/>
          <a:chOff x="0" y="0"/>
          <a:chExt cx="0" cy="0"/>
        </a:xfrm>
      </p:grpSpPr>
      <p:pic>
        <p:nvPicPr>
          <p:cNvPr descr="image.png" id="524" name="Google Shape;524;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25" name="Google Shape;525;p37"/>
          <p:cNvPicPr preferRelativeResize="0"/>
          <p:nvPr/>
        </p:nvPicPr>
        <p:blipFill rotWithShape="1">
          <a:blip r:embed="rId4">
            <a:alphaModFix/>
          </a:blip>
          <a:srcRect b="0" l="0" r="0" t="0"/>
          <a:stretch/>
        </p:blipFill>
        <p:spPr>
          <a:xfrm>
            <a:off x="771525" y="2514153"/>
            <a:ext cx="10648949" cy="926752"/>
          </a:xfrm>
          <a:prstGeom prst="rect">
            <a:avLst/>
          </a:prstGeom>
          <a:noFill/>
          <a:ln>
            <a:noFill/>
          </a:ln>
        </p:spPr>
      </p:pic>
      <p:pic>
        <p:nvPicPr>
          <p:cNvPr descr="image.png" id="526" name="Google Shape;526;p37"/>
          <p:cNvPicPr preferRelativeResize="0"/>
          <p:nvPr/>
        </p:nvPicPr>
        <p:blipFill rotWithShape="1">
          <a:blip r:embed="rId5">
            <a:alphaModFix/>
          </a:blip>
          <a:srcRect b="0" l="0" r="0" t="0"/>
          <a:stretch/>
        </p:blipFill>
        <p:spPr>
          <a:xfrm>
            <a:off x="771525" y="4060031"/>
            <a:ext cx="5133974" cy="2205632"/>
          </a:xfrm>
          <a:prstGeom prst="rect">
            <a:avLst/>
          </a:prstGeom>
          <a:noFill/>
          <a:ln>
            <a:noFill/>
          </a:ln>
        </p:spPr>
      </p:pic>
      <p:pic>
        <p:nvPicPr>
          <p:cNvPr descr="image.png" id="527" name="Google Shape;527;p37"/>
          <p:cNvPicPr preferRelativeResize="0"/>
          <p:nvPr/>
        </p:nvPicPr>
        <p:blipFill rotWithShape="1">
          <a:blip r:embed="rId6">
            <a:alphaModFix/>
          </a:blip>
          <a:srcRect b="0" l="0" r="0" t="0"/>
          <a:stretch/>
        </p:blipFill>
        <p:spPr>
          <a:xfrm>
            <a:off x="6286500" y="4060031"/>
            <a:ext cx="5133974" cy="2205632"/>
          </a:xfrm>
          <a:prstGeom prst="rect">
            <a:avLst/>
          </a:prstGeom>
          <a:noFill/>
          <a:ln>
            <a:noFill/>
          </a:ln>
        </p:spPr>
      </p:pic>
      <p:sp>
        <p:nvSpPr>
          <p:cNvPr id="528" name="Google Shape;528;p37"/>
          <p:cNvSpPr txBox="1"/>
          <p:nvPr/>
        </p:nvSpPr>
        <p:spPr>
          <a:xfrm>
            <a:off x="1447800" y="581025"/>
            <a:ext cx="1047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Math of </a:t>
            </a:r>
            <a:r>
              <a:rPr b="0" i="0" lang="en-US" sz="3150" u="none" cap="none" strike="noStrike">
                <a:solidFill>
                  <a:srgbClr val="14B8A6"/>
                </a:solidFill>
                <a:latin typeface="Space Grotesk"/>
                <a:ea typeface="Space Grotesk"/>
                <a:cs typeface="Space Grotesk"/>
                <a:sym typeface="Space Grotesk"/>
              </a:rPr>
              <a:t>Semantic Dilution</a:t>
            </a:r>
            <a:endParaRPr/>
          </a:p>
        </p:txBody>
      </p:sp>
      <p:pic>
        <p:nvPicPr>
          <p:cNvPr descr="image.png" id="529" name="Google Shape;529;p37"/>
          <p:cNvPicPr preferRelativeResize="0"/>
          <p:nvPr/>
        </p:nvPicPr>
        <p:blipFill rotWithShape="1">
          <a:blip r:embed="rId7">
            <a:alphaModFix/>
          </a:blip>
          <a:srcRect b="0" l="0" r="0" t="0"/>
          <a:stretch/>
        </p:blipFill>
        <p:spPr>
          <a:xfrm>
            <a:off x="771525" y="581025"/>
            <a:ext cx="533400" cy="628650"/>
          </a:xfrm>
          <a:prstGeom prst="rect">
            <a:avLst/>
          </a:prstGeom>
          <a:noFill/>
          <a:ln>
            <a:noFill/>
          </a:ln>
        </p:spPr>
      </p:pic>
      <p:sp>
        <p:nvSpPr>
          <p:cNvPr id="530" name="Google Shape;530;p37"/>
          <p:cNvSpPr txBox="1"/>
          <p:nvPr/>
        </p:nvSpPr>
        <p:spPr>
          <a:xfrm>
            <a:off x="771525" y="1506587"/>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When the embedding model reads the Hydra prompt, it generates a single 768-dimensional vector. Because the prompt contains three distinct concepts, the neural network calculates the </a:t>
            </a:r>
            <a:r>
              <a:rPr b="1" i="0" lang="en-US" sz="1425" u="none" cap="none" strike="noStrike">
                <a:solidFill>
                  <a:srgbClr val="CBD5E1"/>
                </a:solidFill>
                <a:latin typeface="Plus Jakarta Sans"/>
                <a:ea typeface="Plus Jakarta Sans"/>
                <a:cs typeface="Plus Jakarta Sans"/>
                <a:sym typeface="Plus Jakarta Sans"/>
              </a:rPr>
              <a:t>average</a:t>
            </a:r>
            <a:r>
              <a:rPr b="0" i="0" lang="en-US" sz="1425" u="none" cap="none" strike="noStrike">
                <a:solidFill>
                  <a:srgbClr val="CBD5E1"/>
                </a:solidFill>
                <a:latin typeface="Plus Jakarta Sans"/>
                <a:ea typeface="Plus Jakarta Sans"/>
                <a:cs typeface="Plus Jakarta Sans"/>
                <a:sym typeface="Plus Jakarta Sans"/>
              </a:rPr>
              <a:t> of those three semantic directions.</a:t>
            </a:r>
            <a:endParaRPr/>
          </a:p>
        </p:txBody>
      </p:sp>
      <p:pic>
        <p:nvPicPr>
          <p:cNvPr descr="image.png" id="531" name="Google Shape;531;p37"/>
          <p:cNvPicPr preferRelativeResize="0"/>
          <p:nvPr/>
        </p:nvPicPr>
        <p:blipFill rotWithShape="1">
          <a:blip r:embed="rId8">
            <a:alphaModFix/>
          </a:blip>
          <a:srcRect b="0" l="0" r="0" t="0"/>
          <a:stretch/>
        </p:blipFill>
        <p:spPr>
          <a:xfrm>
            <a:off x="4669780" y="2752278"/>
            <a:ext cx="2899916" cy="450502"/>
          </a:xfrm>
          <a:prstGeom prst="rect">
            <a:avLst/>
          </a:prstGeom>
          <a:noFill/>
          <a:ln>
            <a:noFill/>
          </a:ln>
        </p:spPr>
      </p:pic>
      <p:sp>
        <p:nvSpPr>
          <p:cNvPr id="532" name="Google Shape;532;p37"/>
          <p:cNvSpPr txBox="1"/>
          <p:nvPr/>
        </p:nvSpPr>
        <p:spPr>
          <a:xfrm>
            <a:off x="1066800" y="4383881"/>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59E0B"/>
                </a:solidFill>
                <a:latin typeface="Plus Jakarta Sans"/>
                <a:ea typeface="Plus Jakarta Sans"/>
                <a:cs typeface="Plus Jakarta Sans"/>
                <a:sym typeface="Plus Jakarta Sans"/>
              </a:rPr>
              <a:t>The "Dead Zone"</a:t>
            </a:r>
            <a:endParaRPr/>
          </a:p>
        </p:txBody>
      </p:sp>
      <p:sp>
        <p:nvSpPr>
          <p:cNvPr id="533" name="Google Shape;533;p37"/>
          <p:cNvSpPr txBox="1"/>
          <p:nvPr/>
        </p:nvSpPr>
        <p:spPr>
          <a:xfrm>
            <a:off x="1066800" y="4812506"/>
            <a:ext cx="45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This "averaged" vector does not point directly at the Author chunk, nor the OCR chunk, nor the Budget chunk. It points to an empty void in the middle of the hypersphere.</a:t>
            </a:r>
            <a:endParaRPr/>
          </a:p>
        </p:txBody>
      </p:sp>
      <p:sp>
        <p:nvSpPr>
          <p:cNvPr id="534" name="Google Shape;534;p37"/>
          <p:cNvSpPr txBox="1"/>
          <p:nvPr/>
        </p:nvSpPr>
        <p:spPr>
          <a:xfrm>
            <a:off x="6581775" y="4383881"/>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43F5E"/>
                </a:solidFill>
                <a:latin typeface="Plus Jakarta Sans"/>
                <a:ea typeface="Plus Jakarta Sans"/>
                <a:cs typeface="Plus Jakarta Sans"/>
                <a:sym typeface="Plus Jakarta Sans"/>
              </a:rPr>
              <a:t>Retrieval Failure</a:t>
            </a:r>
            <a:endParaRPr/>
          </a:p>
        </p:txBody>
      </p:sp>
      <p:sp>
        <p:nvSpPr>
          <p:cNvPr id="535" name="Google Shape;535;p37"/>
          <p:cNvSpPr txBox="1"/>
          <p:nvPr/>
        </p:nvSpPr>
        <p:spPr>
          <a:xfrm>
            <a:off x="6581775" y="4812506"/>
            <a:ext cx="45435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FAISS Cosine Similarity will return chunks that vaguely mention "Q4", completely missing the highly specific numbers required to answer the prompt.</a:t>
            </a:r>
            <a:endParaRPr/>
          </a:p>
        </p:txBody>
      </p:sp>
      <p:pic>
        <p:nvPicPr>
          <p:cNvPr id="536" name="Google Shape;536;p37"/>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40" name="Shape 540"/>
        <p:cNvGrpSpPr/>
        <p:nvPr/>
      </p:nvGrpSpPr>
      <p:grpSpPr>
        <a:xfrm>
          <a:off x="0" y="0"/>
          <a:ext cx="0" cy="0"/>
          <a:chOff x="0" y="0"/>
          <a:chExt cx="0" cy="0"/>
        </a:xfrm>
      </p:grpSpPr>
      <p:pic>
        <p:nvPicPr>
          <p:cNvPr descr="image.png" id="541" name="Google Shape;541;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42" name="Google Shape;542;p38"/>
          <p:cNvPicPr preferRelativeResize="0"/>
          <p:nvPr/>
        </p:nvPicPr>
        <p:blipFill rotWithShape="1">
          <a:blip r:embed="rId4">
            <a:alphaModFix/>
          </a:blip>
          <a:srcRect b="0" l="0" r="0" t="0"/>
          <a:stretch/>
        </p:blipFill>
        <p:spPr>
          <a:xfrm>
            <a:off x="771525" y="3718470"/>
            <a:ext cx="2863006" cy="1438275"/>
          </a:xfrm>
          <a:prstGeom prst="rect">
            <a:avLst/>
          </a:prstGeom>
          <a:noFill/>
          <a:ln>
            <a:noFill/>
          </a:ln>
        </p:spPr>
      </p:pic>
      <p:pic>
        <p:nvPicPr>
          <p:cNvPr descr="image.png" id="543" name="Google Shape;543;p38"/>
          <p:cNvPicPr preferRelativeResize="0"/>
          <p:nvPr/>
        </p:nvPicPr>
        <p:blipFill rotWithShape="1">
          <a:blip r:embed="rId5">
            <a:alphaModFix/>
          </a:blip>
          <a:srcRect b="0" l="0" r="0" t="0"/>
          <a:stretch/>
        </p:blipFill>
        <p:spPr>
          <a:xfrm>
            <a:off x="4263181" y="3832770"/>
            <a:ext cx="2863006" cy="1209675"/>
          </a:xfrm>
          <a:prstGeom prst="rect">
            <a:avLst/>
          </a:prstGeom>
          <a:noFill/>
          <a:ln>
            <a:noFill/>
          </a:ln>
        </p:spPr>
      </p:pic>
      <p:pic>
        <p:nvPicPr>
          <p:cNvPr descr="image.png" id="544" name="Google Shape;544;p38"/>
          <p:cNvPicPr preferRelativeResize="0"/>
          <p:nvPr/>
        </p:nvPicPr>
        <p:blipFill rotWithShape="1">
          <a:blip r:embed="rId6">
            <a:alphaModFix/>
          </a:blip>
          <a:srcRect b="0" l="0" r="0" t="0"/>
          <a:stretch/>
        </p:blipFill>
        <p:spPr>
          <a:xfrm>
            <a:off x="7754838" y="3656558"/>
            <a:ext cx="3665785" cy="457200"/>
          </a:xfrm>
          <a:prstGeom prst="rect">
            <a:avLst/>
          </a:prstGeom>
          <a:noFill/>
          <a:ln>
            <a:noFill/>
          </a:ln>
        </p:spPr>
      </p:pic>
      <p:pic>
        <p:nvPicPr>
          <p:cNvPr descr="image.png" id="545" name="Google Shape;545;p38"/>
          <p:cNvPicPr preferRelativeResize="0"/>
          <p:nvPr/>
        </p:nvPicPr>
        <p:blipFill rotWithShape="1">
          <a:blip r:embed="rId6">
            <a:alphaModFix/>
          </a:blip>
          <a:srcRect b="0" l="0" r="0" t="0"/>
          <a:stretch/>
        </p:blipFill>
        <p:spPr>
          <a:xfrm>
            <a:off x="7754838" y="4209008"/>
            <a:ext cx="3665785" cy="457200"/>
          </a:xfrm>
          <a:prstGeom prst="rect">
            <a:avLst/>
          </a:prstGeom>
          <a:noFill/>
          <a:ln>
            <a:noFill/>
          </a:ln>
        </p:spPr>
      </p:pic>
      <p:pic>
        <p:nvPicPr>
          <p:cNvPr descr="image.png" id="546" name="Google Shape;546;p38"/>
          <p:cNvPicPr preferRelativeResize="0"/>
          <p:nvPr/>
        </p:nvPicPr>
        <p:blipFill rotWithShape="1">
          <a:blip r:embed="rId7">
            <a:alphaModFix/>
          </a:blip>
          <a:srcRect b="0" l="0" r="0" t="0"/>
          <a:stretch/>
        </p:blipFill>
        <p:spPr>
          <a:xfrm>
            <a:off x="7754838" y="4761458"/>
            <a:ext cx="3665785" cy="457200"/>
          </a:xfrm>
          <a:prstGeom prst="rect">
            <a:avLst/>
          </a:prstGeom>
          <a:noFill/>
          <a:ln>
            <a:noFill/>
          </a:ln>
        </p:spPr>
      </p:pic>
      <p:sp>
        <p:nvSpPr>
          <p:cNvPr id="547" name="Google Shape;547;p38"/>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Solution: </a:t>
            </a:r>
            <a:r>
              <a:rPr b="0" i="0" lang="en-US" sz="3150" u="none" cap="none" strike="noStrike">
                <a:solidFill>
                  <a:srgbClr val="14B8A6"/>
                </a:solidFill>
                <a:latin typeface="Space Grotesk"/>
                <a:ea typeface="Space Grotesk"/>
                <a:cs typeface="Space Grotesk"/>
                <a:sym typeface="Space Grotesk"/>
              </a:rPr>
              <a:t>Query Decomposition</a:t>
            </a:r>
            <a:endParaRPr/>
          </a:p>
        </p:txBody>
      </p:sp>
      <p:pic>
        <p:nvPicPr>
          <p:cNvPr descr="image.png" id="548" name="Google Shape;548;p38"/>
          <p:cNvPicPr preferRelativeResize="0"/>
          <p:nvPr/>
        </p:nvPicPr>
        <p:blipFill rotWithShape="1">
          <a:blip r:embed="rId8">
            <a:alphaModFix/>
          </a:blip>
          <a:srcRect b="0" l="0" r="0" t="0"/>
          <a:stretch/>
        </p:blipFill>
        <p:spPr>
          <a:xfrm>
            <a:off x="771525" y="581025"/>
            <a:ext cx="676275" cy="628650"/>
          </a:xfrm>
          <a:prstGeom prst="rect">
            <a:avLst/>
          </a:prstGeom>
          <a:noFill/>
          <a:ln>
            <a:noFill/>
          </a:ln>
        </p:spPr>
      </p:pic>
      <p:sp>
        <p:nvSpPr>
          <p:cNvPr id="549" name="Google Shape;549;p38"/>
          <p:cNvSpPr txBox="1"/>
          <p:nvPr/>
        </p:nvSpPr>
        <p:spPr>
          <a:xfrm>
            <a:off x="771525" y="2553741"/>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cannot train the user to ask three separate questions. Therefore, we must build a system that intercepts the prompt and </a:t>
            </a:r>
            <a:r>
              <a:rPr b="1" i="0" lang="en-US" sz="1425" u="none" cap="none" strike="noStrike">
                <a:solidFill>
                  <a:srgbClr val="CBD5E1"/>
                </a:solidFill>
                <a:latin typeface="Plus Jakarta Sans"/>
                <a:ea typeface="Plus Jakarta Sans"/>
                <a:cs typeface="Plus Jakarta Sans"/>
                <a:sym typeface="Plus Jakarta Sans"/>
              </a:rPr>
              <a:t>splits it for them</a:t>
            </a:r>
            <a:r>
              <a:rPr b="0" i="0" lang="en-US" sz="1425" u="none" cap="none" strike="noStrike">
                <a:solidFill>
                  <a:srgbClr val="CBD5E1"/>
                </a:solidFill>
                <a:latin typeface="Plus Jakarta Sans"/>
                <a:ea typeface="Plus Jakarta Sans"/>
                <a:cs typeface="Plus Jakarta Sans"/>
                <a:sym typeface="Plus Jakarta Sans"/>
              </a:rPr>
              <a:t>.</a:t>
            </a:r>
            <a:endParaRPr/>
          </a:p>
        </p:txBody>
      </p:sp>
      <p:sp>
        <p:nvSpPr>
          <p:cNvPr id="550" name="Google Shape;550;p38"/>
          <p:cNvSpPr txBox="1"/>
          <p:nvPr/>
        </p:nvSpPr>
        <p:spPr>
          <a:xfrm>
            <a:off x="919977" y="3928020"/>
            <a:ext cx="25662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43F5E"/>
                </a:solidFill>
                <a:latin typeface="Plus Jakarta Sans SemiBold"/>
                <a:ea typeface="Plus Jakarta Sans SemiBold"/>
                <a:cs typeface="Plus Jakarta Sans SemiBold"/>
                <a:sym typeface="Plus Jakarta Sans SemiBold"/>
              </a:rPr>
              <a:t>Raw Query</a:t>
            </a:r>
            <a:endParaRPr/>
          </a:p>
        </p:txBody>
      </p:sp>
      <p:sp>
        <p:nvSpPr>
          <p:cNvPr id="551" name="Google Shape;551;p38"/>
          <p:cNvSpPr txBox="1"/>
          <p:nvPr/>
        </p:nvSpPr>
        <p:spPr>
          <a:xfrm>
            <a:off x="981075" y="4261395"/>
            <a:ext cx="2443800" cy="45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"Who wrote the Q4 audit, what's the OCR rate, and what's the budget?"</a:t>
            </a:r>
            <a:endParaRPr/>
          </a:p>
        </p:txBody>
      </p:sp>
      <p:pic>
        <p:nvPicPr>
          <p:cNvPr descr="image.png" id="552" name="Google Shape;552;p38"/>
          <p:cNvPicPr preferRelativeResize="0"/>
          <p:nvPr/>
        </p:nvPicPr>
        <p:blipFill rotWithShape="1">
          <a:blip r:embed="rId9">
            <a:alphaModFix/>
          </a:blip>
          <a:srcRect b="0" l="0" r="0" t="0"/>
          <a:stretch/>
        </p:blipFill>
        <p:spPr>
          <a:xfrm>
            <a:off x="3825031" y="4294733"/>
            <a:ext cx="247650" cy="285750"/>
          </a:xfrm>
          <a:prstGeom prst="rect">
            <a:avLst/>
          </a:prstGeom>
          <a:noFill/>
          <a:ln>
            <a:noFill/>
          </a:ln>
        </p:spPr>
      </p:pic>
      <p:sp>
        <p:nvSpPr>
          <p:cNvPr id="553" name="Google Shape;553;p38"/>
          <p:cNvSpPr txBox="1"/>
          <p:nvPr/>
        </p:nvSpPr>
        <p:spPr>
          <a:xfrm>
            <a:off x="4411633" y="4042320"/>
            <a:ext cx="2566200" cy="231000"/>
          </a:xfrm>
          <a:prstGeom prst="rect">
            <a:avLst/>
          </a:prstGeom>
          <a:noFill/>
          <a:ln>
            <a:noFill/>
          </a:ln>
        </p:spPr>
        <p:txBody>
          <a:bodyPr anchorCtr="0" anchor="t" bIns="0" lIns="171450" spcFirstLastPara="1" rIns="0" wrap="square" tIns="0">
            <a:spAutoFit/>
          </a:bodyPr>
          <a:lstStyle/>
          <a:p>
            <a:pPr indent="0" lvl="0" marL="0" marR="0" rtl="0" algn="ctr">
              <a:spcBef>
                <a:spcPts val="0"/>
              </a:spcBef>
              <a:spcAft>
                <a:spcPts val="0"/>
              </a:spcAft>
              <a:buNone/>
            </a:pPr>
            <a:r>
              <a:rPr b="0" i="0" lang="en-US" sz="1500" u="none" cap="none" strike="noStrike">
                <a:solidFill>
                  <a:srgbClr val="818CF8"/>
                </a:solidFill>
                <a:latin typeface="Plus Jakarta Sans SemiBold"/>
                <a:ea typeface="Plus Jakarta Sans SemiBold"/>
                <a:cs typeface="Plus Jakarta Sans SemiBold"/>
                <a:sym typeface="Plus Jakarta Sans SemiBold"/>
              </a:rPr>
              <a:t>Fast LLM</a:t>
            </a:r>
            <a:endParaRPr/>
          </a:p>
        </p:txBody>
      </p:sp>
      <p:sp>
        <p:nvSpPr>
          <p:cNvPr id="554" name="Google Shape;554;p38"/>
          <p:cNvSpPr txBox="1"/>
          <p:nvPr/>
        </p:nvSpPr>
        <p:spPr>
          <a:xfrm>
            <a:off x="4472731" y="4375695"/>
            <a:ext cx="2443800" cy="45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Executes decomposition prompt to split intents.</a:t>
            </a:r>
            <a:endParaRPr/>
          </a:p>
        </p:txBody>
      </p:sp>
      <p:pic>
        <p:nvPicPr>
          <p:cNvPr descr="image.png" id="555" name="Google Shape;555;p38"/>
          <p:cNvPicPr preferRelativeResize="0"/>
          <p:nvPr/>
        </p:nvPicPr>
        <p:blipFill rotWithShape="1">
          <a:blip r:embed="rId9">
            <a:alphaModFix/>
          </a:blip>
          <a:srcRect b="0" l="0" r="0" t="0"/>
          <a:stretch/>
        </p:blipFill>
        <p:spPr>
          <a:xfrm>
            <a:off x="7316688" y="4294733"/>
            <a:ext cx="247650" cy="285750"/>
          </a:xfrm>
          <a:prstGeom prst="rect">
            <a:avLst/>
          </a:prstGeom>
          <a:noFill/>
          <a:ln>
            <a:noFill/>
          </a:ln>
        </p:spPr>
      </p:pic>
      <p:pic>
        <p:nvPicPr>
          <p:cNvPr descr="image.png" id="556" name="Google Shape;556;p38"/>
          <p:cNvPicPr preferRelativeResize="0"/>
          <p:nvPr/>
        </p:nvPicPr>
        <p:blipFill rotWithShape="1">
          <a:blip r:embed="rId10">
            <a:alphaModFix/>
          </a:blip>
          <a:srcRect b="0" l="0" r="0" t="0"/>
          <a:stretch/>
        </p:blipFill>
        <p:spPr>
          <a:xfrm>
            <a:off x="5185023" y="4080420"/>
            <a:ext cx="171450" cy="190500"/>
          </a:xfrm>
          <a:prstGeom prst="rect">
            <a:avLst/>
          </a:prstGeom>
          <a:noFill/>
          <a:ln>
            <a:noFill/>
          </a:ln>
        </p:spPr>
      </p:pic>
      <p:sp>
        <p:nvSpPr>
          <p:cNvPr id="557" name="Google Shape;557;p38"/>
          <p:cNvSpPr txBox="1"/>
          <p:nvPr/>
        </p:nvSpPr>
        <p:spPr>
          <a:xfrm>
            <a:off x="7869138" y="3770858"/>
            <a:ext cx="34371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SemiBold"/>
                <a:ea typeface="Plus Jakarta Sans SemiBold"/>
                <a:cs typeface="Plus Jakarta Sans SemiBold"/>
                <a:sym typeface="Plus Jakarta Sans SemiBold"/>
              </a:rPr>
              <a:t>Sub 1: "Who wrote the Q4 audit?"</a:t>
            </a:r>
            <a:endParaRPr/>
          </a:p>
        </p:txBody>
      </p:sp>
      <p:sp>
        <p:nvSpPr>
          <p:cNvPr id="558" name="Google Shape;558;p38"/>
          <p:cNvSpPr txBox="1"/>
          <p:nvPr/>
        </p:nvSpPr>
        <p:spPr>
          <a:xfrm>
            <a:off x="7869138" y="4323308"/>
            <a:ext cx="34371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SemiBold"/>
                <a:ea typeface="Plus Jakarta Sans SemiBold"/>
                <a:cs typeface="Plus Jakarta Sans SemiBold"/>
                <a:sym typeface="Plus Jakarta Sans SemiBold"/>
              </a:rPr>
              <a:t>Sub 2: "What is the OCR rate?"</a:t>
            </a:r>
            <a:endParaRPr/>
          </a:p>
        </p:txBody>
      </p:sp>
      <p:sp>
        <p:nvSpPr>
          <p:cNvPr id="559" name="Google Shape;559;p38"/>
          <p:cNvSpPr txBox="1"/>
          <p:nvPr/>
        </p:nvSpPr>
        <p:spPr>
          <a:xfrm>
            <a:off x="7869138" y="4875758"/>
            <a:ext cx="34371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SemiBold"/>
                <a:ea typeface="Plus Jakarta Sans SemiBold"/>
                <a:cs typeface="Plus Jakarta Sans SemiBold"/>
                <a:sym typeface="Plus Jakarta Sans SemiBold"/>
              </a:rPr>
              <a:t>Sub 3: "What is the Q4 budget?"</a:t>
            </a:r>
            <a:endParaRPr/>
          </a:p>
        </p:txBody>
      </p:sp>
      <p:pic>
        <p:nvPicPr>
          <p:cNvPr id="560" name="Google Shape;560;p38"/>
          <p:cNvPicPr preferRelativeResize="0"/>
          <p:nvPr/>
        </p:nvPicPr>
        <p:blipFill>
          <a:blip r:embed="rId11">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64" name="Shape 564"/>
        <p:cNvGrpSpPr/>
        <p:nvPr/>
      </p:nvGrpSpPr>
      <p:grpSpPr>
        <a:xfrm>
          <a:off x="0" y="0"/>
          <a:ext cx="0" cy="0"/>
          <a:chOff x="0" y="0"/>
          <a:chExt cx="0" cy="0"/>
        </a:xfrm>
      </p:grpSpPr>
      <p:pic>
        <p:nvPicPr>
          <p:cNvPr descr="image.png" id="565" name="Google Shape;565;p3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66" name="Google Shape;566;p39"/>
          <p:cNvPicPr preferRelativeResize="0"/>
          <p:nvPr/>
        </p:nvPicPr>
        <p:blipFill rotWithShape="1">
          <a:blip r:embed="rId4">
            <a:alphaModFix/>
          </a:blip>
          <a:srcRect b="0" l="0" r="0" t="0"/>
          <a:stretch/>
        </p:blipFill>
        <p:spPr>
          <a:xfrm>
            <a:off x="771525" y="2502991"/>
            <a:ext cx="10648949" cy="3773983"/>
          </a:xfrm>
          <a:prstGeom prst="rect">
            <a:avLst/>
          </a:prstGeom>
          <a:noFill/>
          <a:ln>
            <a:noFill/>
          </a:ln>
        </p:spPr>
      </p:pic>
      <p:sp>
        <p:nvSpPr>
          <p:cNvPr id="567" name="Google Shape;567;p39"/>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Decomposition Prompt</a:t>
            </a:r>
            <a:endParaRPr/>
          </a:p>
        </p:txBody>
      </p:sp>
      <p:pic>
        <p:nvPicPr>
          <p:cNvPr descr="image.png" id="568" name="Google Shape;568;p39"/>
          <p:cNvPicPr preferRelativeResize="0"/>
          <p:nvPr/>
        </p:nvPicPr>
        <p:blipFill rotWithShape="1">
          <a:blip r:embed="rId5">
            <a:alphaModFix/>
          </a:blip>
          <a:srcRect b="0" l="0" r="0" t="0"/>
          <a:stretch/>
        </p:blipFill>
        <p:spPr>
          <a:xfrm>
            <a:off x="771525" y="581025"/>
            <a:ext cx="676275" cy="628650"/>
          </a:xfrm>
          <a:prstGeom prst="rect">
            <a:avLst/>
          </a:prstGeom>
          <a:noFill/>
          <a:ln>
            <a:noFill/>
          </a:ln>
        </p:spPr>
      </p:pic>
      <p:sp>
        <p:nvSpPr>
          <p:cNvPr id="569" name="Google Shape;569;p39"/>
          <p:cNvSpPr txBox="1"/>
          <p:nvPr/>
        </p:nvSpPr>
        <p:spPr>
          <a:xfrm>
            <a:off x="771525" y="1495425"/>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We pass the raw user query to a blazing-fast LLM (like Gemini 3 Flash) with a very specific set of system instructions to generate an actionable list.</a:t>
            </a:r>
            <a:endParaRPr/>
          </a:p>
        </p:txBody>
      </p:sp>
      <p:pic>
        <p:nvPicPr>
          <p:cNvPr id="570" name="Google Shape;570;p39"/>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74" name="Shape 574"/>
        <p:cNvGrpSpPr/>
        <p:nvPr/>
      </p:nvGrpSpPr>
      <p:grpSpPr>
        <a:xfrm>
          <a:off x="0" y="0"/>
          <a:ext cx="0" cy="0"/>
          <a:chOff x="0" y="0"/>
          <a:chExt cx="0" cy="0"/>
        </a:xfrm>
      </p:grpSpPr>
      <p:pic>
        <p:nvPicPr>
          <p:cNvPr descr="image.png" id="575" name="Google Shape;575;p4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76" name="Google Shape;576;p40"/>
          <p:cNvPicPr preferRelativeResize="0"/>
          <p:nvPr/>
        </p:nvPicPr>
        <p:blipFill rotWithShape="1">
          <a:blip r:embed="rId4">
            <a:alphaModFix/>
          </a:blip>
          <a:srcRect b="0" l="0" r="0" t="0"/>
          <a:stretch/>
        </p:blipFill>
        <p:spPr>
          <a:xfrm>
            <a:off x="6286500" y="1495425"/>
            <a:ext cx="5133974" cy="4781550"/>
          </a:xfrm>
          <a:prstGeom prst="rect">
            <a:avLst/>
          </a:prstGeom>
          <a:noFill/>
          <a:ln>
            <a:noFill/>
          </a:ln>
        </p:spPr>
      </p:pic>
      <p:sp>
        <p:nvSpPr>
          <p:cNvPr id="577" name="Google Shape;577;p40"/>
          <p:cNvSpPr txBox="1"/>
          <p:nvPr/>
        </p:nvSpPr>
        <p:spPr>
          <a:xfrm>
            <a:off x="1543050" y="581025"/>
            <a:ext cx="103713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Parallel Execution &amp; </a:t>
            </a:r>
            <a:r>
              <a:rPr b="0" i="0" lang="en-US" sz="3150" u="none" cap="none" strike="noStrike">
                <a:solidFill>
                  <a:srgbClr val="14B8A6"/>
                </a:solidFill>
                <a:latin typeface="Space Grotesk"/>
                <a:ea typeface="Space Grotesk"/>
                <a:cs typeface="Space Grotesk"/>
                <a:sym typeface="Space Grotesk"/>
              </a:rPr>
              <a:t>Deduplication</a:t>
            </a:r>
            <a:endParaRPr/>
          </a:p>
        </p:txBody>
      </p:sp>
      <p:pic>
        <p:nvPicPr>
          <p:cNvPr descr="image.png" id="578" name="Google Shape;578;p40"/>
          <p:cNvPicPr preferRelativeResize="0"/>
          <p:nvPr/>
        </p:nvPicPr>
        <p:blipFill rotWithShape="1">
          <a:blip r:embed="rId5">
            <a:alphaModFix/>
          </a:blip>
          <a:srcRect b="0" l="0" r="0" t="0"/>
          <a:stretch/>
        </p:blipFill>
        <p:spPr>
          <a:xfrm>
            <a:off x="771525" y="581025"/>
            <a:ext cx="628650" cy="628650"/>
          </a:xfrm>
          <a:prstGeom prst="rect">
            <a:avLst/>
          </a:prstGeom>
          <a:noFill/>
          <a:ln>
            <a:noFill/>
          </a:ln>
        </p:spPr>
      </p:pic>
      <p:sp>
        <p:nvSpPr>
          <p:cNvPr id="579" name="Google Shape;579;p40"/>
          <p:cNvSpPr txBox="1"/>
          <p:nvPr/>
        </p:nvSpPr>
        <p:spPr>
          <a:xfrm>
            <a:off x="771525" y="1495425"/>
            <a:ext cx="539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1. Parallel Embedding &amp; Search</a:t>
            </a:r>
            <a:endParaRPr/>
          </a:p>
        </p:txBody>
      </p:sp>
      <p:sp>
        <p:nvSpPr>
          <p:cNvPr id="580" name="Google Shape;580;p40"/>
          <p:cNvSpPr txBox="1"/>
          <p:nvPr/>
        </p:nvSpPr>
        <p:spPr>
          <a:xfrm>
            <a:off x="771525" y="1924050"/>
            <a:ext cx="51339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LangChain simultaneously sends all three strings to the Embedding API. We now have three hyper-focused, razor-sharp vectors.</a:t>
            </a:r>
            <a:endParaRPr/>
          </a:p>
        </p:txBody>
      </p:sp>
      <p:sp>
        <p:nvSpPr>
          <p:cNvPr id="581" name="Google Shape;581;p40"/>
          <p:cNvSpPr txBox="1"/>
          <p:nvPr/>
        </p:nvSpPr>
        <p:spPr>
          <a:xfrm>
            <a:off x="6581775" y="1819275"/>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59E0B"/>
                </a:solidFill>
                <a:latin typeface="Plus Jakarta Sans"/>
                <a:ea typeface="Plus Jakarta Sans"/>
                <a:cs typeface="Plus Jakarta Sans"/>
                <a:sym typeface="Plus Jakarta Sans"/>
              </a:rPr>
              <a:t>2. Deduplication</a:t>
            </a:r>
            <a:endParaRPr/>
          </a:p>
        </p:txBody>
      </p:sp>
      <p:sp>
        <p:nvSpPr>
          <p:cNvPr id="582" name="Google Shape;582;p40"/>
          <p:cNvSpPr txBox="1"/>
          <p:nvPr/>
        </p:nvSpPr>
        <p:spPr>
          <a:xfrm>
            <a:off x="6581775" y="2247900"/>
            <a:ext cx="45435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What if Search 1 and Search 2 accidentally retrieve the exact same paragraph?</a:t>
            </a:r>
            <a:endParaRPr/>
          </a:p>
        </p:txBody>
      </p:sp>
      <p:sp>
        <p:nvSpPr>
          <p:cNvPr id="583" name="Google Shape;583;p40"/>
          <p:cNvSpPr txBox="1"/>
          <p:nvPr/>
        </p:nvSpPr>
        <p:spPr>
          <a:xfrm>
            <a:off x="6581775" y="2969716"/>
            <a:ext cx="45435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LangChain automatically inspects the Document objects and uses their </a:t>
            </a:r>
            <a:r>
              <a:rPr b="1" i="0" lang="en-US" sz="1425" u="none" cap="none" strike="noStrike">
                <a:solidFill>
                  <a:srgbClr val="CBD5E1"/>
                </a:solidFill>
                <a:latin typeface="Plus Jakarta Sans"/>
                <a:ea typeface="Plus Jakarta Sans"/>
                <a:cs typeface="Plus Jakarta Sans"/>
                <a:sym typeface="Plus Jakarta Sans"/>
              </a:rPr>
              <a:t>unique content hashes</a:t>
            </a:r>
            <a:r>
              <a:rPr b="0" i="0" lang="en-US" sz="1425" u="none" cap="none" strike="noStrike">
                <a:solidFill>
                  <a:srgbClr val="CBD5E1"/>
                </a:solidFill>
                <a:latin typeface="Plus Jakarta Sans"/>
                <a:ea typeface="Plus Jakarta Sans"/>
                <a:cs typeface="Plus Jakarta Sans"/>
                <a:sym typeface="Plus Jakarta Sans"/>
              </a:rPr>
              <a:t> to remove duplicates.</a:t>
            </a:r>
            <a:endParaRPr/>
          </a:p>
        </p:txBody>
      </p:sp>
      <p:sp>
        <p:nvSpPr>
          <p:cNvPr id="584" name="Google Shape;584;p40"/>
          <p:cNvSpPr txBox="1"/>
          <p:nvPr/>
        </p:nvSpPr>
        <p:spPr>
          <a:xfrm>
            <a:off x="6581775" y="3981003"/>
            <a:ext cx="45435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This ensures the final LLM isn't wasting its context window reading the exact same paragraph twice.</a:t>
            </a:r>
            <a:endParaRPr/>
          </a:p>
        </p:txBody>
      </p:sp>
      <p:sp>
        <p:nvSpPr>
          <p:cNvPr id="585" name="Google Shape;585;p40"/>
          <p:cNvSpPr txBox="1"/>
          <p:nvPr/>
        </p:nvSpPr>
        <p:spPr>
          <a:xfrm>
            <a:off x="1104900" y="2935337"/>
            <a:ext cx="48006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Search 1 finds the Author chunk.</a:t>
            </a:r>
            <a:endParaRPr/>
          </a:p>
        </p:txBody>
      </p:sp>
      <p:sp>
        <p:nvSpPr>
          <p:cNvPr id="586" name="Google Shape;586;p40"/>
          <p:cNvSpPr txBox="1"/>
          <p:nvPr/>
        </p:nvSpPr>
        <p:spPr>
          <a:xfrm>
            <a:off x="1104900" y="3349674"/>
            <a:ext cx="48006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Search 2 finds the OCR chunk.</a:t>
            </a:r>
            <a:endParaRPr/>
          </a:p>
        </p:txBody>
      </p:sp>
      <p:sp>
        <p:nvSpPr>
          <p:cNvPr id="587" name="Google Shape;587;p40"/>
          <p:cNvSpPr txBox="1"/>
          <p:nvPr/>
        </p:nvSpPr>
        <p:spPr>
          <a:xfrm>
            <a:off x="1104900" y="3764012"/>
            <a:ext cx="48006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Search 3 finds the Budget chunk.</a:t>
            </a:r>
            <a:endParaRPr/>
          </a:p>
        </p:txBody>
      </p:sp>
      <p:pic>
        <p:nvPicPr>
          <p:cNvPr descr="image.png" id="588" name="Google Shape;588;p40"/>
          <p:cNvPicPr preferRelativeResize="0"/>
          <p:nvPr/>
        </p:nvPicPr>
        <p:blipFill rotWithShape="1">
          <a:blip r:embed="rId6">
            <a:alphaModFix/>
          </a:blip>
          <a:srcRect b="0" l="0" r="0" t="0"/>
          <a:stretch/>
        </p:blipFill>
        <p:spPr>
          <a:xfrm>
            <a:off x="771525" y="2978199"/>
            <a:ext cx="171450" cy="180975"/>
          </a:xfrm>
          <a:prstGeom prst="rect">
            <a:avLst/>
          </a:prstGeom>
          <a:noFill/>
          <a:ln>
            <a:noFill/>
          </a:ln>
        </p:spPr>
      </p:pic>
      <p:pic>
        <p:nvPicPr>
          <p:cNvPr descr="image.png" id="589" name="Google Shape;589;p40"/>
          <p:cNvPicPr preferRelativeResize="0"/>
          <p:nvPr/>
        </p:nvPicPr>
        <p:blipFill rotWithShape="1">
          <a:blip r:embed="rId6">
            <a:alphaModFix/>
          </a:blip>
          <a:srcRect b="0" l="0" r="0" t="0"/>
          <a:stretch/>
        </p:blipFill>
        <p:spPr>
          <a:xfrm>
            <a:off x="771525" y="3392537"/>
            <a:ext cx="171450" cy="180975"/>
          </a:xfrm>
          <a:prstGeom prst="rect">
            <a:avLst/>
          </a:prstGeom>
          <a:noFill/>
          <a:ln>
            <a:noFill/>
          </a:ln>
        </p:spPr>
      </p:pic>
      <p:pic>
        <p:nvPicPr>
          <p:cNvPr descr="image.png" id="590" name="Google Shape;590;p40"/>
          <p:cNvPicPr preferRelativeResize="0"/>
          <p:nvPr/>
        </p:nvPicPr>
        <p:blipFill rotWithShape="1">
          <a:blip r:embed="rId6">
            <a:alphaModFix/>
          </a:blip>
          <a:srcRect b="0" l="0" r="0" t="0"/>
          <a:stretch/>
        </p:blipFill>
        <p:spPr>
          <a:xfrm>
            <a:off x="771525" y="3806874"/>
            <a:ext cx="171450" cy="180975"/>
          </a:xfrm>
          <a:prstGeom prst="rect">
            <a:avLst/>
          </a:prstGeom>
          <a:noFill/>
          <a:ln>
            <a:noFill/>
          </a:ln>
        </p:spPr>
      </p:pic>
      <p:pic>
        <p:nvPicPr>
          <p:cNvPr id="591" name="Google Shape;591;p40"/>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595" name="Shape 595"/>
        <p:cNvGrpSpPr/>
        <p:nvPr/>
      </p:nvGrpSpPr>
      <p:grpSpPr>
        <a:xfrm>
          <a:off x="0" y="0"/>
          <a:ext cx="0" cy="0"/>
          <a:chOff x="0" y="0"/>
          <a:chExt cx="0" cy="0"/>
        </a:xfrm>
      </p:grpSpPr>
      <p:pic>
        <p:nvPicPr>
          <p:cNvPr descr="image.png" id="596" name="Google Shape;596;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97" name="Google Shape;597;p41"/>
          <p:cNvPicPr preferRelativeResize="0"/>
          <p:nvPr/>
        </p:nvPicPr>
        <p:blipFill rotWithShape="1">
          <a:blip r:embed="rId4">
            <a:alphaModFix/>
          </a:blip>
          <a:srcRect b="0" l="0" r="0" t="0"/>
          <a:stretch/>
        </p:blipFill>
        <p:spPr>
          <a:xfrm>
            <a:off x="7313265" y="2559694"/>
            <a:ext cx="4107209" cy="2653010"/>
          </a:xfrm>
          <a:prstGeom prst="rect">
            <a:avLst/>
          </a:prstGeom>
          <a:noFill/>
          <a:ln>
            <a:noFill/>
          </a:ln>
        </p:spPr>
      </p:pic>
      <p:sp>
        <p:nvSpPr>
          <p:cNvPr id="598" name="Google Shape;598;p41"/>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MultiQueryRetriever</a:t>
            </a:r>
            <a:endParaRPr/>
          </a:p>
        </p:txBody>
      </p:sp>
      <p:pic>
        <p:nvPicPr>
          <p:cNvPr descr="image.png" id="599" name="Google Shape;599;p41"/>
          <p:cNvPicPr preferRelativeResize="0"/>
          <p:nvPr/>
        </p:nvPicPr>
        <p:blipFill rotWithShape="1">
          <a:blip r:embed="rId5">
            <a:alphaModFix/>
          </a:blip>
          <a:srcRect b="0" l="0" r="0" t="0"/>
          <a:stretch/>
        </p:blipFill>
        <p:spPr>
          <a:xfrm>
            <a:off x="771525" y="581025"/>
            <a:ext cx="676275" cy="628650"/>
          </a:xfrm>
          <a:prstGeom prst="rect">
            <a:avLst/>
          </a:prstGeom>
          <a:noFill/>
          <a:ln>
            <a:noFill/>
          </a:ln>
        </p:spPr>
      </p:pic>
      <p:sp>
        <p:nvSpPr>
          <p:cNvPr id="600" name="Google Shape;600;p41"/>
          <p:cNvSpPr txBox="1"/>
          <p:nvPr/>
        </p:nvSpPr>
        <p:spPr>
          <a:xfrm>
            <a:off x="771525" y="2559694"/>
            <a:ext cx="64689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8FAFC"/>
                </a:solidFill>
                <a:latin typeface="Plus Jakarta Sans"/>
                <a:ea typeface="Plus Jakarta Sans"/>
                <a:cs typeface="Plus Jakarta Sans"/>
                <a:sym typeface="Plus Jakarta Sans"/>
              </a:rPr>
              <a:t>Out-of-the-Box Orchestration</a:t>
            </a:r>
            <a:endParaRPr/>
          </a:p>
        </p:txBody>
      </p:sp>
      <p:sp>
        <p:nvSpPr>
          <p:cNvPr id="601" name="Google Shape;601;p41"/>
          <p:cNvSpPr txBox="1"/>
          <p:nvPr/>
        </p:nvSpPr>
        <p:spPr>
          <a:xfrm>
            <a:off x="771525" y="2988319"/>
            <a:ext cx="61608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You do not need to manually write the threading logic to execute three simultaneous database searches. LangChain provides a beautiful abstraction.</a:t>
            </a:r>
            <a:endParaRPr/>
          </a:p>
        </p:txBody>
      </p:sp>
      <p:sp>
        <p:nvSpPr>
          <p:cNvPr id="602" name="Google Shape;602;p41"/>
          <p:cNvSpPr txBox="1"/>
          <p:nvPr/>
        </p:nvSpPr>
        <p:spPr>
          <a:xfrm>
            <a:off x="771525" y="4047232"/>
            <a:ext cx="61608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The MultiQueryRetriever wraps around your base FAISS retriever. You pass it an LLM (the "Traffic Cop"), and it handles the decomposition, the parallel execution, and the content hash deduplication entirely under the hood.</a:t>
            </a:r>
            <a:endParaRPr/>
          </a:p>
        </p:txBody>
      </p:sp>
      <p:pic>
        <p:nvPicPr>
          <p:cNvPr descr="image.png" id="603" name="Google Shape;603;p41"/>
          <p:cNvPicPr preferRelativeResize="0"/>
          <p:nvPr/>
        </p:nvPicPr>
        <p:blipFill rotWithShape="1">
          <a:blip r:embed="rId6">
            <a:alphaModFix/>
          </a:blip>
          <a:srcRect b="0" l="0" r="0" t="0"/>
          <a:stretch/>
        </p:blipFill>
        <p:spPr>
          <a:xfrm>
            <a:off x="9033420" y="2966144"/>
            <a:ext cx="666750" cy="762000"/>
          </a:xfrm>
          <a:prstGeom prst="rect">
            <a:avLst/>
          </a:prstGeom>
          <a:noFill/>
          <a:ln>
            <a:noFill/>
          </a:ln>
        </p:spPr>
      </p:pic>
      <p:sp>
        <p:nvSpPr>
          <p:cNvPr id="604" name="Google Shape;604;p41"/>
          <p:cNvSpPr txBox="1"/>
          <p:nvPr/>
        </p:nvSpPr>
        <p:spPr>
          <a:xfrm>
            <a:off x="8526690" y="3918644"/>
            <a:ext cx="1680300" cy="3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14B8A6"/>
                </a:solidFill>
                <a:latin typeface="Plus Jakarta Sans"/>
                <a:ea typeface="Plus Jakarta Sans"/>
                <a:cs typeface="Plus Jakarta Sans"/>
                <a:sym typeface="Plus Jakarta Sans"/>
              </a:rPr>
              <a:t>1 Line of Code</a:t>
            </a:r>
            <a:endParaRPr/>
          </a:p>
        </p:txBody>
      </p:sp>
      <p:sp>
        <p:nvSpPr>
          <p:cNvPr id="605" name="Google Shape;605;p41"/>
          <p:cNvSpPr txBox="1"/>
          <p:nvPr/>
        </p:nvSpPr>
        <p:spPr>
          <a:xfrm>
            <a:off x="7608540" y="4347269"/>
            <a:ext cx="3516600" cy="48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Replaces hundreds of lines of complex concurrent Python execution.</a:t>
            </a:r>
            <a:endParaRPr/>
          </a:p>
        </p:txBody>
      </p:sp>
      <p:pic>
        <p:nvPicPr>
          <p:cNvPr id="606" name="Google Shape;606;p41"/>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610" name="Shape 610"/>
        <p:cNvGrpSpPr/>
        <p:nvPr/>
      </p:nvGrpSpPr>
      <p:grpSpPr>
        <a:xfrm>
          <a:off x="0" y="0"/>
          <a:ext cx="0" cy="0"/>
          <a:chOff x="0" y="0"/>
          <a:chExt cx="0" cy="0"/>
        </a:xfrm>
      </p:grpSpPr>
      <p:pic>
        <p:nvPicPr>
          <p:cNvPr descr="image.png" id="611" name="Google Shape;611;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12" name="Google Shape;612;p42"/>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Code Implementation: </a:t>
            </a:r>
            <a:r>
              <a:rPr b="0" i="0" lang="en-US" sz="3150" u="none" cap="none" strike="noStrike">
                <a:solidFill>
                  <a:srgbClr val="14B8A6"/>
                </a:solidFill>
                <a:latin typeface="Space Grotesk"/>
                <a:ea typeface="Space Grotesk"/>
                <a:cs typeface="Space Grotesk"/>
                <a:sym typeface="Space Grotesk"/>
              </a:rPr>
              <a:t>MultiQueryRetriever</a:t>
            </a:r>
            <a:endParaRPr/>
          </a:p>
        </p:txBody>
      </p:sp>
      <p:sp>
        <p:nvSpPr>
          <p:cNvPr id="613" name="Google Shape;613;p42"/>
          <p:cNvSpPr txBox="1"/>
          <p:nvPr/>
        </p:nvSpPr>
        <p:spPr>
          <a:xfrm>
            <a:off x="771525" y="1495425"/>
            <a:ext cx="10649100" cy="1108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C678DD"/>
                </a:solidFill>
                <a:latin typeface="Plus Jakarta Sans"/>
                <a:ea typeface="Plus Jakarta Sans"/>
                <a:cs typeface="Plus Jakarta Sans"/>
                <a:sym typeface="Plus Jakarta Sans"/>
              </a:rPr>
              <a:t>from</a:t>
            </a:r>
            <a:r>
              <a:rPr b="0" i="0" lang="en-US" sz="1200" u="none" cap="none" strike="noStrike">
                <a:solidFill>
                  <a:srgbClr val="F8FAFC"/>
                </a:solidFill>
                <a:latin typeface="Plus Jakarta Sans"/>
                <a:ea typeface="Plus Jakarta Sans"/>
                <a:cs typeface="Plus Jakarta Sans"/>
                <a:sym typeface="Plus Jakarta Sans"/>
              </a:rPr>
              <a:t> langchain.retrievers.multi_query </a:t>
            </a:r>
            <a:r>
              <a:rPr b="0" i="0" lang="en-US" sz="1200" u="none" cap="none" strike="noStrike">
                <a:solidFill>
                  <a:srgbClr val="C678DD"/>
                </a:solidFill>
                <a:latin typeface="Plus Jakarta Sans"/>
                <a:ea typeface="Plus Jakarta Sans"/>
                <a:cs typeface="Plus Jakarta Sans"/>
                <a:sym typeface="Plus Jakarta Sans"/>
              </a:rPr>
              <a:t>import</a:t>
            </a:r>
            <a:r>
              <a:rPr b="0" i="0" lang="en-US" sz="1200" u="none" cap="none" strike="noStrike">
                <a:solidFill>
                  <a:srgbClr val="F8FAFC"/>
                </a:solidFill>
                <a:latin typeface="Plus Jakarta Sans"/>
                <a:ea typeface="Plus Jakarta Sans"/>
                <a:cs typeface="Plus Jakarta Sans"/>
                <a:sym typeface="Plus Jakarta Sans"/>
              </a:rPr>
              <a:t> MultiQueryRetriever </a:t>
            </a:r>
            <a:r>
              <a:rPr b="0" i="1" lang="en-US" sz="1200" u="none" cap="none" strike="noStrike">
                <a:solidFill>
                  <a:srgbClr val="64748B"/>
                </a:solidFill>
                <a:latin typeface="Plus Jakarta Sans"/>
                <a:ea typeface="Plus Jakarta Sans"/>
                <a:cs typeface="Plus Jakarta Sans"/>
                <a:sym typeface="Plus Jakarta Sans"/>
              </a:rPr>
              <a:t># 1. Initialize the "Traffic Cop" LLM and Base FAISS Retriever</a:t>
            </a:r>
            <a:r>
              <a:rPr b="0" i="0" lang="en-US" sz="1200" u="none" cap="none" strike="noStrike">
                <a:solidFill>
                  <a:srgbClr val="F8FAFC"/>
                </a:solidFill>
                <a:latin typeface="Plus Jakarta Sans"/>
                <a:ea typeface="Plus Jakarta Sans"/>
                <a:cs typeface="Plus Jakarta Sans"/>
                <a:sym typeface="Plus Jakarta Sans"/>
              </a:rPr>
              <a:t> llm = ChatGoogleGenerativeAI(model=</a:t>
            </a:r>
            <a:r>
              <a:rPr b="0" i="0" lang="en-US" sz="1200" u="none" cap="none" strike="noStrike">
                <a:solidFill>
                  <a:srgbClr val="98C379"/>
                </a:solidFill>
                <a:latin typeface="Plus Jakarta Sans"/>
                <a:ea typeface="Plus Jakarta Sans"/>
                <a:cs typeface="Plus Jakarta Sans"/>
                <a:sym typeface="Plus Jakarta Sans"/>
              </a:rPr>
              <a:t>"gemini-3.1-flash"</a:t>
            </a:r>
            <a:r>
              <a:rPr b="0" i="0" lang="en-US" sz="1200" u="none" cap="none" strike="noStrike">
                <a:solidFill>
                  <a:srgbClr val="F8FAFC"/>
                </a:solidFill>
                <a:latin typeface="Plus Jakarta Sans"/>
                <a:ea typeface="Plus Jakarta Sans"/>
                <a:cs typeface="Plus Jakarta Sans"/>
                <a:sym typeface="Plus Jakarta Sans"/>
              </a:rPr>
              <a:t>, temperature=</a:t>
            </a:r>
            <a:r>
              <a:rPr b="0" i="0" lang="en-US" sz="1200" u="none" cap="none" strike="noStrike">
                <a:solidFill>
                  <a:srgbClr val="98C379"/>
                </a:solidFill>
                <a:latin typeface="Plus Jakarta Sans"/>
                <a:ea typeface="Plus Jakarta Sans"/>
                <a:cs typeface="Plus Jakarta Sans"/>
                <a:sym typeface="Plus Jakarta Sans"/>
              </a:rPr>
              <a:t>0.0</a:t>
            </a:r>
            <a:r>
              <a:rPr b="0" i="0" lang="en-US" sz="1200" u="none" cap="none" strike="noStrike">
                <a:solidFill>
                  <a:srgbClr val="F8FAFC"/>
                </a:solidFill>
                <a:latin typeface="Plus Jakarta Sans"/>
                <a:ea typeface="Plus Jakarta Sans"/>
                <a:cs typeface="Plus Jakarta Sans"/>
                <a:sym typeface="Plus Jakarta Sans"/>
              </a:rPr>
              <a:t>) base_retriever = vectorstore.</a:t>
            </a:r>
            <a:r>
              <a:rPr b="0" i="0" lang="en-US" sz="1200" u="none" cap="none" strike="noStrike">
                <a:solidFill>
                  <a:srgbClr val="61AFEF"/>
                </a:solidFill>
                <a:latin typeface="Plus Jakarta Sans"/>
                <a:ea typeface="Plus Jakarta Sans"/>
                <a:cs typeface="Plus Jakarta Sans"/>
                <a:sym typeface="Plus Jakarta Sans"/>
              </a:rPr>
              <a:t>as_retriever</a:t>
            </a:r>
            <a:r>
              <a:rPr b="0" i="0" lang="en-US" sz="1200" u="none" cap="none" strike="noStrike">
                <a:solidFill>
                  <a:srgbClr val="F8FAFC"/>
                </a:solidFill>
                <a:latin typeface="Plus Jakarta Sans"/>
                <a:ea typeface="Plus Jakarta Sans"/>
                <a:cs typeface="Plus Jakarta Sans"/>
                <a:sym typeface="Plus Jakarta Sans"/>
              </a:rPr>
              <a:t>(search_kwargs={</a:t>
            </a:r>
            <a:r>
              <a:rPr b="0" i="0" lang="en-US" sz="1200" u="none" cap="none" strike="noStrike">
                <a:solidFill>
                  <a:srgbClr val="98C379"/>
                </a:solidFill>
                <a:latin typeface="Plus Jakarta Sans"/>
                <a:ea typeface="Plus Jakarta Sans"/>
                <a:cs typeface="Plus Jakarta Sans"/>
                <a:sym typeface="Plus Jakarta Sans"/>
              </a:rPr>
              <a:t>"k"</a:t>
            </a:r>
            <a:r>
              <a:rPr b="0" i="0" lang="en-US" sz="1200" u="none" cap="none" strike="noStrike">
                <a:solidFill>
                  <a:srgbClr val="F8FAFC"/>
                </a:solidFill>
                <a:latin typeface="Plus Jakarta Sans"/>
                <a:ea typeface="Plus Jakarta Sans"/>
                <a:cs typeface="Plus Jakarta Sans"/>
                <a:sym typeface="Plus Jakarta Sans"/>
              </a:rPr>
              <a:t>: </a:t>
            </a:r>
            <a:r>
              <a:rPr b="0" i="0" lang="en-US" sz="1200" u="none" cap="none" strike="noStrike">
                <a:solidFill>
                  <a:srgbClr val="98C379"/>
                </a:solidFill>
                <a:latin typeface="Plus Jakarta Sans"/>
                <a:ea typeface="Plus Jakarta Sans"/>
                <a:cs typeface="Plus Jakarta Sans"/>
                <a:sym typeface="Plus Jakarta Sans"/>
              </a:rPr>
              <a:t>2</a:t>
            </a:r>
            <a:r>
              <a:rPr b="0" i="0" lang="en-US" sz="1200" u="none" cap="none" strike="noStrike">
                <a:solidFill>
                  <a:srgbClr val="F8FAFC"/>
                </a:solidFill>
                <a:latin typeface="Plus Jakarta Sans"/>
                <a:ea typeface="Plus Jakarta Sans"/>
                <a:cs typeface="Plus Jakarta Sans"/>
                <a:sym typeface="Plus Jakarta Sans"/>
              </a:rPr>
              <a:t>}) </a:t>
            </a:r>
            <a:r>
              <a:rPr b="0" i="1" lang="en-US" sz="1200" u="none" cap="none" strike="noStrike">
                <a:solidFill>
                  <a:srgbClr val="64748B"/>
                </a:solidFill>
                <a:latin typeface="Plus Jakarta Sans"/>
                <a:ea typeface="Plus Jakarta Sans"/>
                <a:cs typeface="Plus Jakarta Sans"/>
                <a:sym typeface="Plus Jakarta Sans"/>
              </a:rPr>
              <a:t># 2. Wrap the Base Retriever to unlock Decomposition</a:t>
            </a:r>
            <a:r>
              <a:rPr b="0" i="0" lang="en-US" sz="1200" u="none" cap="none" strike="noStrike">
                <a:solidFill>
                  <a:srgbClr val="F8FAFC"/>
                </a:solidFill>
                <a:latin typeface="Plus Jakarta Sans"/>
                <a:ea typeface="Plus Jakarta Sans"/>
                <a:cs typeface="Plus Jakarta Sans"/>
                <a:sym typeface="Plus Jakarta Sans"/>
              </a:rPr>
              <a:t> advanced_retriever = MultiQueryRetriever.</a:t>
            </a:r>
            <a:r>
              <a:rPr b="0" i="0" lang="en-US" sz="1200" u="none" cap="none" strike="noStrike">
                <a:solidFill>
                  <a:srgbClr val="61AFEF"/>
                </a:solidFill>
                <a:latin typeface="Plus Jakarta Sans"/>
                <a:ea typeface="Plus Jakarta Sans"/>
                <a:cs typeface="Plus Jakarta Sans"/>
                <a:sym typeface="Plus Jakarta Sans"/>
              </a:rPr>
              <a:t>from_llm</a:t>
            </a:r>
            <a:r>
              <a:rPr b="0" i="0" lang="en-US" sz="1200" u="none" cap="none" strike="noStrike">
                <a:solidFill>
                  <a:srgbClr val="F8FAFC"/>
                </a:solidFill>
                <a:latin typeface="Plus Jakarta Sans"/>
                <a:ea typeface="Plus Jakarta Sans"/>
                <a:cs typeface="Plus Jakarta Sans"/>
                <a:sym typeface="Plus Jakarta Sans"/>
              </a:rPr>
              <a:t>( retriever=base_retriever, llm=llm ) </a:t>
            </a:r>
            <a:r>
              <a:rPr b="0" i="1" lang="en-US" sz="1200" u="none" cap="none" strike="noStrike">
                <a:solidFill>
                  <a:srgbClr val="64748B"/>
                </a:solidFill>
                <a:latin typeface="Plus Jakarta Sans"/>
                <a:ea typeface="Plus Jakarta Sans"/>
                <a:cs typeface="Plus Jakarta Sans"/>
                <a:sym typeface="Plus Jakarta Sans"/>
              </a:rPr>
              <a:t># 3. Execute the Multi-Query Search (Decomposes, Searches, Deduplicates automatically)</a:t>
            </a:r>
            <a:r>
              <a:rPr b="0" i="0" lang="en-US" sz="1200" u="none" cap="none" strike="noStrike">
                <a:solidFill>
                  <a:srgbClr val="F8FAFC"/>
                </a:solidFill>
                <a:latin typeface="Plus Jakarta Sans"/>
                <a:ea typeface="Plus Jakarta Sans"/>
                <a:cs typeface="Plus Jakarta Sans"/>
                <a:sym typeface="Plus Jakarta Sans"/>
              </a:rPr>
              <a:t> complex_query = </a:t>
            </a:r>
            <a:r>
              <a:rPr b="0" i="0" lang="en-US" sz="1200" u="none" cap="none" strike="noStrike">
                <a:solidFill>
                  <a:srgbClr val="98C379"/>
                </a:solidFill>
                <a:latin typeface="Plus Jakarta Sans"/>
                <a:ea typeface="Plus Jakarta Sans"/>
                <a:cs typeface="Plus Jakarta Sans"/>
                <a:sym typeface="Plus Jakarta Sans"/>
              </a:rPr>
              <a:t>"Who wrote the Q4 audit, and what did they say about OCR and the $45k budget?"</a:t>
            </a:r>
            <a:r>
              <a:rPr b="0" i="0" lang="en-US" sz="1200" u="none" cap="none" strike="noStrike">
                <a:solidFill>
                  <a:srgbClr val="F8FAFC"/>
                </a:solidFill>
                <a:latin typeface="Plus Jakarta Sans"/>
                <a:ea typeface="Plus Jakarta Sans"/>
                <a:cs typeface="Plus Jakarta Sans"/>
                <a:sym typeface="Plus Jakarta Sans"/>
              </a:rPr>
              <a:t> retrieved_docs = advanced_retriever.</a:t>
            </a:r>
            <a:r>
              <a:rPr b="0" i="0" lang="en-US" sz="1200" u="none" cap="none" strike="noStrike">
                <a:solidFill>
                  <a:srgbClr val="61AFEF"/>
                </a:solidFill>
                <a:latin typeface="Plus Jakarta Sans"/>
                <a:ea typeface="Plus Jakarta Sans"/>
                <a:cs typeface="Plus Jakarta Sans"/>
                <a:sym typeface="Plus Jakarta Sans"/>
              </a:rPr>
              <a:t>invoke</a:t>
            </a:r>
            <a:r>
              <a:rPr b="0" i="0" lang="en-US" sz="1200" u="none" cap="none" strike="noStrike">
                <a:solidFill>
                  <a:srgbClr val="F8FAFC"/>
                </a:solidFill>
                <a:latin typeface="Plus Jakarta Sans"/>
                <a:ea typeface="Plus Jakarta Sans"/>
                <a:cs typeface="Plus Jakarta Sans"/>
                <a:sym typeface="Plus Jakarta Sans"/>
              </a:rPr>
              <a:t>(complex_query) </a:t>
            </a:r>
            <a:r>
              <a:rPr b="0" i="0" lang="en-US" sz="1200" u="none" cap="none" strike="noStrike">
                <a:solidFill>
                  <a:srgbClr val="C678DD"/>
                </a:solidFill>
                <a:latin typeface="Plus Jakarta Sans"/>
                <a:ea typeface="Plus Jakarta Sans"/>
                <a:cs typeface="Plus Jakarta Sans"/>
                <a:sym typeface="Plus Jakarta Sans"/>
              </a:rPr>
              <a:t>print</a:t>
            </a:r>
            <a:r>
              <a:rPr b="0" i="0" lang="en-US" sz="1200" u="none" cap="none" strike="noStrike">
                <a:solidFill>
                  <a:srgbClr val="F8FAFC"/>
                </a:solidFill>
                <a:latin typeface="Plus Jakarta Sans"/>
                <a:ea typeface="Plus Jakarta Sans"/>
                <a:cs typeface="Plus Jakarta Sans"/>
                <a:sym typeface="Plus Jakarta Sans"/>
              </a:rPr>
              <a:t>(</a:t>
            </a:r>
            <a:r>
              <a:rPr b="0" i="0" lang="en-US" sz="1200" u="none" cap="none" strike="noStrike">
                <a:solidFill>
                  <a:srgbClr val="98C379"/>
                </a:solidFill>
                <a:latin typeface="Plus Jakarta Sans"/>
                <a:ea typeface="Plus Jakarta Sans"/>
                <a:cs typeface="Plus Jakarta Sans"/>
                <a:sym typeface="Plus Jakarta Sans"/>
              </a:rPr>
              <a:t>f"Total Unique Documents Retrieved: {len(retrieved_docs)}"</a:t>
            </a:r>
            <a:r>
              <a:rPr b="0" i="0" lang="en-US" sz="1200" u="none" cap="none" strike="noStrike">
                <a:solidFill>
                  <a:srgbClr val="F8FAFC"/>
                </a:solidFill>
                <a:latin typeface="Plus Jakarta Sans"/>
                <a:ea typeface="Plus Jakarta Sans"/>
                <a:cs typeface="Plus Jakarta Sans"/>
                <a:sym typeface="Plus Jakarta Sans"/>
              </a:rPr>
              <a:t>) </a:t>
            </a:r>
            <a:endParaRPr/>
          </a:p>
        </p:txBody>
      </p:sp>
      <p:pic>
        <p:nvPicPr>
          <p:cNvPr descr="image.png" id="614" name="Google Shape;614;p42"/>
          <p:cNvPicPr preferRelativeResize="0"/>
          <p:nvPr/>
        </p:nvPicPr>
        <p:blipFill rotWithShape="1">
          <a:blip r:embed="rId4">
            <a:alphaModFix/>
          </a:blip>
          <a:srcRect b="0" l="0" r="0" t="0"/>
          <a:stretch/>
        </p:blipFill>
        <p:spPr>
          <a:xfrm>
            <a:off x="771525" y="581025"/>
            <a:ext cx="733425" cy="628650"/>
          </a:xfrm>
          <a:prstGeom prst="rect">
            <a:avLst/>
          </a:prstGeom>
          <a:noFill/>
          <a:ln>
            <a:noFill/>
          </a:ln>
        </p:spPr>
      </p:pic>
      <p:sp>
        <p:nvSpPr>
          <p:cNvPr id="615" name="Google Shape;615;p42"/>
          <p:cNvSpPr txBox="1"/>
          <p:nvPr/>
        </p:nvSpPr>
        <p:spPr>
          <a:xfrm>
            <a:off x="1019175" y="1762125"/>
            <a:ext cx="3810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678DD"/>
                </a:solidFill>
                <a:latin typeface="Fira Code"/>
                <a:ea typeface="Fira Code"/>
                <a:cs typeface="Fira Code"/>
                <a:sym typeface="Fira Code"/>
              </a:rPr>
              <a:t>from</a:t>
            </a:r>
            <a:endParaRPr/>
          </a:p>
        </p:txBody>
      </p:sp>
      <p:sp>
        <p:nvSpPr>
          <p:cNvPr id="616" name="Google Shape;616;p42"/>
          <p:cNvSpPr txBox="1"/>
          <p:nvPr/>
        </p:nvSpPr>
        <p:spPr>
          <a:xfrm>
            <a:off x="4638675" y="1762125"/>
            <a:ext cx="571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678DD"/>
                </a:solidFill>
                <a:latin typeface="Fira Code"/>
                <a:ea typeface="Fira Code"/>
                <a:cs typeface="Fira Code"/>
                <a:sym typeface="Fira Code"/>
              </a:rPr>
              <a:t>import</a:t>
            </a:r>
            <a:endParaRPr/>
          </a:p>
        </p:txBody>
      </p:sp>
      <p:sp>
        <p:nvSpPr>
          <p:cNvPr id="617" name="Google Shape;617;p42"/>
          <p:cNvSpPr txBox="1"/>
          <p:nvPr/>
        </p:nvSpPr>
        <p:spPr>
          <a:xfrm>
            <a:off x="1019175" y="2249685"/>
            <a:ext cx="5905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64748B"/>
                </a:solidFill>
                <a:latin typeface="Fira Code"/>
                <a:ea typeface="Fira Code"/>
                <a:cs typeface="Fira Code"/>
                <a:sym typeface="Fira Code"/>
              </a:rPr>
              <a:t># 1. Initialize the "Traffic Cop" LLM and Base FAISS Retriever</a:t>
            </a:r>
            <a:endParaRPr/>
          </a:p>
        </p:txBody>
      </p:sp>
      <p:sp>
        <p:nvSpPr>
          <p:cNvPr id="618" name="Google Shape;618;p42"/>
          <p:cNvSpPr txBox="1"/>
          <p:nvPr/>
        </p:nvSpPr>
        <p:spPr>
          <a:xfrm>
            <a:off x="4352925" y="2493466"/>
            <a:ext cx="1714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"gemini-3.1-flash"</a:t>
            </a:r>
            <a:endParaRPr/>
          </a:p>
        </p:txBody>
      </p:sp>
      <p:sp>
        <p:nvSpPr>
          <p:cNvPr id="619" name="Google Shape;619;p42"/>
          <p:cNvSpPr txBox="1"/>
          <p:nvPr/>
        </p:nvSpPr>
        <p:spPr>
          <a:xfrm>
            <a:off x="7400925" y="2493466"/>
            <a:ext cx="2859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0.0</a:t>
            </a:r>
            <a:endParaRPr/>
          </a:p>
        </p:txBody>
      </p:sp>
      <p:sp>
        <p:nvSpPr>
          <p:cNvPr id="620" name="Google Shape;620;p42"/>
          <p:cNvSpPr txBox="1"/>
          <p:nvPr/>
        </p:nvSpPr>
        <p:spPr>
          <a:xfrm>
            <a:off x="3781425" y="2737246"/>
            <a:ext cx="11430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1AFEF"/>
                </a:solidFill>
                <a:latin typeface="Fira Code"/>
                <a:ea typeface="Fira Code"/>
                <a:cs typeface="Fira Code"/>
                <a:sym typeface="Fira Code"/>
              </a:rPr>
              <a:t>as_retriever</a:t>
            </a:r>
            <a:endParaRPr/>
          </a:p>
        </p:txBody>
      </p:sp>
      <p:sp>
        <p:nvSpPr>
          <p:cNvPr id="621" name="Google Shape;621;p42"/>
          <p:cNvSpPr txBox="1"/>
          <p:nvPr/>
        </p:nvSpPr>
        <p:spPr>
          <a:xfrm>
            <a:off x="6448425" y="2737246"/>
            <a:ext cx="2859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"k"</a:t>
            </a:r>
            <a:endParaRPr/>
          </a:p>
        </p:txBody>
      </p:sp>
      <p:sp>
        <p:nvSpPr>
          <p:cNvPr id="622" name="Google Shape;622;p42"/>
          <p:cNvSpPr txBox="1"/>
          <p:nvPr/>
        </p:nvSpPr>
        <p:spPr>
          <a:xfrm>
            <a:off x="6924675" y="2737246"/>
            <a:ext cx="95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2</a:t>
            </a:r>
            <a:endParaRPr/>
          </a:p>
        </p:txBody>
      </p:sp>
      <p:sp>
        <p:nvSpPr>
          <p:cNvPr id="623" name="Google Shape;623;p42"/>
          <p:cNvSpPr txBox="1"/>
          <p:nvPr/>
        </p:nvSpPr>
        <p:spPr>
          <a:xfrm>
            <a:off x="1019175" y="3224807"/>
            <a:ext cx="49530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64748B"/>
                </a:solidFill>
                <a:latin typeface="Fira Code"/>
                <a:ea typeface="Fira Code"/>
                <a:cs typeface="Fira Code"/>
                <a:sym typeface="Fira Code"/>
              </a:rPr>
              <a:t># 2. Wrap the Base Retriever to unlock Decomposition</a:t>
            </a:r>
            <a:endParaRPr/>
          </a:p>
        </p:txBody>
      </p:sp>
      <p:sp>
        <p:nvSpPr>
          <p:cNvPr id="624" name="Google Shape;624;p42"/>
          <p:cNvSpPr txBox="1"/>
          <p:nvPr/>
        </p:nvSpPr>
        <p:spPr>
          <a:xfrm>
            <a:off x="4924425" y="3468588"/>
            <a:ext cx="7620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1AFEF"/>
                </a:solidFill>
                <a:latin typeface="Fira Code"/>
                <a:ea typeface="Fira Code"/>
                <a:cs typeface="Fira Code"/>
                <a:sym typeface="Fira Code"/>
              </a:rPr>
              <a:t>from_llm</a:t>
            </a:r>
            <a:endParaRPr/>
          </a:p>
        </p:txBody>
      </p:sp>
      <p:sp>
        <p:nvSpPr>
          <p:cNvPr id="625" name="Google Shape;625;p42"/>
          <p:cNvSpPr txBox="1"/>
          <p:nvPr/>
        </p:nvSpPr>
        <p:spPr>
          <a:xfrm>
            <a:off x="1019175" y="4687490"/>
            <a:ext cx="8191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64748B"/>
                </a:solidFill>
                <a:latin typeface="Fira Code"/>
                <a:ea typeface="Fira Code"/>
                <a:cs typeface="Fira Code"/>
                <a:sym typeface="Fira Code"/>
              </a:rPr>
              <a:t># 3. Execute the Multi-Query Search (Decomposes, Searches, Deduplicates automatically)</a:t>
            </a:r>
            <a:endParaRPr/>
          </a:p>
        </p:txBody>
      </p:sp>
      <p:sp>
        <p:nvSpPr>
          <p:cNvPr id="626" name="Google Shape;626;p42"/>
          <p:cNvSpPr txBox="1"/>
          <p:nvPr/>
        </p:nvSpPr>
        <p:spPr>
          <a:xfrm>
            <a:off x="2543175" y="4931271"/>
            <a:ext cx="7429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"Who wrote the Q4 audit, and what did they say about OCR and the $45k budget?"</a:t>
            </a:r>
            <a:endParaRPr/>
          </a:p>
        </p:txBody>
      </p:sp>
      <p:sp>
        <p:nvSpPr>
          <p:cNvPr id="627" name="Google Shape;627;p42"/>
          <p:cNvSpPr txBox="1"/>
          <p:nvPr/>
        </p:nvSpPr>
        <p:spPr>
          <a:xfrm>
            <a:off x="4448175" y="5175051"/>
            <a:ext cx="571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1AFEF"/>
                </a:solidFill>
                <a:latin typeface="Fira Code"/>
                <a:ea typeface="Fira Code"/>
                <a:cs typeface="Fira Code"/>
                <a:sym typeface="Fira Code"/>
              </a:rPr>
              <a:t>invoke</a:t>
            </a:r>
            <a:endParaRPr/>
          </a:p>
        </p:txBody>
      </p:sp>
      <p:sp>
        <p:nvSpPr>
          <p:cNvPr id="628" name="Google Shape;628;p42"/>
          <p:cNvSpPr txBox="1"/>
          <p:nvPr/>
        </p:nvSpPr>
        <p:spPr>
          <a:xfrm>
            <a:off x="1019175" y="5662612"/>
            <a:ext cx="4764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678DD"/>
                </a:solidFill>
                <a:latin typeface="Fira Code"/>
                <a:ea typeface="Fira Code"/>
                <a:cs typeface="Fira Code"/>
                <a:sym typeface="Fira Code"/>
              </a:rPr>
              <a:t>print</a:t>
            </a:r>
            <a:endParaRPr/>
          </a:p>
        </p:txBody>
      </p:sp>
      <p:sp>
        <p:nvSpPr>
          <p:cNvPr id="629" name="Google Shape;629;p42"/>
          <p:cNvSpPr txBox="1"/>
          <p:nvPr/>
        </p:nvSpPr>
        <p:spPr>
          <a:xfrm>
            <a:off x="1590675" y="5662612"/>
            <a:ext cx="5524500" cy="18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98C379"/>
                </a:solidFill>
                <a:latin typeface="Fira Code"/>
                <a:ea typeface="Fira Code"/>
                <a:cs typeface="Fira Code"/>
                <a:sym typeface="Fira Code"/>
              </a:rPr>
              <a:t>f"Total Unique Documents Retrieved: {len(retrieved_docs)}"</a:t>
            </a:r>
            <a:endParaRPr/>
          </a:p>
        </p:txBody>
      </p:sp>
      <p:pic>
        <p:nvPicPr>
          <p:cNvPr id="630" name="Google Shape;630;p42"/>
          <p:cNvPicPr preferRelativeResize="0"/>
          <p:nvPr/>
        </p:nvPicPr>
        <p:blipFill>
          <a:blip r:embed="rId5">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634" name="Shape 634"/>
        <p:cNvGrpSpPr/>
        <p:nvPr/>
      </p:nvGrpSpPr>
      <p:grpSpPr>
        <a:xfrm>
          <a:off x="0" y="0"/>
          <a:ext cx="0" cy="0"/>
          <a:chOff x="0" y="0"/>
          <a:chExt cx="0" cy="0"/>
        </a:xfrm>
      </p:grpSpPr>
      <p:pic>
        <p:nvPicPr>
          <p:cNvPr descr="image.png" id="635" name="Google Shape;635;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36" name="Google Shape;636;p43"/>
          <p:cNvPicPr preferRelativeResize="0"/>
          <p:nvPr/>
        </p:nvPicPr>
        <p:blipFill rotWithShape="1">
          <a:blip r:embed="rId4">
            <a:alphaModFix/>
          </a:blip>
          <a:srcRect b="0" l="0" r="0" t="0"/>
          <a:stretch/>
        </p:blipFill>
        <p:spPr>
          <a:xfrm>
            <a:off x="771525" y="1495425"/>
            <a:ext cx="5133974" cy="4781550"/>
          </a:xfrm>
          <a:prstGeom prst="rect">
            <a:avLst/>
          </a:prstGeom>
          <a:noFill/>
          <a:ln>
            <a:noFill/>
          </a:ln>
        </p:spPr>
      </p:pic>
      <p:pic>
        <p:nvPicPr>
          <p:cNvPr descr="image.png" id="637" name="Google Shape;637;p43"/>
          <p:cNvPicPr preferRelativeResize="0"/>
          <p:nvPr/>
        </p:nvPicPr>
        <p:blipFill rotWithShape="1">
          <a:blip r:embed="rId5">
            <a:alphaModFix/>
          </a:blip>
          <a:srcRect b="0" l="0" r="0" t="0"/>
          <a:stretch/>
        </p:blipFill>
        <p:spPr>
          <a:xfrm>
            <a:off x="6286500" y="1495425"/>
            <a:ext cx="5133974" cy="4781550"/>
          </a:xfrm>
          <a:prstGeom prst="rect">
            <a:avLst/>
          </a:prstGeom>
          <a:noFill/>
          <a:ln>
            <a:noFill/>
          </a:ln>
        </p:spPr>
      </p:pic>
      <p:sp>
        <p:nvSpPr>
          <p:cNvPr id="638" name="Google Shape;638;p43"/>
          <p:cNvSpPr txBox="1"/>
          <p:nvPr/>
        </p:nvSpPr>
        <p:spPr>
          <a:xfrm>
            <a:off x="1647825" y="581025"/>
            <a:ext cx="1026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MLOps </a:t>
            </a:r>
            <a:r>
              <a:rPr b="0" i="0" lang="en-US" sz="3150" u="none" cap="none" strike="noStrike">
                <a:solidFill>
                  <a:srgbClr val="14B8A6"/>
                </a:solidFill>
                <a:latin typeface="Space Grotesk"/>
                <a:ea typeface="Space Grotesk"/>
                <a:cs typeface="Space Grotesk"/>
                <a:sym typeface="Space Grotesk"/>
              </a:rPr>
              <a:t>Trade-off</a:t>
            </a:r>
            <a:endParaRPr/>
          </a:p>
        </p:txBody>
      </p:sp>
      <p:pic>
        <p:nvPicPr>
          <p:cNvPr descr="image.png" id="639" name="Google Shape;639;p43"/>
          <p:cNvPicPr preferRelativeResize="0"/>
          <p:nvPr/>
        </p:nvPicPr>
        <p:blipFill rotWithShape="1">
          <a:blip r:embed="rId6">
            <a:alphaModFix/>
          </a:blip>
          <a:srcRect b="0" l="0" r="0" t="0"/>
          <a:stretch/>
        </p:blipFill>
        <p:spPr>
          <a:xfrm>
            <a:off x="771525" y="581025"/>
            <a:ext cx="733425" cy="628650"/>
          </a:xfrm>
          <a:prstGeom prst="rect">
            <a:avLst/>
          </a:prstGeom>
          <a:noFill/>
          <a:ln>
            <a:noFill/>
          </a:ln>
        </p:spPr>
      </p:pic>
      <p:sp>
        <p:nvSpPr>
          <p:cNvPr id="640" name="Google Shape;640;p43"/>
          <p:cNvSpPr txBox="1"/>
          <p:nvPr/>
        </p:nvSpPr>
        <p:spPr>
          <a:xfrm>
            <a:off x="1066800" y="1819275"/>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43F5E"/>
                </a:solidFill>
                <a:latin typeface="Plus Jakarta Sans"/>
                <a:ea typeface="Plus Jakarta Sans"/>
                <a:cs typeface="Plus Jakarta Sans"/>
                <a:sym typeface="Plus Jakarta Sans"/>
              </a:rPr>
              <a:t>The Cost (Tokens &amp; Latency)</a:t>
            </a:r>
            <a:endParaRPr/>
          </a:p>
        </p:txBody>
      </p:sp>
      <p:sp>
        <p:nvSpPr>
          <p:cNvPr id="641" name="Google Shape;641;p43"/>
          <p:cNvSpPr txBox="1"/>
          <p:nvPr/>
        </p:nvSpPr>
        <p:spPr>
          <a:xfrm>
            <a:off x="6581775" y="1819275"/>
            <a:ext cx="47706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10B981"/>
                </a:solidFill>
                <a:latin typeface="Plus Jakarta Sans"/>
                <a:ea typeface="Plus Jakarta Sans"/>
                <a:cs typeface="Plus Jakarta Sans"/>
                <a:sym typeface="Plus Jakarta Sans"/>
              </a:rPr>
              <a:t>The Enterprise Value</a:t>
            </a:r>
            <a:endParaRPr/>
          </a:p>
        </p:txBody>
      </p:sp>
      <p:sp>
        <p:nvSpPr>
          <p:cNvPr id="642" name="Google Shape;642;p43"/>
          <p:cNvSpPr txBox="1"/>
          <p:nvPr/>
        </p:nvSpPr>
        <p:spPr>
          <a:xfrm>
            <a:off x="6581775" y="2276475"/>
            <a:ext cx="45435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 MLOps, we gladly pay fractions of a penny for extra API tokens if it means preventing a catastrophic hallucination.</a:t>
            </a:r>
            <a:endParaRPr/>
          </a:p>
        </p:txBody>
      </p:sp>
      <p:sp>
        <p:nvSpPr>
          <p:cNvPr id="643" name="Google Shape;643;p43"/>
          <p:cNvSpPr txBox="1"/>
          <p:nvPr/>
        </p:nvSpPr>
        <p:spPr>
          <a:xfrm>
            <a:off x="6581775" y="3287762"/>
            <a:ext cx="45435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A "diluted" search returns nothing. A decomposed search returns the exact metrics required to make a multi-million dollar corporate decision safely.</a:t>
            </a:r>
            <a:endParaRPr/>
          </a:p>
        </p:txBody>
      </p:sp>
      <p:sp>
        <p:nvSpPr>
          <p:cNvPr id="644" name="Google Shape;644;p43"/>
          <p:cNvSpPr txBox="1"/>
          <p:nvPr/>
        </p:nvSpPr>
        <p:spPr>
          <a:xfrm>
            <a:off x="1400175" y="2276475"/>
            <a:ext cx="42102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Requires an extra LLM call every single time the user hits search.</a:t>
            </a:r>
            <a:endParaRPr/>
          </a:p>
        </p:txBody>
      </p:sp>
      <p:sp>
        <p:nvSpPr>
          <p:cNvPr id="645" name="Google Shape;645;p43"/>
          <p:cNvSpPr txBox="1"/>
          <p:nvPr/>
        </p:nvSpPr>
        <p:spPr>
          <a:xfrm>
            <a:off x="1400175" y="2962275"/>
            <a:ext cx="4210200" cy="5484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Hits the Embedding API 3-4 times instead of once.</a:t>
            </a:r>
            <a:endParaRPr/>
          </a:p>
        </p:txBody>
      </p:sp>
      <p:sp>
        <p:nvSpPr>
          <p:cNvPr id="646" name="Google Shape;646;p43"/>
          <p:cNvSpPr txBox="1"/>
          <p:nvPr/>
        </p:nvSpPr>
        <p:spPr>
          <a:xfrm>
            <a:off x="1400175" y="3648075"/>
            <a:ext cx="4210200" cy="2193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Increases total pipeline latency.</a:t>
            </a:r>
            <a:endParaRPr/>
          </a:p>
        </p:txBody>
      </p:sp>
      <p:pic>
        <p:nvPicPr>
          <p:cNvPr descr="image.png" id="647" name="Google Shape;647;p43"/>
          <p:cNvPicPr preferRelativeResize="0"/>
          <p:nvPr/>
        </p:nvPicPr>
        <p:blipFill rotWithShape="1">
          <a:blip r:embed="rId7">
            <a:alphaModFix/>
          </a:blip>
          <a:srcRect b="0" l="0" r="0" t="0"/>
          <a:stretch/>
        </p:blipFill>
        <p:spPr>
          <a:xfrm>
            <a:off x="1066800" y="2319337"/>
            <a:ext cx="152400" cy="180975"/>
          </a:xfrm>
          <a:prstGeom prst="rect">
            <a:avLst/>
          </a:prstGeom>
          <a:noFill/>
          <a:ln>
            <a:noFill/>
          </a:ln>
        </p:spPr>
      </p:pic>
      <p:pic>
        <p:nvPicPr>
          <p:cNvPr descr="image.png" id="648" name="Google Shape;648;p43"/>
          <p:cNvPicPr preferRelativeResize="0"/>
          <p:nvPr/>
        </p:nvPicPr>
        <p:blipFill rotWithShape="1">
          <a:blip r:embed="rId7">
            <a:alphaModFix/>
          </a:blip>
          <a:srcRect b="0" l="0" r="0" t="0"/>
          <a:stretch/>
        </p:blipFill>
        <p:spPr>
          <a:xfrm>
            <a:off x="1066800" y="3005137"/>
            <a:ext cx="152400" cy="180975"/>
          </a:xfrm>
          <a:prstGeom prst="rect">
            <a:avLst/>
          </a:prstGeom>
          <a:noFill/>
          <a:ln>
            <a:noFill/>
          </a:ln>
        </p:spPr>
      </p:pic>
      <p:pic>
        <p:nvPicPr>
          <p:cNvPr descr="image.png" id="649" name="Google Shape;649;p43"/>
          <p:cNvPicPr preferRelativeResize="0"/>
          <p:nvPr/>
        </p:nvPicPr>
        <p:blipFill rotWithShape="1">
          <a:blip r:embed="rId7">
            <a:alphaModFix/>
          </a:blip>
          <a:srcRect b="0" l="0" r="0" t="0"/>
          <a:stretch/>
        </p:blipFill>
        <p:spPr>
          <a:xfrm>
            <a:off x="1066800" y="3690937"/>
            <a:ext cx="152400" cy="180975"/>
          </a:xfrm>
          <a:prstGeom prst="rect">
            <a:avLst/>
          </a:prstGeom>
          <a:noFill/>
          <a:ln>
            <a:noFill/>
          </a:ln>
        </p:spPr>
      </p:pic>
      <p:pic>
        <p:nvPicPr>
          <p:cNvPr id="650" name="Google Shape;650;p43"/>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654" name="Shape 654"/>
        <p:cNvGrpSpPr/>
        <p:nvPr/>
      </p:nvGrpSpPr>
      <p:grpSpPr>
        <a:xfrm>
          <a:off x="0" y="0"/>
          <a:ext cx="0" cy="0"/>
          <a:chOff x="0" y="0"/>
          <a:chExt cx="0" cy="0"/>
        </a:xfrm>
      </p:grpSpPr>
      <p:pic>
        <p:nvPicPr>
          <p:cNvPr descr="image.png" id="655" name="Google Shape;655;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6" name="Google Shape;656;p44"/>
          <p:cNvSpPr txBox="1"/>
          <p:nvPr/>
        </p:nvSpPr>
        <p:spPr>
          <a:xfrm>
            <a:off x="1590675" y="581025"/>
            <a:ext cx="103212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The </a:t>
            </a:r>
            <a:r>
              <a:rPr b="0" i="0" lang="en-US" sz="3150" u="none" cap="none" strike="noStrike">
                <a:solidFill>
                  <a:srgbClr val="14B8A6"/>
                </a:solidFill>
                <a:latin typeface="Space Grotesk"/>
                <a:ea typeface="Space Grotesk"/>
                <a:cs typeface="Space Grotesk"/>
                <a:sym typeface="Space Grotesk"/>
              </a:rPr>
              <a:t>Ranking Problem</a:t>
            </a:r>
            <a:endParaRPr/>
          </a:p>
        </p:txBody>
      </p:sp>
      <p:pic>
        <p:nvPicPr>
          <p:cNvPr descr="image.png" id="657" name="Google Shape;657;p44"/>
          <p:cNvPicPr preferRelativeResize="0"/>
          <p:nvPr/>
        </p:nvPicPr>
        <p:blipFill rotWithShape="1">
          <a:blip r:embed="rId4">
            <a:alphaModFix/>
          </a:blip>
          <a:srcRect b="0" l="0" r="0" t="0"/>
          <a:stretch/>
        </p:blipFill>
        <p:spPr>
          <a:xfrm>
            <a:off x="771525" y="581025"/>
            <a:ext cx="676275" cy="628650"/>
          </a:xfrm>
          <a:prstGeom prst="rect">
            <a:avLst/>
          </a:prstGeom>
          <a:noFill/>
          <a:ln>
            <a:noFill/>
          </a:ln>
        </p:spPr>
      </p:pic>
      <p:sp>
        <p:nvSpPr>
          <p:cNvPr id="658" name="Google Shape;658;p44"/>
          <p:cNvSpPr txBox="1"/>
          <p:nvPr/>
        </p:nvSpPr>
        <p:spPr>
          <a:xfrm>
            <a:off x="771525" y="2222599"/>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When you pull documents from three different sub-queries, how do you decide which one is the most important to feed to the final Prompt?</a:t>
            </a:r>
            <a:endParaRPr/>
          </a:p>
        </p:txBody>
      </p:sp>
      <p:sp>
        <p:nvSpPr>
          <p:cNvPr id="659" name="Google Shape;659;p44"/>
          <p:cNvSpPr txBox="1"/>
          <p:nvPr/>
        </p:nvSpPr>
        <p:spPr>
          <a:xfrm>
            <a:off x="771525" y="3230165"/>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LangChain's default MultiQueryRetriever simply lumps them all together into a deduplicated list.</a:t>
            </a:r>
            <a:endParaRPr/>
          </a:p>
        </p:txBody>
      </p:sp>
      <p:sp>
        <p:nvSpPr>
          <p:cNvPr id="660" name="Google Shape;660;p44"/>
          <p:cNvSpPr txBox="1"/>
          <p:nvPr/>
        </p:nvSpPr>
        <p:spPr>
          <a:xfrm>
            <a:off x="771525" y="3959572"/>
            <a:ext cx="6160800" cy="921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But what if </a:t>
            </a:r>
            <a:r>
              <a:rPr b="1" i="0" lang="en-US" sz="1425" u="none" cap="none" strike="noStrike">
                <a:solidFill>
                  <a:srgbClr val="CBD5E1"/>
                </a:solidFill>
                <a:latin typeface="Plus Jakarta Sans"/>
                <a:ea typeface="Plus Jakarta Sans"/>
                <a:cs typeface="Plus Jakarta Sans"/>
                <a:sym typeface="Plus Jakarta Sans"/>
              </a:rPr>
              <a:t>Chunk A</a:t>
            </a:r>
            <a:r>
              <a:rPr b="0" i="0" lang="en-US" sz="1425" u="none" cap="none" strike="noStrike">
                <a:solidFill>
                  <a:srgbClr val="CBD5E1"/>
                </a:solidFill>
                <a:latin typeface="Plus Jakarta Sans"/>
                <a:ea typeface="Plus Jakarta Sans"/>
                <a:cs typeface="Plus Jakarta Sans"/>
                <a:sym typeface="Plus Jakarta Sans"/>
              </a:rPr>
              <a:t> appears in Sub-Query 1's results AND Sub-Query 3's results? That means Chunk A is highly relevant to multiple parts of the user's complex question.</a:t>
            </a:r>
            <a:endParaRPr/>
          </a:p>
        </p:txBody>
      </p:sp>
      <p:sp>
        <p:nvSpPr>
          <p:cNvPr id="661" name="Google Shape;661;p44"/>
          <p:cNvSpPr txBox="1"/>
          <p:nvPr/>
        </p:nvSpPr>
        <p:spPr>
          <a:xfrm>
            <a:off x="771525" y="4970859"/>
            <a:ext cx="61608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A5B4FC"/>
                </a:solidFill>
                <a:latin typeface="Plus Jakarta Sans SemiBold"/>
                <a:ea typeface="Plus Jakarta Sans SemiBold"/>
                <a:cs typeface="Plus Jakarta Sans SemiBold"/>
                <a:sym typeface="Plus Jakarta Sans SemiBold"/>
              </a:rPr>
              <a:t>We need a way to mathematically push chunks that answer multiple intents to the very top of the list.</a:t>
            </a:r>
            <a:endParaRPr/>
          </a:p>
        </p:txBody>
      </p:sp>
      <p:pic>
        <p:nvPicPr>
          <p:cNvPr descr="image.png" id="662" name="Google Shape;662;p44"/>
          <p:cNvPicPr preferRelativeResize="0"/>
          <p:nvPr/>
        </p:nvPicPr>
        <p:blipFill rotWithShape="1">
          <a:blip r:embed="rId5">
            <a:alphaModFix/>
          </a:blip>
          <a:srcRect b="0" l="0" r="0" t="0"/>
          <a:stretch/>
        </p:blipFill>
        <p:spPr>
          <a:xfrm>
            <a:off x="8890545" y="3713708"/>
            <a:ext cx="952500" cy="762000"/>
          </a:xfrm>
          <a:prstGeom prst="rect">
            <a:avLst/>
          </a:prstGeom>
          <a:noFill/>
          <a:ln>
            <a:noFill/>
          </a:ln>
        </p:spPr>
      </p:pic>
      <p:sp>
        <p:nvSpPr>
          <p:cNvPr id="663" name="Google Shape;663;p44"/>
          <p:cNvSpPr txBox="1"/>
          <p:nvPr/>
        </p:nvSpPr>
        <p:spPr>
          <a:xfrm>
            <a:off x="8081635" y="4666208"/>
            <a:ext cx="2570400" cy="3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59E0B"/>
                </a:solidFill>
                <a:latin typeface="Plus Jakarta Sans"/>
                <a:ea typeface="Plus Jakarta Sans"/>
                <a:cs typeface="Plus Jakarta Sans"/>
                <a:sym typeface="Plus Jakarta Sans"/>
              </a:rPr>
              <a:t>Cross-Query Priority</a:t>
            </a:r>
            <a:endParaRPr/>
          </a:p>
        </p:txBody>
      </p:sp>
      <p:pic>
        <p:nvPicPr>
          <p:cNvPr id="664" name="Google Shape;664;p44"/>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F1C"/>
        </a:solidFill>
      </p:bgPr>
    </p:bg>
    <p:spTree>
      <p:nvGrpSpPr>
        <p:cNvPr id="668" name="Shape 668"/>
        <p:cNvGrpSpPr/>
        <p:nvPr/>
      </p:nvGrpSpPr>
      <p:grpSpPr>
        <a:xfrm>
          <a:off x="0" y="0"/>
          <a:ext cx="0" cy="0"/>
          <a:chOff x="0" y="0"/>
          <a:chExt cx="0" cy="0"/>
        </a:xfrm>
      </p:grpSpPr>
      <p:pic>
        <p:nvPicPr>
          <p:cNvPr descr="image.png" id="669" name="Google Shape;669;p4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70" name="Google Shape;670;p45"/>
          <p:cNvPicPr preferRelativeResize="0"/>
          <p:nvPr/>
        </p:nvPicPr>
        <p:blipFill rotWithShape="1">
          <a:blip r:embed="rId4">
            <a:alphaModFix/>
          </a:blip>
          <a:srcRect b="0" l="0" r="0" t="0"/>
          <a:stretch/>
        </p:blipFill>
        <p:spPr>
          <a:xfrm>
            <a:off x="771525" y="2502991"/>
            <a:ext cx="10648949" cy="3773983"/>
          </a:xfrm>
          <a:prstGeom prst="rect">
            <a:avLst/>
          </a:prstGeom>
          <a:noFill/>
          <a:ln>
            <a:noFill/>
          </a:ln>
        </p:spPr>
      </p:pic>
      <p:sp>
        <p:nvSpPr>
          <p:cNvPr id="671" name="Google Shape;671;p45"/>
          <p:cNvSpPr txBox="1"/>
          <p:nvPr/>
        </p:nvSpPr>
        <p:spPr>
          <a:xfrm>
            <a:off x="1495425" y="581025"/>
            <a:ext cx="10421400" cy="4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150" u="none" cap="none" strike="noStrike">
                <a:solidFill>
                  <a:srgbClr val="F8FAFC"/>
                </a:solidFill>
                <a:latin typeface="Space Grotesk"/>
                <a:ea typeface="Space Grotesk"/>
                <a:cs typeface="Space Grotesk"/>
                <a:sym typeface="Space Grotesk"/>
              </a:rPr>
              <a:t>Reciprocal Rank Fusion </a:t>
            </a:r>
            <a:r>
              <a:rPr b="0" i="0" lang="en-US" sz="3150" u="none" cap="none" strike="noStrike">
                <a:solidFill>
                  <a:srgbClr val="14B8A6"/>
                </a:solidFill>
                <a:latin typeface="Space Grotesk"/>
                <a:ea typeface="Space Grotesk"/>
                <a:cs typeface="Space Grotesk"/>
                <a:sym typeface="Space Grotesk"/>
              </a:rPr>
              <a:t>(RRF)</a:t>
            </a:r>
            <a:endParaRPr/>
          </a:p>
        </p:txBody>
      </p:sp>
      <p:pic>
        <p:nvPicPr>
          <p:cNvPr descr="image.png" id="672" name="Google Shape;672;p45"/>
          <p:cNvPicPr preferRelativeResize="0"/>
          <p:nvPr/>
        </p:nvPicPr>
        <p:blipFill rotWithShape="1">
          <a:blip r:embed="rId5">
            <a:alphaModFix/>
          </a:blip>
          <a:srcRect b="0" l="0" r="0" t="0"/>
          <a:stretch/>
        </p:blipFill>
        <p:spPr>
          <a:xfrm>
            <a:off x="771525" y="581025"/>
            <a:ext cx="581025" cy="628650"/>
          </a:xfrm>
          <a:prstGeom prst="rect">
            <a:avLst/>
          </a:prstGeom>
          <a:noFill/>
          <a:ln>
            <a:noFill/>
          </a:ln>
        </p:spPr>
      </p:pic>
      <p:sp>
        <p:nvSpPr>
          <p:cNvPr id="673" name="Google Shape;673;p45"/>
          <p:cNvSpPr txBox="1"/>
          <p:nvPr/>
        </p:nvSpPr>
        <p:spPr>
          <a:xfrm>
            <a:off x="771525" y="1495425"/>
            <a:ext cx="10649100" cy="5700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RRF is the Senior Architecture solution. It is a mathematical algorithm that calculates a composite score based on the rank of a document across multiple sub-queries.</a:t>
            </a:r>
            <a:endParaRPr/>
          </a:p>
        </p:txBody>
      </p:sp>
      <p:sp>
        <p:nvSpPr>
          <p:cNvPr id="674" name="Google Shape;674;p45"/>
          <p:cNvSpPr/>
          <p:nvPr/>
        </p:nvSpPr>
        <p:spPr>
          <a:xfrm>
            <a:off x="1066800" y="3929657"/>
            <a:ext cx="10058400" cy="9600"/>
          </a:xfrm>
          <a:prstGeom prst="rect">
            <a:avLst/>
          </a:prstGeom>
          <a:no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45"/>
          <p:cNvSpPr txBox="1"/>
          <p:nvPr/>
        </p:nvSpPr>
        <p:spPr>
          <a:xfrm>
            <a:off x="815340" y="4129682"/>
            <a:ext cx="10561200" cy="3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38BDF8"/>
                </a:solidFill>
                <a:latin typeface="Plus Jakarta Sans"/>
                <a:ea typeface="Plus Jakarta Sans"/>
                <a:cs typeface="Plus Jakarta Sans"/>
                <a:sym typeface="Plus Jakarta Sans"/>
              </a:rPr>
              <a:t>RRF Master List</a:t>
            </a:r>
            <a:endParaRPr/>
          </a:p>
        </p:txBody>
      </p:sp>
      <p:sp>
        <p:nvSpPr>
          <p:cNvPr id="676" name="Google Shape;676;p45"/>
          <p:cNvSpPr txBox="1"/>
          <p:nvPr/>
        </p:nvSpPr>
        <p:spPr>
          <a:xfrm>
            <a:off x="1066800" y="4558307"/>
            <a:ext cx="10058400" cy="277200"/>
          </a:xfrm>
          <a:prstGeom prst="rect">
            <a:avLst/>
          </a:prstGeom>
          <a:noFill/>
          <a:ln>
            <a:noFill/>
          </a:ln>
        </p:spPr>
        <p:txBody>
          <a:bodyPr anchorCtr="0" anchor="t" bIns="0" lIns="257175" spcFirstLastPara="1" rIns="0" wrap="square" tIns="0">
            <a:spAutoFit/>
          </a:bodyPr>
          <a:lstStyle/>
          <a:p>
            <a:pPr indent="0" lvl="0" marL="0" marR="0" rtl="0" algn="ctr">
              <a:lnSpc>
                <a:spcPct val="159944"/>
              </a:lnSpc>
              <a:spcBef>
                <a:spcPts val="0"/>
              </a:spcBef>
              <a:spcAft>
                <a:spcPts val="0"/>
              </a:spcAft>
              <a:buNone/>
            </a:pPr>
            <a:r>
              <a:rPr b="1" i="0" lang="en-US" sz="1800" u="none" cap="none" strike="noStrike">
                <a:solidFill>
                  <a:srgbClr val="10B981"/>
                </a:solidFill>
                <a:latin typeface="Plus Jakarta Sans"/>
                <a:ea typeface="Plus Jakarta Sans"/>
                <a:cs typeface="Plus Jakarta Sans"/>
                <a:sym typeface="Plus Jakarta Sans"/>
              </a:rPr>
              <a:t>#1: Chunk A (Appeared Twice!)</a:t>
            </a:r>
            <a:endParaRPr/>
          </a:p>
        </p:txBody>
      </p:sp>
      <p:sp>
        <p:nvSpPr>
          <p:cNvPr id="677" name="Google Shape;677;p45"/>
          <p:cNvSpPr txBox="1"/>
          <p:nvPr/>
        </p:nvSpPr>
        <p:spPr>
          <a:xfrm>
            <a:off x="1066800" y="5019228"/>
            <a:ext cx="100584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Plus Jakarta Sans"/>
                <a:ea typeface="Plus Jakarta Sans"/>
                <a:cs typeface="Plus Jakarta Sans"/>
                <a:sym typeface="Plus Jakarta Sans"/>
              </a:rPr>
              <a:t>Guarantees that chunks answering multiple parts of the hydra-query are prioritized over chunks answering one tiny detail.</a:t>
            </a:r>
            <a:endParaRPr/>
          </a:p>
        </p:txBody>
      </p:sp>
      <p:sp>
        <p:nvSpPr>
          <p:cNvPr id="678" name="Google Shape;678;p45"/>
          <p:cNvSpPr txBox="1"/>
          <p:nvPr/>
        </p:nvSpPr>
        <p:spPr>
          <a:xfrm>
            <a:off x="987742" y="2826841"/>
            <a:ext cx="33204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CBD5E1"/>
                </a:solidFill>
                <a:latin typeface="Plus Jakarta Sans SemiBold"/>
                <a:ea typeface="Plus Jakarta Sans SemiBold"/>
                <a:cs typeface="Plus Jakarta Sans SemiBold"/>
                <a:sym typeface="Plus Jakarta Sans SemiBold"/>
              </a:rPr>
              <a:t>Sub-Query 1 Results</a:t>
            </a:r>
            <a:endParaRPr/>
          </a:p>
        </p:txBody>
      </p:sp>
      <p:sp>
        <p:nvSpPr>
          <p:cNvPr id="679" name="Google Shape;679;p45"/>
          <p:cNvSpPr txBox="1"/>
          <p:nvPr/>
        </p:nvSpPr>
        <p:spPr>
          <a:xfrm>
            <a:off x="1066800" y="3160216"/>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10B981"/>
                </a:solidFill>
                <a:latin typeface="Plus Jakarta Sans"/>
                <a:ea typeface="Plus Jakarta Sans"/>
                <a:cs typeface="Plus Jakarta Sans"/>
                <a:sym typeface="Plus Jakarta Sans"/>
              </a:rPr>
              <a:t>1. Chunk A</a:t>
            </a:r>
            <a:endParaRPr/>
          </a:p>
        </p:txBody>
      </p:sp>
      <p:sp>
        <p:nvSpPr>
          <p:cNvPr id="680" name="Google Shape;680;p45"/>
          <p:cNvSpPr txBox="1"/>
          <p:nvPr/>
        </p:nvSpPr>
        <p:spPr>
          <a:xfrm>
            <a:off x="1066800" y="3449687"/>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2. Chunk C</a:t>
            </a:r>
            <a:endParaRPr/>
          </a:p>
        </p:txBody>
      </p:sp>
      <p:sp>
        <p:nvSpPr>
          <p:cNvPr id="681" name="Google Shape;681;p45"/>
          <p:cNvSpPr txBox="1"/>
          <p:nvPr/>
        </p:nvSpPr>
        <p:spPr>
          <a:xfrm>
            <a:off x="4435792" y="2826841"/>
            <a:ext cx="33204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CBD5E1"/>
                </a:solidFill>
                <a:latin typeface="Plus Jakarta Sans SemiBold"/>
                <a:ea typeface="Plus Jakarta Sans SemiBold"/>
                <a:cs typeface="Plus Jakarta Sans SemiBold"/>
                <a:sym typeface="Plus Jakarta Sans SemiBold"/>
              </a:rPr>
              <a:t>Sub-Query 2 Results</a:t>
            </a:r>
            <a:endParaRPr/>
          </a:p>
        </p:txBody>
      </p:sp>
      <p:sp>
        <p:nvSpPr>
          <p:cNvPr id="682" name="Google Shape;682;p45"/>
          <p:cNvSpPr txBox="1"/>
          <p:nvPr/>
        </p:nvSpPr>
        <p:spPr>
          <a:xfrm>
            <a:off x="4514850" y="3160216"/>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1. Chunk D</a:t>
            </a:r>
            <a:endParaRPr/>
          </a:p>
        </p:txBody>
      </p:sp>
      <p:sp>
        <p:nvSpPr>
          <p:cNvPr id="683" name="Google Shape;683;p45"/>
          <p:cNvSpPr txBox="1"/>
          <p:nvPr/>
        </p:nvSpPr>
        <p:spPr>
          <a:xfrm>
            <a:off x="4514850" y="3449687"/>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2. Chunk E</a:t>
            </a:r>
            <a:endParaRPr/>
          </a:p>
        </p:txBody>
      </p:sp>
      <p:sp>
        <p:nvSpPr>
          <p:cNvPr id="684" name="Google Shape;684;p45"/>
          <p:cNvSpPr txBox="1"/>
          <p:nvPr/>
        </p:nvSpPr>
        <p:spPr>
          <a:xfrm>
            <a:off x="7883842" y="2826841"/>
            <a:ext cx="33204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CBD5E1"/>
                </a:solidFill>
                <a:latin typeface="Plus Jakarta Sans SemiBold"/>
                <a:ea typeface="Plus Jakarta Sans SemiBold"/>
                <a:cs typeface="Plus Jakarta Sans SemiBold"/>
                <a:sym typeface="Plus Jakarta Sans SemiBold"/>
              </a:rPr>
              <a:t>Sub-Query 3 Results</a:t>
            </a:r>
            <a:endParaRPr/>
          </a:p>
        </p:txBody>
      </p:sp>
      <p:sp>
        <p:nvSpPr>
          <p:cNvPr id="685" name="Google Shape;685;p45"/>
          <p:cNvSpPr txBox="1"/>
          <p:nvPr/>
        </p:nvSpPr>
        <p:spPr>
          <a:xfrm>
            <a:off x="7962900" y="3160216"/>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CBD5E1"/>
                </a:solidFill>
                <a:latin typeface="Plus Jakarta Sans"/>
                <a:ea typeface="Plus Jakarta Sans"/>
                <a:cs typeface="Plus Jakarta Sans"/>
                <a:sym typeface="Plus Jakarta Sans"/>
              </a:rPr>
              <a:t>1. Chunk B</a:t>
            </a:r>
            <a:endParaRPr/>
          </a:p>
        </p:txBody>
      </p:sp>
      <p:sp>
        <p:nvSpPr>
          <p:cNvPr id="686" name="Google Shape;686;p45"/>
          <p:cNvSpPr txBox="1"/>
          <p:nvPr/>
        </p:nvSpPr>
        <p:spPr>
          <a:xfrm>
            <a:off x="7962900" y="3449687"/>
            <a:ext cx="3162300" cy="21930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1" i="0" lang="en-US" sz="1425" u="none" cap="none" strike="noStrike">
                <a:solidFill>
                  <a:srgbClr val="10B981"/>
                </a:solidFill>
                <a:latin typeface="Plus Jakarta Sans"/>
                <a:ea typeface="Plus Jakarta Sans"/>
                <a:cs typeface="Plus Jakarta Sans"/>
                <a:sym typeface="Plus Jakarta Sans"/>
              </a:rPr>
              <a:t>2. Chunk A</a:t>
            </a:r>
            <a:endParaRPr/>
          </a:p>
        </p:txBody>
      </p:sp>
      <p:pic>
        <p:nvPicPr>
          <p:cNvPr descr="image.png" id="687" name="Google Shape;687;p45"/>
          <p:cNvPicPr preferRelativeResize="0"/>
          <p:nvPr/>
        </p:nvPicPr>
        <p:blipFill rotWithShape="1">
          <a:blip r:embed="rId6">
            <a:alphaModFix/>
          </a:blip>
          <a:srcRect b="0" l="0" r="0" t="0"/>
          <a:stretch/>
        </p:blipFill>
        <p:spPr>
          <a:xfrm>
            <a:off x="4219575" y="4634507"/>
            <a:ext cx="257175" cy="228600"/>
          </a:xfrm>
          <a:prstGeom prst="rect">
            <a:avLst/>
          </a:prstGeom>
          <a:noFill/>
          <a:ln>
            <a:noFill/>
          </a:ln>
        </p:spPr>
      </p:pic>
      <p:pic>
        <p:nvPicPr>
          <p:cNvPr id="688" name="Google Shape;688;p45"/>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92" name="Shape 692"/>
        <p:cNvGrpSpPr/>
        <p:nvPr/>
      </p:nvGrpSpPr>
      <p:grpSpPr>
        <a:xfrm>
          <a:off x="0" y="0"/>
          <a:ext cx="0" cy="0"/>
          <a:chOff x="0" y="0"/>
          <a:chExt cx="0" cy="0"/>
        </a:xfrm>
      </p:grpSpPr>
      <p:pic>
        <p:nvPicPr>
          <p:cNvPr descr="image.png" id="693" name="Google Shape;693;p4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94" name="Google Shape;694;p46"/>
          <p:cNvPicPr preferRelativeResize="0"/>
          <p:nvPr/>
        </p:nvPicPr>
        <p:blipFill rotWithShape="1">
          <a:blip r:embed="rId4">
            <a:alphaModFix/>
          </a:blip>
          <a:srcRect b="0" l="0" r="0" t="0"/>
          <a:stretch/>
        </p:blipFill>
        <p:spPr>
          <a:xfrm>
            <a:off x="7351365" y="1647825"/>
            <a:ext cx="4069109" cy="4629150"/>
          </a:xfrm>
          <a:prstGeom prst="rect">
            <a:avLst/>
          </a:prstGeom>
          <a:noFill/>
          <a:ln>
            <a:noFill/>
          </a:ln>
        </p:spPr>
      </p:pic>
      <p:pic>
        <p:nvPicPr>
          <p:cNvPr descr="image.png" id="695" name="Google Shape;695;p46"/>
          <p:cNvPicPr preferRelativeResize="0"/>
          <p:nvPr/>
        </p:nvPicPr>
        <p:blipFill rotWithShape="1">
          <a:blip r:embed="rId5">
            <a:alphaModFix/>
          </a:blip>
          <a:srcRect b="0" l="0" r="0" t="0"/>
          <a:stretch/>
        </p:blipFill>
        <p:spPr>
          <a:xfrm>
            <a:off x="771525" y="638175"/>
            <a:ext cx="419100" cy="419100"/>
          </a:xfrm>
          <a:prstGeom prst="rect">
            <a:avLst/>
          </a:prstGeom>
          <a:noFill/>
          <a:ln>
            <a:noFill/>
          </a:ln>
        </p:spPr>
      </p:pic>
      <p:sp>
        <p:nvSpPr>
          <p:cNvPr id="696" name="Google Shape;696;p46"/>
          <p:cNvSpPr txBox="1"/>
          <p:nvPr/>
        </p:nvSpPr>
        <p:spPr>
          <a:xfrm>
            <a:off x="771525" y="2662237"/>
            <a:ext cx="64089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The Assumption of Perfect Documentation</a:t>
            </a:r>
            <a:endParaRPr/>
          </a:p>
        </p:txBody>
      </p:sp>
      <p:sp>
        <p:nvSpPr>
          <p:cNvPr id="697" name="Google Shape;697;p46"/>
          <p:cNvSpPr txBox="1"/>
          <p:nvPr/>
        </p:nvSpPr>
        <p:spPr>
          <a:xfrm>
            <a:off x="771525" y="3148012"/>
            <a:ext cx="6103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As an MLOps engineer, you will quickly discover a fatal flaw in how humans interact with Retrieval-Augmented Generation systems.</a:t>
            </a:r>
            <a:endParaRPr/>
          </a:p>
        </p:txBody>
      </p:sp>
      <p:sp>
        <p:nvSpPr>
          <p:cNvPr id="698" name="Google Shape;698;p46"/>
          <p:cNvSpPr txBox="1"/>
          <p:nvPr/>
        </p:nvSpPr>
        <p:spPr>
          <a:xfrm>
            <a:off x="771525" y="3900487"/>
            <a:ext cx="61035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Users often ask questions that are incredibly </a:t>
            </a:r>
            <a:r>
              <a:rPr b="1" i="0" lang="en-US" sz="1500" u="none" cap="none" strike="noStrike">
                <a:solidFill>
                  <a:srgbClr val="CBD5E1"/>
                </a:solidFill>
                <a:latin typeface="Plus Jakarta Sans"/>
                <a:ea typeface="Plus Jakarta Sans"/>
                <a:cs typeface="Plus Jakarta Sans"/>
                <a:sym typeface="Plus Jakarta Sans"/>
              </a:rPr>
              <a:t>"zoomed in."</a:t>
            </a:r>
            <a:r>
              <a:rPr b="0" i="0" lang="en-US" sz="1500" u="none" cap="none" strike="noStrike">
                <a:solidFill>
                  <a:srgbClr val="CBD5E1"/>
                </a:solidFill>
                <a:latin typeface="Plus Jakarta Sans"/>
                <a:ea typeface="Plus Jakarta Sans"/>
                <a:cs typeface="Plus Jakarta Sans"/>
                <a:sym typeface="Plus Jakarta Sans"/>
              </a:rPr>
              <a:t> They ask about highly specific, isolated edge cases, mathematically assuming that the enterprise database contains a perfect, pre-written paragraph answering that exact scenario.</a:t>
            </a:r>
            <a:endParaRPr/>
          </a:p>
        </p:txBody>
      </p:sp>
      <p:pic>
        <p:nvPicPr>
          <p:cNvPr descr="image.png" id="699" name="Google Shape;699;p46"/>
          <p:cNvPicPr preferRelativeResize="0"/>
          <p:nvPr/>
        </p:nvPicPr>
        <p:blipFill rotWithShape="1">
          <a:blip r:embed="rId6">
            <a:alphaModFix/>
          </a:blip>
          <a:srcRect b="0" l="0" r="0" t="0"/>
          <a:stretch/>
        </p:blipFill>
        <p:spPr>
          <a:xfrm>
            <a:off x="9052470" y="3105150"/>
            <a:ext cx="666750" cy="762000"/>
          </a:xfrm>
          <a:prstGeom prst="rect">
            <a:avLst/>
          </a:prstGeom>
          <a:noFill/>
          <a:ln>
            <a:noFill/>
          </a:ln>
        </p:spPr>
      </p:pic>
      <p:sp>
        <p:nvSpPr>
          <p:cNvPr id="700" name="Google Shape;700;p46"/>
          <p:cNvSpPr txBox="1"/>
          <p:nvPr/>
        </p:nvSpPr>
        <p:spPr>
          <a:xfrm>
            <a:off x="8243202" y="4057650"/>
            <a:ext cx="22854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Hyper-Specificity</a:t>
            </a:r>
            <a:endParaRPr/>
          </a:p>
        </p:txBody>
      </p:sp>
      <p:sp>
        <p:nvSpPr>
          <p:cNvPr id="701" name="Google Shape;701;p46"/>
          <p:cNvSpPr txBox="1"/>
          <p:nvPr/>
        </p:nvSpPr>
        <p:spPr>
          <a:xfrm>
            <a:off x="7580858" y="4543425"/>
            <a:ext cx="36099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Narrow queries blind the retrieval engine.</a:t>
            </a:r>
            <a:endParaRPr/>
          </a:p>
        </p:txBody>
      </p:sp>
      <p:sp>
        <p:nvSpPr>
          <p:cNvPr id="702" name="Google Shape;702;p46"/>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"Zoomed-In"</a:t>
            </a:r>
            <a:r>
              <a:rPr b="0" i="0" lang="en-US" sz="3300" u="none" cap="none" strike="noStrike">
                <a:solidFill>
                  <a:srgbClr val="F8FAFC"/>
                </a:solidFill>
                <a:latin typeface="Space Grotesk"/>
                <a:ea typeface="Space Grotesk"/>
                <a:cs typeface="Space Grotesk"/>
                <a:sym typeface="Space Grotesk"/>
              </a:rPr>
              <a:t> Problem</a:t>
            </a:r>
            <a:endParaRPr/>
          </a:p>
        </p:txBody>
      </p:sp>
      <p:sp>
        <p:nvSpPr>
          <p:cNvPr id="703" name="Google Shape;703;p46"/>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04" name="Google Shape;704;p46"/>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08" name="Shape 708"/>
        <p:cNvGrpSpPr/>
        <p:nvPr/>
      </p:nvGrpSpPr>
      <p:grpSpPr>
        <a:xfrm>
          <a:off x="0" y="0"/>
          <a:ext cx="0" cy="0"/>
          <a:chOff x="0" y="0"/>
          <a:chExt cx="0" cy="0"/>
        </a:xfrm>
      </p:grpSpPr>
      <p:pic>
        <p:nvPicPr>
          <p:cNvPr descr="image.png" id="709" name="Google Shape;709;p4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10" name="Google Shape;710;p47"/>
          <p:cNvPicPr preferRelativeResize="0"/>
          <p:nvPr/>
        </p:nvPicPr>
        <p:blipFill rotWithShape="1">
          <a:blip r:embed="rId4">
            <a:alphaModFix/>
          </a:blip>
          <a:srcRect b="0" l="0" r="0" t="0"/>
          <a:stretch/>
        </p:blipFill>
        <p:spPr>
          <a:xfrm>
            <a:off x="1304032" y="2925960"/>
            <a:ext cx="9583935" cy="1028700"/>
          </a:xfrm>
          <a:prstGeom prst="rect">
            <a:avLst/>
          </a:prstGeom>
          <a:noFill/>
          <a:ln>
            <a:noFill/>
          </a:ln>
        </p:spPr>
      </p:pic>
      <p:pic>
        <p:nvPicPr>
          <p:cNvPr descr="image.png" id="711" name="Google Shape;711;p47"/>
          <p:cNvPicPr preferRelativeResize="0"/>
          <p:nvPr/>
        </p:nvPicPr>
        <p:blipFill rotWithShape="1">
          <a:blip r:embed="rId5">
            <a:alphaModFix/>
          </a:blip>
          <a:srcRect b="0" l="0" r="0" t="0"/>
          <a:stretch/>
        </p:blipFill>
        <p:spPr>
          <a:xfrm>
            <a:off x="771525" y="4430910"/>
            <a:ext cx="3359050" cy="1314450"/>
          </a:xfrm>
          <a:prstGeom prst="rect">
            <a:avLst/>
          </a:prstGeom>
          <a:noFill/>
          <a:ln>
            <a:noFill/>
          </a:ln>
        </p:spPr>
      </p:pic>
      <p:pic>
        <p:nvPicPr>
          <p:cNvPr descr="image.png" id="712" name="Google Shape;712;p47"/>
          <p:cNvPicPr preferRelativeResize="0"/>
          <p:nvPr/>
        </p:nvPicPr>
        <p:blipFill rotWithShape="1">
          <a:blip r:embed="rId6">
            <a:alphaModFix/>
          </a:blip>
          <a:srcRect b="0" l="0" r="0" t="0"/>
          <a:stretch/>
        </p:blipFill>
        <p:spPr>
          <a:xfrm>
            <a:off x="4416325" y="4430910"/>
            <a:ext cx="3359199" cy="1314450"/>
          </a:xfrm>
          <a:prstGeom prst="rect">
            <a:avLst/>
          </a:prstGeom>
          <a:noFill/>
          <a:ln>
            <a:noFill/>
          </a:ln>
        </p:spPr>
      </p:pic>
      <p:pic>
        <p:nvPicPr>
          <p:cNvPr descr="image.png" id="713" name="Google Shape;713;p47"/>
          <p:cNvPicPr preferRelativeResize="0"/>
          <p:nvPr/>
        </p:nvPicPr>
        <p:blipFill rotWithShape="1">
          <a:blip r:embed="rId7">
            <a:alphaModFix/>
          </a:blip>
          <a:srcRect b="0" l="0" r="0" t="0"/>
          <a:stretch/>
        </p:blipFill>
        <p:spPr>
          <a:xfrm>
            <a:off x="8061275" y="4430910"/>
            <a:ext cx="3359050" cy="1314450"/>
          </a:xfrm>
          <a:prstGeom prst="rect">
            <a:avLst/>
          </a:prstGeom>
          <a:noFill/>
          <a:ln>
            <a:noFill/>
          </a:ln>
        </p:spPr>
      </p:pic>
      <p:pic>
        <p:nvPicPr>
          <p:cNvPr descr="image.png" id="714" name="Google Shape;714;p47"/>
          <p:cNvPicPr preferRelativeResize="0"/>
          <p:nvPr/>
        </p:nvPicPr>
        <p:blipFill rotWithShape="1">
          <a:blip r:embed="rId8">
            <a:alphaModFix/>
          </a:blip>
          <a:srcRect b="0" l="0" r="0" t="0"/>
          <a:stretch/>
        </p:blipFill>
        <p:spPr>
          <a:xfrm>
            <a:off x="771525" y="638175"/>
            <a:ext cx="419100" cy="419100"/>
          </a:xfrm>
          <a:prstGeom prst="rect">
            <a:avLst/>
          </a:prstGeom>
          <a:noFill/>
          <a:ln>
            <a:noFill/>
          </a:ln>
        </p:spPr>
      </p:pic>
      <p:sp>
        <p:nvSpPr>
          <p:cNvPr id="715" name="Google Shape;715;p47"/>
          <p:cNvSpPr txBox="1"/>
          <p:nvPr/>
        </p:nvSpPr>
        <p:spPr>
          <a:xfrm>
            <a:off x="771525" y="2179290"/>
            <a:ext cx="106491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Plus Jakarta Sans"/>
                <a:ea typeface="Plus Jakarta Sans"/>
                <a:cs typeface="Plus Jakarta Sans"/>
                <a:sym typeface="Plus Jakarta Sans"/>
              </a:rPr>
              <a:t>Consider this highly realistic prompt submitted by an executive investigating a pipeline failure:</a:t>
            </a:r>
            <a:endParaRPr/>
          </a:p>
        </p:txBody>
      </p:sp>
      <p:sp>
        <p:nvSpPr>
          <p:cNvPr id="716" name="Google Shape;716;p47"/>
          <p:cNvSpPr txBox="1"/>
          <p:nvPr/>
        </p:nvSpPr>
        <p:spPr>
          <a:xfrm>
            <a:off x="897574" y="4659510"/>
            <a:ext cx="31071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Entity 1</a:t>
            </a:r>
            <a:endParaRPr/>
          </a:p>
        </p:txBody>
      </p:sp>
      <p:sp>
        <p:nvSpPr>
          <p:cNvPr id="717" name="Google Shape;717;p47"/>
          <p:cNvSpPr txBox="1"/>
          <p:nvPr/>
        </p:nvSpPr>
        <p:spPr>
          <a:xfrm>
            <a:off x="971550" y="5097660"/>
            <a:ext cx="29589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European Division</a:t>
            </a:r>
            <a:endParaRPr/>
          </a:p>
        </p:txBody>
      </p:sp>
      <p:sp>
        <p:nvSpPr>
          <p:cNvPr id="718" name="Google Shape;718;p47"/>
          <p:cNvSpPr txBox="1"/>
          <p:nvPr/>
        </p:nvSpPr>
        <p:spPr>
          <a:xfrm>
            <a:off x="4542372" y="4659510"/>
            <a:ext cx="31071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9E0B"/>
                </a:solidFill>
                <a:latin typeface="Space Grotesk"/>
                <a:ea typeface="Space Grotesk"/>
                <a:cs typeface="Space Grotesk"/>
                <a:sym typeface="Space Grotesk"/>
              </a:rPr>
              <a:t>Entity 2</a:t>
            </a:r>
            <a:endParaRPr/>
          </a:p>
        </p:txBody>
      </p:sp>
      <p:sp>
        <p:nvSpPr>
          <p:cNvPr id="719" name="Google Shape;719;p47"/>
          <p:cNvSpPr txBox="1"/>
          <p:nvPr/>
        </p:nvSpPr>
        <p:spPr>
          <a:xfrm>
            <a:off x="4616350" y="5097660"/>
            <a:ext cx="29592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Legacy Branch Offices</a:t>
            </a:r>
            <a:endParaRPr/>
          </a:p>
        </p:txBody>
      </p:sp>
      <p:sp>
        <p:nvSpPr>
          <p:cNvPr id="720" name="Google Shape;720;p47"/>
          <p:cNvSpPr txBox="1"/>
          <p:nvPr/>
        </p:nvSpPr>
        <p:spPr>
          <a:xfrm>
            <a:off x="8187325" y="4659510"/>
            <a:ext cx="31071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Entity 3</a:t>
            </a:r>
            <a:endParaRPr/>
          </a:p>
        </p:txBody>
      </p:sp>
      <p:sp>
        <p:nvSpPr>
          <p:cNvPr id="721" name="Google Shape;721;p47"/>
          <p:cNvSpPr txBox="1"/>
          <p:nvPr/>
        </p:nvSpPr>
        <p:spPr>
          <a:xfrm>
            <a:off x="8261300" y="5097660"/>
            <a:ext cx="29589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Tuesday Review</a:t>
            </a:r>
            <a:endParaRPr/>
          </a:p>
        </p:txBody>
      </p:sp>
      <p:sp>
        <p:nvSpPr>
          <p:cNvPr id="722" name="Google Shape;722;p47"/>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Real-World </a:t>
            </a:r>
            <a:r>
              <a:rPr b="0" i="0" lang="en-US" sz="3300" u="none" cap="none" strike="noStrike">
                <a:solidFill>
                  <a:srgbClr val="14B8A6"/>
                </a:solidFill>
                <a:latin typeface="Space Grotesk"/>
                <a:ea typeface="Space Grotesk"/>
                <a:cs typeface="Space Grotesk"/>
                <a:sym typeface="Space Grotesk"/>
              </a:rPr>
              <a:t>Enterprise Example</a:t>
            </a:r>
            <a:endParaRPr/>
          </a:p>
        </p:txBody>
      </p:sp>
      <p:sp>
        <p:nvSpPr>
          <p:cNvPr id="723" name="Google Shape;723;p47"/>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24" name="Google Shape;724;p47"/>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28" name="Shape 728"/>
        <p:cNvGrpSpPr/>
        <p:nvPr/>
      </p:nvGrpSpPr>
      <p:grpSpPr>
        <a:xfrm>
          <a:off x="0" y="0"/>
          <a:ext cx="0" cy="0"/>
          <a:chOff x="0" y="0"/>
          <a:chExt cx="0" cy="0"/>
        </a:xfrm>
      </p:grpSpPr>
      <p:pic>
        <p:nvPicPr>
          <p:cNvPr descr="image.png" id="729" name="Google Shape;729;p4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30" name="Google Shape;730;p48"/>
          <p:cNvPicPr preferRelativeResize="0"/>
          <p:nvPr/>
        </p:nvPicPr>
        <p:blipFill rotWithShape="1">
          <a:blip r:embed="rId4">
            <a:alphaModFix/>
          </a:blip>
          <a:srcRect b="0" l="0" r="0" t="0"/>
          <a:stretch/>
        </p:blipFill>
        <p:spPr>
          <a:xfrm>
            <a:off x="6334125" y="1647825"/>
            <a:ext cx="5086351" cy="4629150"/>
          </a:xfrm>
          <a:prstGeom prst="rect">
            <a:avLst/>
          </a:prstGeom>
          <a:noFill/>
          <a:ln>
            <a:noFill/>
          </a:ln>
        </p:spPr>
      </p:pic>
      <p:pic>
        <p:nvPicPr>
          <p:cNvPr descr="image.png" id="731" name="Google Shape;731;p48"/>
          <p:cNvPicPr preferRelativeResize="0"/>
          <p:nvPr/>
        </p:nvPicPr>
        <p:blipFill rotWithShape="1">
          <a:blip r:embed="rId5">
            <a:alphaModFix/>
          </a:blip>
          <a:srcRect b="0" l="0" r="0" t="0"/>
          <a:stretch/>
        </p:blipFill>
        <p:spPr>
          <a:xfrm>
            <a:off x="771525" y="638175"/>
            <a:ext cx="419100" cy="419100"/>
          </a:xfrm>
          <a:prstGeom prst="rect">
            <a:avLst/>
          </a:prstGeom>
          <a:noFill/>
          <a:ln>
            <a:noFill/>
          </a:ln>
        </p:spPr>
      </p:pic>
      <p:sp>
        <p:nvSpPr>
          <p:cNvPr id="732" name="Google Shape;732;p48"/>
          <p:cNvSpPr txBox="1"/>
          <p:nvPr/>
        </p:nvSpPr>
        <p:spPr>
          <a:xfrm>
            <a:off x="771525" y="2486025"/>
            <a:ext cx="534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Mathematical Tunnel Vision</a:t>
            </a:r>
            <a:endParaRPr/>
          </a:p>
        </p:txBody>
      </p:sp>
      <p:sp>
        <p:nvSpPr>
          <p:cNvPr id="733" name="Google Shape;733;p48"/>
          <p:cNvSpPr txBox="1"/>
          <p:nvPr/>
        </p:nvSpPr>
        <p:spPr>
          <a:xfrm>
            <a:off x="771525" y="2971800"/>
            <a:ext cx="50865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you embed Marten's hyper-specific question, the resulting 768-dimensional vector becomes extremely narrow. The Cosine Similarity algorithm frantically searches FAISS for chunks containing "European division," "legacy branches," and "Tuesday."</a:t>
            </a:r>
            <a:endParaRPr/>
          </a:p>
        </p:txBody>
      </p:sp>
      <p:sp>
        <p:nvSpPr>
          <p:cNvPr id="734" name="Google Shape;734;p48"/>
          <p:cNvSpPr txBox="1"/>
          <p:nvPr/>
        </p:nvSpPr>
        <p:spPr>
          <a:xfrm>
            <a:off x="771525" y="4686300"/>
            <a:ext cx="5086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43F5E"/>
                </a:solidFill>
                <a:latin typeface="Plus Jakarta Sans"/>
                <a:ea typeface="Plus Jakarta Sans"/>
                <a:cs typeface="Plus Jakarta Sans"/>
                <a:sym typeface="Plus Jakarta Sans"/>
              </a:rPr>
              <a:t>The Problem: The database does not have a chunk that mentions all those specific details together.</a:t>
            </a:r>
            <a:endParaRPr/>
          </a:p>
        </p:txBody>
      </p:sp>
      <p:sp>
        <p:nvSpPr>
          <p:cNvPr id="735" name="Google Shape;735;p48"/>
          <p:cNvSpPr txBox="1"/>
          <p:nvPr/>
        </p:nvSpPr>
        <p:spPr>
          <a:xfrm>
            <a:off x="6677025" y="201930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9E0B"/>
                </a:solidFill>
                <a:latin typeface="Space Grotesk"/>
                <a:ea typeface="Space Grotesk"/>
                <a:cs typeface="Space Grotesk"/>
                <a:sym typeface="Space Grotesk"/>
              </a:rPr>
              <a:t>Missing the Obvious</a:t>
            </a:r>
            <a:endParaRPr/>
          </a:p>
        </p:txBody>
      </p:sp>
      <p:sp>
        <p:nvSpPr>
          <p:cNvPr id="736" name="Google Shape;736;p48"/>
          <p:cNvSpPr txBox="1"/>
          <p:nvPr/>
        </p:nvSpPr>
        <p:spPr>
          <a:xfrm>
            <a:off x="6677025" y="2505075"/>
            <a:ext cx="44007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The database </a:t>
            </a:r>
            <a:r>
              <a:rPr b="1" i="0" lang="en-US" sz="1500" u="none" cap="none" strike="noStrike">
                <a:solidFill>
                  <a:srgbClr val="CBD5E1"/>
                </a:solidFill>
                <a:latin typeface="Plus Jakarta Sans"/>
                <a:ea typeface="Plus Jakarta Sans"/>
                <a:cs typeface="Plus Jakarta Sans"/>
                <a:sym typeface="Plus Jakarta Sans"/>
              </a:rPr>
              <a:t>does</a:t>
            </a:r>
            <a:r>
              <a:rPr b="0" i="0" lang="en-US" sz="1500" u="none" cap="none" strike="noStrike">
                <a:solidFill>
                  <a:srgbClr val="CBD5E1"/>
                </a:solidFill>
                <a:latin typeface="Plus Jakarta Sans"/>
                <a:ea typeface="Plus Jakarta Sans"/>
                <a:cs typeface="Plus Jakarta Sans"/>
                <a:sym typeface="Plus Jakarta Sans"/>
              </a:rPr>
              <a:t> have a highly relevant chunk titled "Standard Operating Procedure for OCR," which clearly states that </a:t>
            </a:r>
            <a:r>
              <a:rPr b="0" i="1" lang="en-US" sz="1500" u="none" cap="none" strike="noStrike">
                <a:solidFill>
                  <a:srgbClr val="CBD5E1"/>
                </a:solidFill>
                <a:latin typeface="Plus Jakarta Sans"/>
                <a:ea typeface="Plus Jakarta Sans"/>
                <a:cs typeface="Plus Jakarta Sans"/>
                <a:sym typeface="Plus Jakarta Sans"/>
              </a:rPr>
              <a:t>low DPI scans cause failures</a:t>
            </a:r>
            <a:r>
              <a:rPr b="0" i="0" lang="en-US" sz="1500" u="none" cap="none" strike="noStrike">
                <a:solidFill>
                  <a:srgbClr val="CBD5E1"/>
                </a:solidFill>
                <a:latin typeface="Plus Jakarta Sans"/>
                <a:ea typeface="Plus Jakarta Sans"/>
                <a:cs typeface="Plus Jakarta Sans"/>
                <a:sym typeface="Plus Jakarta Sans"/>
              </a:rPr>
              <a:t>.</a:t>
            </a:r>
            <a:endParaRPr/>
          </a:p>
        </p:txBody>
      </p:sp>
      <p:sp>
        <p:nvSpPr>
          <p:cNvPr id="737" name="Google Shape;737;p48"/>
          <p:cNvSpPr txBox="1"/>
          <p:nvPr/>
        </p:nvSpPr>
        <p:spPr>
          <a:xfrm>
            <a:off x="6677025" y="3914775"/>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Because the prompt was so specific, its vector mathematically moved away from the general SOP chunk. FAISS returns zero relevant results.</a:t>
            </a:r>
            <a:endParaRPr/>
          </a:p>
        </p:txBody>
      </p:sp>
      <p:sp>
        <p:nvSpPr>
          <p:cNvPr id="738" name="Google Shape;738;p48"/>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Vector Failure</a:t>
            </a:r>
            <a:r>
              <a:rPr b="0" i="0" lang="en-US" sz="3300" u="none" cap="none" strike="noStrike">
                <a:solidFill>
                  <a:srgbClr val="F8FAFC"/>
                </a:solidFill>
                <a:latin typeface="Space Grotesk"/>
                <a:ea typeface="Space Grotesk"/>
                <a:cs typeface="Space Grotesk"/>
                <a:sym typeface="Space Grotesk"/>
              </a:rPr>
              <a:t> Mechanics</a:t>
            </a:r>
            <a:endParaRPr/>
          </a:p>
        </p:txBody>
      </p:sp>
      <p:sp>
        <p:nvSpPr>
          <p:cNvPr id="739" name="Google Shape;739;p48"/>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40" name="Google Shape;740;p48"/>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44" name="Shape 744"/>
        <p:cNvGrpSpPr/>
        <p:nvPr/>
      </p:nvGrpSpPr>
      <p:grpSpPr>
        <a:xfrm>
          <a:off x="0" y="0"/>
          <a:ext cx="0" cy="0"/>
          <a:chOff x="0" y="0"/>
          <a:chExt cx="0" cy="0"/>
        </a:xfrm>
      </p:grpSpPr>
      <p:pic>
        <p:nvPicPr>
          <p:cNvPr descr="image.png" id="745" name="Google Shape;745;p4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46" name="Google Shape;746;p49"/>
          <p:cNvPicPr preferRelativeResize="0"/>
          <p:nvPr/>
        </p:nvPicPr>
        <p:blipFill rotWithShape="1">
          <a:blip r:embed="rId4">
            <a:alphaModFix/>
          </a:blip>
          <a:srcRect b="0" l="0" r="0" t="0"/>
          <a:stretch/>
        </p:blipFill>
        <p:spPr>
          <a:xfrm>
            <a:off x="771525" y="1647825"/>
            <a:ext cx="5086351" cy="4629150"/>
          </a:xfrm>
          <a:prstGeom prst="rect">
            <a:avLst/>
          </a:prstGeom>
          <a:noFill/>
          <a:ln>
            <a:noFill/>
          </a:ln>
        </p:spPr>
      </p:pic>
      <p:pic>
        <p:nvPicPr>
          <p:cNvPr descr="image.png" id="747" name="Google Shape;747;p49"/>
          <p:cNvPicPr preferRelativeResize="0"/>
          <p:nvPr/>
        </p:nvPicPr>
        <p:blipFill rotWithShape="1">
          <a:blip r:embed="rId5">
            <a:alphaModFix/>
          </a:blip>
          <a:srcRect b="0" l="0" r="0" t="0"/>
          <a:stretch/>
        </p:blipFill>
        <p:spPr>
          <a:xfrm>
            <a:off x="771525" y="638175"/>
            <a:ext cx="314325" cy="419100"/>
          </a:xfrm>
          <a:prstGeom prst="rect">
            <a:avLst/>
          </a:prstGeom>
          <a:noFill/>
          <a:ln>
            <a:noFill/>
          </a:ln>
        </p:spPr>
      </p:pic>
      <p:pic>
        <p:nvPicPr>
          <p:cNvPr descr="image.png" id="748" name="Google Shape;748;p49"/>
          <p:cNvPicPr preferRelativeResize="0"/>
          <p:nvPr/>
        </p:nvPicPr>
        <p:blipFill rotWithShape="1">
          <a:blip r:embed="rId6">
            <a:alphaModFix/>
          </a:blip>
          <a:srcRect b="0" l="0" r="0" t="0"/>
          <a:stretch/>
        </p:blipFill>
        <p:spPr>
          <a:xfrm>
            <a:off x="2981325" y="2952750"/>
            <a:ext cx="666750" cy="762000"/>
          </a:xfrm>
          <a:prstGeom prst="rect">
            <a:avLst/>
          </a:prstGeom>
          <a:noFill/>
          <a:ln>
            <a:noFill/>
          </a:ln>
        </p:spPr>
      </p:pic>
      <p:sp>
        <p:nvSpPr>
          <p:cNvPr id="749" name="Google Shape;749;p49"/>
          <p:cNvSpPr txBox="1"/>
          <p:nvPr/>
        </p:nvSpPr>
        <p:spPr>
          <a:xfrm>
            <a:off x="1997035" y="3905250"/>
            <a:ext cx="26352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Published Late 2023</a:t>
            </a:r>
            <a:endParaRPr/>
          </a:p>
        </p:txBody>
      </p:sp>
      <p:sp>
        <p:nvSpPr>
          <p:cNvPr id="750" name="Google Shape;750;p49"/>
          <p:cNvSpPr txBox="1"/>
          <p:nvPr/>
        </p:nvSpPr>
        <p:spPr>
          <a:xfrm>
            <a:off x="1162050" y="4391025"/>
            <a:ext cx="43053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Google DeepMind introduces Step-Back Prompting.</a:t>
            </a:r>
            <a:endParaRPr/>
          </a:p>
        </p:txBody>
      </p:sp>
      <p:sp>
        <p:nvSpPr>
          <p:cNvPr id="751" name="Google Shape;751;p49"/>
          <p:cNvSpPr txBox="1"/>
          <p:nvPr/>
        </p:nvSpPr>
        <p:spPr>
          <a:xfrm>
            <a:off x="6334125" y="2157412"/>
            <a:ext cx="534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Brilliant Simplicity</a:t>
            </a:r>
            <a:endParaRPr/>
          </a:p>
        </p:txBody>
      </p:sp>
      <p:sp>
        <p:nvSpPr>
          <p:cNvPr id="752" name="Google Shape;752;p49"/>
          <p:cNvSpPr txBox="1"/>
          <p:nvPr/>
        </p:nvSpPr>
        <p:spPr>
          <a:xfrm>
            <a:off x="6334125" y="2643187"/>
            <a:ext cx="50865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Before you try to answer a highly specific, complex question, you should first "take a step back" and ask a foundational, high-level question about the underlying principles.</a:t>
            </a:r>
            <a:endParaRPr/>
          </a:p>
        </p:txBody>
      </p:sp>
      <p:sp>
        <p:nvSpPr>
          <p:cNvPr id="753" name="Google Shape;753;p49"/>
          <p:cNvSpPr txBox="1"/>
          <p:nvPr/>
        </p:nvSpPr>
        <p:spPr>
          <a:xfrm>
            <a:off x="6762750" y="4052887"/>
            <a:ext cx="46578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Intercept the user's specific query.</a:t>
            </a:r>
            <a:endParaRPr/>
          </a:p>
        </p:txBody>
      </p:sp>
      <p:sp>
        <p:nvSpPr>
          <p:cNvPr id="754" name="Google Shape;754;p49"/>
          <p:cNvSpPr txBox="1"/>
          <p:nvPr/>
        </p:nvSpPr>
        <p:spPr>
          <a:xfrm>
            <a:off x="6762750" y="4529137"/>
            <a:ext cx="46578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Use a specialized LLM to generate a broader, generalized version.</a:t>
            </a:r>
            <a:endParaRPr/>
          </a:p>
        </p:txBody>
      </p:sp>
      <p:sp>
        <p:nvSpPr>
          <p:cNvPr id="755" name="Google Shape;755;p49"/>
          <p:cNvSpPr txBox="1"/>
          <p:nvPr/>
        </p:nvSpPr>
        <p:spPr>
          <a:xfrm>
            <a:off x="6762750" y="5291137"/>
            <a:ext cx="46578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Search the database for the generalized rules.</a:t>
            </a:r>
            <a:endParaRPr/>
          </a:p>
        </p:txBody>
      </p:sp>
      <p:pic>
        <p:nvPicPr>
          <p:cNvPr descr="image.png" id="756" name="Google Shape;756;p49"/>
          <p:cNvPicPr preferRelativeResize="0"/>
          <p:nvPr/>
        </p:nvPicPr>
        <p:blipFill rotWithShape="1">
          <a:blip r:embed="rId7">
            <a:alphaModFix/>
          </a:blip>
          <a:srcRect b="0" l="0" r="0" t="0"/>
          <a:stretch/>
        </p:blipFill>
        <p:spPr>
          <a:xfrm>
            <a:off x="6334125" y="4090987"/>
            <a:ext cx="200025" cy="247650"/>
          </a:xfrm>
          <a:prstGeom prst="rect">
            <a:avLst/>
          </a:prstGeom>
          <a:noFill/>
          <a:ln>
            <a:noFill/>
          </a:ln>
        </p:spPr>
      </p:pic>
      <p:pic>
        <p:nvPicPr>
          <p:cNvPr descr="image.png" id="757" name="Google Shape;757;p49"/>
          <p:cNvPicPr preferRelativeResize="0"/>
          <p:nvPr/>
        </p:nvPicPr>
        <p:blipFill rotWithShape="1">
          <a:blip r:embed="rId8">
            <a:alphaModFix/>
          </a:blip>
          <a:srcRect b="0" l="0" r="0" t="0"/>
          <a:stretch/>
        </p:blipFill>
        <p:spPr>
          <a:xfrm>
            <a:off x="6334125" y="4567237"/>
            <a:ext cx="200025" cy="247650"/>
          </a:xfrm>
          <a:prstGeom prst="rect">
            <a:avLst/>
          </a:prstGeom>
          <a:noFill/>
          <a:ln>
            <a:noFill/>
          </a:ln>
        </p:spPr>
      </p:pic>
      <p:pic>
        <p:nvPicPr>
          <p:cNvPr descr="image.png" id="758" name="Google Shape;758;p49"/>
          <p:cNvPicPr preferRelativeResize="0"/>
          <p:nvPr/>
        </p:nvPicPr>
        <p:blipFill rotWithShape="1">
          <a:blip r:embed="rId9">
            <a:alphaModFix/>
          </a:blip>
          <a:srcRect b="0" l="0" r="0" t="0"/>
          <a:stretch/>
        </p:blipFill>
        <p:spPr>
          <a:xfrm>
            <a:off x="6334125" y="5329237"/>
            <a:ext cx="228600" cy="247650"/>
          </a:xfrm>
          <a:prstGeom prst="rect">
            <a:avLst/>
          </a:prstGeom>
          <a:noFill/>
          <a:ln>
            <a:noFill/>
          </a:ln>
        </p:spPr>
      </p:pic>
      <p:sp>
        <p:nvSpPr>
          <p:cNvPr id="759" name="Google Shape;759;p49"/>
          <p:cNvSpPr txBox="1"/>
          <p:nvPr/>
        </p:nvSpPr>
        <p:spPr>
          <a:xfrm>
            <a:off x="1228725" y="581025"/>
            <a:ext cx="107013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DeepMind Solution</a:t>
            </a:r>
            <a:endParaRPr/>
          </a:p>
        </p:txBody>
      </p:sp>
      <p:sp>
        <p:nvSpPr>
          <p:cNvPr id="760" name="Google Shape;760;p49"/>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61" name="Google Shape;761;p49"/>
          <p:cNvPicPr preferRelativeResize="0"/>
          <p:nvPr/>
        </p:nvPicPr>
        <p:blipFill>
          <a:blip r:embed="rId10">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65" name="Shape 765"/>
        <p:cNvGrpSpPr/>
        <p:nvPr/>
      </p:nvGrpSpPr>
      <p:grpSpPr>
        <a:xfrm>
          <a:off x="0" y="0"/>
          <a:ext cx="0" cy="0"/>
          <a:chOff x="0" y="0"/>
          <a:chExt cx="0" cy="0"/>
        </a:xfrm>
      </p:grpSpPr>
      <p:pic>
        <p:nvPicPr>
          <p:cNvPr descr="image.png" id="766" name="Google Shape;766;p5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67" name="Google Shape;767;p50"/>
          <p:cNvPicPr preferRelativeResize="0"/>
          <p:nvPr/>
        </p:nvPicPr>
        <p:blipFill rotWithShape="1">
          <a:blip r:embed="rId4">
            <a:alphaModFix/>
          </a:blip>
          <a:srcRect b="0" l="0" r="0" t="0"/>
          <a:stretch/>
        </p:blipFill>
        <p:spPr>
          <a:xfrm>
            <a:off x="771525" y="3133725"/>
            <a:ext cx="10648949" cy="1028700"/>
          </a:xfrm>
          <a:prstGeom prst="rect">
            <a:avLst/>
          </a:prstGeom>
          <a:noFill/>
          <a:ln>
            <a:noFill/>
          </a:ln>
        </p:spPr>
      </p:pic>
      <p:pic>
        <p:nvPicPr>
          <p:cNvPr descr="image.png" id="768" name="Google Shape;768;p50"/>
          <p:cNvPicPr preferRelativeResize="0"/>
          <p:nvPr/>
        </p:nvPicPr>
        <p:blipFill rotWithShape="1">
          <a:blip r:embed="rId5">
            <a:alphaModFix/>
          </a:blip>
          <a:srcRect b="0" l="0" r="0" t="0"/>
          <a:stretch/>
        </p:blipFill>
        <p:spPr>
          <a:xfrm>
            <a:off x="771525" y="5324475"/>
            <a:ext cx="7981950" cy="714375"/>
          </a:xfrm>
          <a:prstGeom prst="rect">
            <a:avLst/>
          </a:prstGeom>
          <a:noFill/>
          <a:ln>
            <a:noFill/>
          </a:ln>
        </p:spPr>
      </p:pic>
      <p:pic>
        <p:nvPicPr>
          <p:cNvPr descr="image.png" id="769" name="Google Shape;769;p50"/>
          <p:cNvPicPr preferRelativeResize="0"/>
          <p:nvPr/>
        </p:nvPicPr>
        <p:blipFill rotWithShape="1">
          <a:blip r:embed="rId6">
            <a:alphaModFix/>
          </a:blip>
          <a:srcRect b="0" l="0" r="0" t="0"/>
          <a:stretch/>
        </p:blipFill>
        <p:spPr>
          <a:xfrm>
            <a:off x="771525" y="638175"/>
            <a:ext cx="523875" cy="419100"/>
          </a:xfrm>
          <a:prstGeom prst="rect">
            <a:avLst/>
          </a:prstGeom>
          <a:noFill/>
          <a:ln>
            <a:noFill/>
          </a:ln>
        </p:spPr>
      </p:pic>
      <p:sp>
        <p:nvSpPr>
          <p:cNvPr id="770" name="Google Shape;770;p50"/>
          <p:cNvSpPr txBox="1"/>
          <p:nvPr/>
        </p:nvSpPr>
        <p:spPr>
          <a:xfrm>
            <a:off x="771525" y="1695450"/>
            <a:ext cx="106491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We insert a specialized "Traffic Cop" LLM into the pipeline. We ask this LLM to read the query and strip away the hyper-specific entities.</a:t>
            </a:r>
            <a:endParaRPr/>
          </a:p>
        </p:txBody>
      </p:sp>
      <p:sp>
        <p:nvSpPr>
          <p:cNvPr id="771" name="Google Shape;771;p50"/>
          <p:cNvSpPr txBox="1"/>
          <p:nvPr/>
        </p:nvSpPr>
        <p:spPr>
          <a:xfrm>
            <a:off x="771525" y="2733675"/>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94A3B8"/>
                </a:solidFill>
                <a:latin typeface="Plus Jakarta Sans"/>
                <a:ea typeface="Plus Jakarta Sans"/>
                <a:cs typeface="Plus Jakarta Sans"/>
                <a:sym typeface="Plus Jakarta Sans"/>
              </a:rPr>
              <a:t>Original Specific Query (From User):</a:t>
            </a:r>
            <a:endParaRPr/>
          </a:p>
        </p:txBody>
      </p:sp>
      <p:pic>
        <p:nvPicPr>
          <p:cNvPr descr="image.png" id="772" name="Google Shape;772;p50"/>
          <p:cNvPicPr preferRelativeResize="0"/>
          <p:nvPr/>
        </p:nvPicPr>
        <p:blipFill rotWithShape="1">
          <a:blip r:embed="rId7">
            <a:alphaModFix/>
          </a:blip>
          <a:srcRect b="0" l="0" r="0" t="0"/>
          <a:stretch/>
        </p:blipFill>
        <p:spPr>
          <a:xfrm>
            <a:off x="5953125" y="4448175"/>
            <a:ext cx="285750" cy="381000"/>
          </a:xfrm>
          <a:prstGeom prst="rect">
            <a:avLst/>
          </a:prstGeom>
          <a:noFill/>
          <a:ln>
            <a:noFill/>
          </a:ln>
        </p:spPr>
      </p:pic>
      <p:sp>
        <p:nvSpPr>
          <p:cNvPr id="773" name="Google Shape;773;p50"/>
          <p:cNvSpPr txBox="1"/>
          <p:nvPr/>
        </p:nvSpPr>
        <p:spPr>
          <a:xfrm>
            <a:off x="771525" y="4924425"/>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14B8A6"/>
                </a:solidFill>
                <a:latin typeface="Plus Jakarta Sans"/>
                <a:ea typeface="Plus Jakarta Sans"/>
                <a:cs typeface="Plus Jakarta Sans"/>
                <a:sym typeface="Plus Jakarta Sans"/>
              </a:rPr>
              <a:t>Generated Step-Back Query (From LLM):</a:t>
            </a:r>
            <a:endParaRPr/>
          </a:p>
        </p:txBody>
      </p:sp>
      <p:sp>
        <p:nvSpPr>
          <p:cNvPr id="774" name="Google Shape;774;p50"/>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Translating to a </a:t>
            </a:r>
            <a:r>
              <a:rPr b="0" i="0" lang="en-US" sz="3300" u="none" cap="none" strike="noStrike">
                <a:solidFill>
                  <a:srgbClr val="14B8A6"/>
                </a:solidFill>
                <a:latin typeface="Space Grotesk"/>
                <a:ea typeface="Space Grotesk"/>
                <a:cs typeface="Space Grotesk"/>
                <a:sym typeface="Space Grotesk"/>
              </a:rPr>
              <a:t>Step-Back Query</a:t>
            </a:r>
            <a:endParaRPr/>
          </a:p>
        </p:txBody>
      </p:sp>
      <p:sp>
        <p:nvSpPr>
          <p:cNvPr id="775" name="Google Shape;775;p50"/>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76" name="Google Shape;776;p50"/>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80" name="Shape 780"/>
        <p:cNvGrpSpPr/>
        <p:nvPr/>
      </p:nvGrpSpPr>
      <p:grpSpPr>
        <a:xfrm>
          <a:off x="0" y="0"/>
          <a:ext cx="0" cy="0"/>
          <a:chOff x="0" y="0"/>
          <a:chExt cx="0" cy="0"/>
        </a:xfrm>
      </p:grpSpPr>
      <p:pic>
        <p:nvPicPr>
          <p:cNvPr descr="image.png" id="781" name="Google Shape;781;p5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82" name="Google Shape;782;p51"/>
          <p:cNvPicPr preferRelativeResize="0"/>
          <p:nvPr/>
        </p:nvPicPr>
        <p:blipFill rotWithShape="1">
          <a:blip r:embed="rId4">
            <a:alphaModFix/>
          </a:blip>
          <a:srcRect b="0" l="0" r="0" t="0"/>
          <a:stretch/>
        </p:blipFill>
        <p:spPr>
          <a:xfrm>
            <a:off x="771525" y="3024187"/>
            <a:ext cx="5057775" cy="2705100"/>
          </a:xfrm>
          <a:prstGeom prst="rect">
            <a:avLst/>
          </a:prstGeom>
          <a:noFill/>
          <a:ln>
            <a:noFill/>
          </a:ln>
        </p:spPr>
      </p:pic>
      <p:pic>
        <p:nvPicPr>
          <p:cNvPr descr="image.png" id="783" name="Google Shape;783;p51"/>
          <p:cNvPicPr preferRelativeResize="0"/>
          <p:nvPr/>
        </p:nvPicPr>
        <p:blipFill rotWithShape="1">
          <a:blip r:embed="rId5">
            <a:alphaModFix/>
          </a:blip>
          <a:srcRect b="0" l="0" r="0" t="0"/>
          <a:stretch/>
        </p:blipFill>
        <p:spPr>
          <a:xfrm>
            <a:off x="6362700" y="3024187"/>
            <a:ext cx="5057775" cy="2705100"/>
          </a:xfrm>
          <a:prstGeom prst="rect">
            <a:avLst/>
          </a:prstGeom>
          <a:noFill/>
          <a:ln>
            <a:noFill/>
          </a:ln>
        </p:spPr>
      </p:pic>
      <p:pic>
        <p:nvPicPr>
          <p:cNvPr descr="image.png" id="784" name="Google Shape;784;p51"/>
          <p:cNvPicPr preferRelativeResize="0"/>
          <p:nvPr/>
        </p:nvPicPr>
        <p:blipFill rotWithShape="1">
          <a:blip r:embed="rId6">
            <a:alphaModFix/>
          </a:blip>
          <a:srcRect b="0" l="0" r="0" t="0"/>
          <a:stretch/>
        </p:blipFill>
        <p:spPr>
          <a:xfrm>
            <a:off x="771525" y="638175"/>
            <a:ext cx="476250" cy="419100"/>
          </a:xfrm>
          <a:prstGeom prst="rect">
            <a:avLst/>
          </a:prstGeom>
          <a:noFill/>
          <a:ln>
            <a:noFill/>
          </a:ln>
        </p:spPr>
      </p:pic>
      <p:sp>
        <p:nvSpPr>
          <p:cNvPr id="785" name="Google Shape;785;p51"/>
          <p:cNvSpPr txBox="1"/>
          <p:nvPr/>
        </p:nvSpPr>
        <p:spPr>
          <a:xfrm>
            <a:off x="771525" y="2195512"/>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Once the LLM generates the Step-Back query, the LCEL pipeline splits into a powerful dual-track architecture:</a:t>
            </a:r>
            <a:endParaRPr/>
          </a:p>
        </p:txBody>
      </p:sp>
      <p:sp>
        <p:nvSpPr>
          <p:cNvPr id="786" name="Google Shape;786;p51"/>
          <p:cNvSpPr txBox="1"/>
          <p:nvPr/>
        </p:nvSpPr>
        <p:spPr>
          <a:xfrm>
            <a:off x="1114425" y="3395662"/>
            <a:ext cx="459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Search Track A</a:t>
            </a:r>
            <a:endParaRPr/>
          </a:p>
        </p:txBody>
      </p:sp>
      <p:sp>
        <p:nvSpPr>
          <p:cNvPr id="787" name="Google Shape;787;p51"/>
          <p:cNvSpPr txBox="1"/>
          <p:nvPr/>
        </p:nvSpPr>
        <p:spPr>
          <a:xfrm>
            <a:off x="1114425" y="3881437"/>
            <a:ext cx="4371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Plus Jakarta Sans"/>
                <a:ea typeface="Plus Jakarta Sans"/>
                <a:cs typeface="Plus Jakarta Sans"/>
                <a:sym typeface="Plus Jakarta Sans"/>
              </a:rPr>
              <a:t>Input: Original Query</a:t>
            </a:r>
            <a:endParaRPr/>
          </a:p>
        </p:txBody>
      </p:sp>
      <p:sp>
        <p:nvSpPr>
          <p:cNvPr id="788" name="Google Shape;788;p51"/>
          <p:cNvSpPr txBox="1"/>
          <p:nvPr/>
        </p:nvSpPr>
        <p:spPr>
          <a:xfrm>
            <a:off x="1114425" y="4329112"/>
            <a:ext cx="43719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FAISS executes a search hunting for specific details about the European division and Tuesday reviews.</a:t>
            </a:r>
            <a:endParaRPr/>
          </a:p>
        </p:txBody>
      </p:sp>
      <p:pic>
        <p:nvPicPr>
          <p:cNvPr descr="image.png" id="789" name="Google Shape;789;p51"/>
          <p:cNvPicPr preferRelativeResize="0"/>
          <p:nvPr/>
        </p:nvPicPr>
        <p:blipFill rotWithShape="1">
          <a:blip r:embed="rId7">
            <a:alphaModFix/>
          </a:blip>
          <a:srcRect b="0" l="0" r="0" t="0"/>
          <a:stretch/>
        </p:blipFill>
        <p:spPr>
          <a:xfrm>
            <a:off x="5972175" y="4233862"/>
            <a:ext cx="247650" cy="285750"/>
          </a:xfrm>
          <a:prstGeom prst="rect">
            <a:avLst/>
          </a:prstGeom>
          <a:noFill/>
          <a:ln>
            <a:noFill/>
          </a:ln>
        </p:spPr>
      </p:pic>
      <p:sp>
        <p:nvSpPr>
          <p:cNvPr id="790" name="Google Shape;790;p51"/>
          <p:cNvSpPr txBox="1"/>
          <p:nvPr/>
        </p:nvSpPr>
        <p:spPr>
          <a:xfrm>
            <a:off x="6705600" y="3395662"/>
            <a:ext cx="459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Search Track B</a:t>
            </a:r>
            <a:endParaRPr/>
          </a:p>
        </p:txBody>
      </p:sp>
      <p:sp>
        <p:nvSpPr>
          <p:cNvPr id="791" name="Google Shape;791;p51"/>
          <p:cNvSpPr txBox="1"/>
          <p:nvPr/>
        </p:nvSpPr>
        <p:spPr>
          <a:xfrm>
            <a:off x="6705600" y="3881437"/>
            <a:ext cx="43719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8FAFC"/>
                </a:solidFill>
                <a:latin typeface="Plus Jakarta Sans"/>
                <a:ea typeface="Plus Jakarta Sans"/>
                <a:cs typeface="Plus Jakarta Sans"/>
                <a:sym typeface="Plus Jakarta Sans"/>
              </a:rPr>
              <a:t>Input: Step-Back Query</a:t>
            </a:r>
            <a:endParaRPr/>
          </a:p>
        </p:txBody>
      </p:sp>
      <p:sp>
        <p:nvSpPr>
          <p:cNvPr id="792" name="Google Shape;792;p51"/>
          <p:cNvSpPr txBox="1"/>
          <p:nvPr/>
        </p:nvSpPr>
        <p:spPr>
          <a:xfrm>
            <a:off x="6705600" y="4329112"/>
            <a:ext cx="43719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FAISS executes a parallel search hunting for the foundational rules of OCR failures (The SOP docs).</a:t>
            </a:r>
            <a:endParaRPr/>
          </a:p>
        </p:txBody>
      </p:sp>
      <p:sp>
        <p:nvSpPr>
          <p:cNvPr id="793" name="Google Shape;793;p51"/>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Parallel Retrieval </a:t>
            </a:r>
            <a:r>
              <a:rPr b="0" i="0" lang="en-US" sz="3300" u="none" cap="none" strike="noStrike">
                <a:solidFill>
                  <a:srgbClr val="14B8A6"/>
                </a:solidFill>
                <a:latin typeface="Space Grotesk"/>
                <a:ea typeface="Space Grotesk"/>
                <a:cs typeface="Space Grotesk"/>
                <a:sym typeface="Space Grotesk"/>
              </a:rPr>
              <a:t>Architecture</a:t>
            </a:r>
            <a:endParaRPr/>
          </a:p>
        </p:txBody>
      </p:sp>
      <p:sp>
        <p:nvSpPr>
          <p:cNvPr id="794" name="Google Shape;794;p51"/>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95" name="Google Shape;795;p51"/>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99" name="Shape 799"/>
        <p:cNvGrpSpPr/>
        <p:nvPr/>
      </p:nvGrpSpPr>
      <p:grpSpPr>
        <a:xfrm>
          <a:off x="0" y="0"/>
          <a:ext cx="0" cy="0"/>
          <a:chOff x="0" y="0"/>
          <a:chExt cx="0" cy="0"/>
        </a:xfrm>
      </p:grpSpPr>
      <p:pic>
        <p:nvPicPr>
          <p:cNvPr descr="image.png" id="800" name="Google Shape;800;p5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01" name="Google Shape;801;p52"/>
          <p:cNvPicPr preferRelativeResize="0"/>
          <p:nvPr/>
        </p:nvPicPr>
        <p:blipFill rotWithShape="1">
          <a:blip r:embed="rId4">
            <a:alphaModFix/>
          </a:blip>
          <a:srcRect b="0" l="0" r="0" t="0"/>
          <a:stretch/>
        </p:blipFill>
        <p:spPr>
          <a:xfrm>
            <a:off x="7351365" y="1647825"/>
            <a:ext cx="4069109" cy="4629150"/>
          </a:xfrm>
          <a:prstGeom prst="rect">
            <a:avLst/>
          </a:prstGeom>
          <a:noFill/>
          <a:ln>
            <a:noFill/>
          </a:ln>
        </p:spPr>
      </p:pic>
      <p:pic>
        <p:nvPicPr>
          <p:cNvPr descr="image.png" id="802" name="Google Shape;802;p52"/>
          <p:cNvPicPr preferRelativeResize="0"/>
          <p:nvPr/>
        </p:nvPicPr>
        <p:blipFill rotWithShape="1">
          <a:blip r:embed="rId5">
            <a:alphaModFix/>
          </a:blip>
          <a:srcRect b="0" l="0" r="0" t="0"/>
          <a:stretch/>
        </p:blipFill>
        <p:spPr>
          <a:xfrm>
            <a:off x="771525" y="638175"/>
            <a:ext cx="523875" cy="419100"/>
          </a:xfrm>
          <a:prstGeom prst="rect">
            <a:avLst/>
          </a:prstGeom>
          <a:noFill/>
          <a:ln>
            <a:noFill/>
          </a:ln>
        </p:spPr>
      </p:pic>
      <p:sp>
        <p:nvSpPr>
          <p:cNvPr id="803" name="Google Shape;803;p52"/>
          <p:cNvSpPr txBox="1"/>
          <p:nvPr/>
        </p:nvSpPr>
        <p:spPr>
          <a:xfrm>
            <a:off x="771525" y="2643187"/>
            <a:ext cx="64089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Connecting the Dots</a:t>
            </a:r>
            <a:endParaRPr/>
          </a:p>
        </p:txBody>
      </p:sp>
      <p:sp>
        <p:nvSpPr>
          <p:cNvPr id="804" name="Google Shape;804;p52"/>
          <p:cNvSpPr txBox="1"/>
          <p:nvPr/>
        </p:nvSpPr>
        <p:spPr>
          <a:xfrm>
            <a:off x="771525" y="3128962"/>
            <a:ext cx="61035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Both sets of documents are retrieved, combined, and deduplicated. We then inject this massive, comprehensive context into the final Mega-Prompt.</a:t>
            </a:r>
            <a:endParaRPr/>
          </a:p>
        </p:txBody>
      </p:sp>
      <p:pic>
        <p:nvPicPr>
          <p:cNvPr descr="image.png" id="805" name="Google Shape;805;p52"/>
          <p:cNvPicPr preferRelativeResize="0"/>
          <p:nvPr/>
        </p:nvPicPr>
        <p:blipFill rotWithShape="1">
          <a:blip r:embed="rId6">
            <a:alphaModFix/>
          </a:blip>
          <a:srcRect b="0" l="0" r="0" t="0"/>
          <a:stretch/>
        </p:blipFill>
        <p:spPr>
          <a:xfrm>
            <a:off x="9004845" y="2576512"/>
            <a:ext cx="762000" cy="762000"/>
          </a:xfrm>
          <a:prstGeom prst="rect">
            <a:avLst/>
          </a:prstGeom>
          <a:noFill/>
          <a:ln>
            <a:noFill/>
          </a:ln>
        </p:spPr>
      </p:pic>
      <p:sp>
        <p:nvSpPr>
          <p:cNvPr id="806" name="Google Shape;806;p52"/>
          <p:cNvSpPr txBox="1"/>
          <p:nvPr/>
        </p:nvSpPr>
        <p:spPr>
          <a:xfrm>
            <a:off x="8700760" y="3529012"/>
            <a:ext cx="13701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The Result</a:t>
            </a:r>
            <a:endParaRPr/>
          </a:p>
        </p:txBody>
      </p:sp>
      <p:sp>
        <p:nvSpPr>
          <p:cNvPr id="807" name="Google Shape;807;p52"/>
          <p:cNvSpPr txBox="1"/>
          <p:nvPr/>
        </p:nvSpPr>
        <p:spPr>
          <a:xfrm>
            <a:off x="7694265" y="4014787"/>
            <a:ext cx="3383400" cy="133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The LLM connects the general rule to the specific fact, providing a flawless, highly reasoned answer impossible with Naive RAG.</a:t>
            </a:r>
            <a:endParaRPr/>
          </a:p>
        </p:txBody>
      </p:sp>
      <p:sp>
        <p:nvSpPr>
          <p:cNvPr id="808" name="Google Shape;808;p52"/>
          <p:cNvSpPr txBox="1"/>
          <p:nvPr/>
        </p:nvSpPr>
        <p:spPr>
          <a:xfrm>
            <a:off x="1200150" y="4329112"/>
            <a:ext cx="56751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Foundational Rules:</a:t>
            </a:r>
            <a:r>
              <a:rPr b="0" i="0" lang="en-US" sz="1500" u="none" cap="none" strike="noStrike">
                <a:solidFill>
                  <a:srgbClr val="CBD5E1"/>
                </a:solidFill>
                <a:latin typeface="Plus Jakarta Sans"/>
                <a:ea typeface="Plus Jakarta Sans"/>
                <a:cs typeface="Plus Jakarta Sans"/>
                <a:sym typeface="Plus Jakarta Sans"/>
              </a:rPr>
              <a:t> "Low DPI causes failures."</a:t>
            </a:r>
            <a:endParaRPr/>
          </a:p>
        </p:txBody>
      </p:sp>
      <p:sp>
        <p:nvSpPr>
          <p:cNvPr id="809" name="Google Shape;809;p52"/>
          <p:cNvSpPr txBox="1"/>
          <p:nvPr/>
        </p:nvSpPr>
        <p:spPr>
          <a:xfrm>
            <a:off x="1200150" y="4805362"/>
            <a:ext cx="56751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Specific Context:</a:t>
            </a:r>
            <a:r>
              <a:rPr b="0" i="0" lang="en-US" sz="1500" u="none" cap="none" strike="noStrike">
                <a:solidFill>
                  <a:srgbClr val="CBD5E1"/>
                </a:solidFill>
                <a:latin typeface="Plus Jakarta Sans"/>
                <a:ea typeface="Plus Jakarta Sans"/>
                <a:cs typeface="Plus Jakarta Sans"/>
                <a:sym typeface="Plus Jakarta Sans"/>
              </a:rPr>
              <a:t> "Europe uses legacy scanners."</a:t>
            </a:r>
            <a:endParaRPr/>
          </a:p>
        </p:txBody>
      </p:sp>
      <p:pic>
        <p:nvPicPr>
          <p:cNvPr descr="image.png" id="810" name="Google Shape;810;p52"/>
          <p:cNvPicPr preferRelativeResize="0"/>
          <p:nvPr/>
        </p:nvPicPr>
        <p:blipFill rotWithShape="1">
          <a:blip r:embed="rId7">
            <a:alphaModFix/>
          </a:blip>
          <a:srcRect b="0" l="0" r="0" t="0"/>
          <a:stretch/>
        </p:blipFill>
        <p:spPr>
          <a:xfrm>
            <a:off x="771525" y="4367212"/>
            <a:ext cx="200025" cy="247650"/>
          </a:xfrm>
          <a:prstGeom prst="rect">
            <a:avLst/>
          </a:prstGeom>
          <a:noFill/>
          <a:ln>
            <a:noFill/>
          </a:ln>
        </p:spPr>
      </p:pic>
      <p:pic>
        <p:nvPicPr>
          <p:cNvPr descr="image.png" id="811" name="Google Shape;811;p52"/>
          <p:cNvPicPr preferRelativeResize="0"/>
          <p:nvPr/>
        </p:nvPicPr>
        <p:blipFill rotWithShape="1">
          <a:blip r:embed="rId7">
            <a:alphaModFix/>
          </a:blip>
          <a:srcRect b="0" l="0" r="0" t="0"/>
          <a:stretch/>
        </p:blipFill>
        <p:spPr>
          <a:xfrm>
            <a:off x="771525" y="4843462"/>
            <a:ext cx="200025" cy="247650"/>
          </a:xfrm>
          <a:prstGeom prst="rect">
            <a:avLst/>
          </a:prstGeom>
          <a:noFill/>
          <a:ln>
            <a:noFill/>
          </a:ln>
        </p:spPr>
      </p:pic>
      <p:sp>
        <p:nvSpPr>
          <p:cNvPr id="812" name="Google Shape;812;p52"/>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Synergistic </a:t>
            </a:r>
            <a:r>
              <a:rPr b="0" i="0" lang="en-US" sz="3300" u="none" cap="none" strike="noStrike">
                <a:solidFill>
                  <a:srgbClr val="14B8A6"/>
                </a:solidFill>
                <a:latin typeface="Space Grotesk"/>
                <a:ea typeface="Space Grotesk"/>
                <a:cs typeface="Space Grotesk"/>
                <a:sym typeface="Space Grotesk"/>
              </a:rPr>
              <a:t>Generation</a:t>
            </a:r>
            <a:endParaRPr/>
          </a:p>
        </p:txBody>
      </p:sp>
      <p:sp>
        <p:nvSpPr>
          <p:cNvPr id="813" name="Google Shape;813;p52"/>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14" name="Google Shape;814;p52"/>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18" name="Shape 818"/>
        <p:cNvGrpSpPr/>
        <p:nvPr/>
      </p:nvGrpSpPr>
      <p:grpSpPr>
        <a:xfrm>
          <a:off x="0" y="0"/>
          <a:ext cx="0" cy="0"/>
          <a:chOff x="0" y="0"/>
          <a:chExt cx="0" cy="0"/>
        </a:xfrm>
      </p:grpSpPr>
      <p:pic>
        <p:nvPicPr>
          <p:cNvPr descr="image.png" id="819" name="Google Shape;819;p5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20" name="Google Shape;820;p53"/>
          <p:cNvPicPr preferRelativeResize="0"/>
          <p:nvPr/>
        </p:nvPicPr>
        <p:blipFill rotWithShape="1">
          <a:blip r:embed="rId4">
            <a:alphaModFix/>
          </a:blip>
          <a:srcRect b="0" l="0" r="0" t="0"/>
          <a:stretch/>
        </p:blipFill>
        <p:spPr>
          <a:xfrm>
            <a:off x="771525" y="2545556"/>
            <a:ext cx="10648949" cy="2049065"/>
          </a:xfrm>
          <a:prstGeom prst="rect">
            <a:avLst/>
          </a:prstGeom>
          <a:noFill/>
          <a:ln>
            <a:noFill/>
          </a:ln>
        </p:spPr>
      </p:pic>
      <p:pic>
        <p:nvPicPr>
          <p:cNvPr descr="image.png" id="821" name="Google Shape;821;p53"/>
          <p:cNvPicPr preferRelativeResize="0"/>
          <p:nvPr/>
        </p:nvPicPr>
        <p:blipFill rotWithShape="1">
          <a:blip r:embed="rId5">
            <a:alphaModFix/>
          </a:blip>
          <a:srcRect b="0" l="0" r="0" t="0"/>
          <a:stretch/>
        </p:blipFill>
        <p:spPr>
          <a:xfrm>
            <a:off x="771525" y="5406032"/>
            <a:ext cx="10648949" cy="563760"/>
          </a:xfrm>
          <a:prstGeom prst="rect">
            <a:avLst/>
          </a:prstGeom>
          <a:noFill/>
          <a:ln>
            <a:noFill/>
          </a:ln>
        </p:spPr>
      </p:pic>
      <p:pic>
        <p:nvPicPr>
          <p:cNvPr descr="image.png" id="822" name="Google Shape;822;p53"/>
          <p:cNvPicPr preferRelativeResize="0"/>
          <p:nvPr/>
        </p:nvPicPr>
        <p:blipFill rotWithShape="1">
          <a:blip r:embed="rId6">
            <a:alphaModFix/>
          </a:blip>
          <a:srcRect b="0" l="0" r="0" t="0"/>
          <a:stretch/>
        </p:blipFill>
        <p:spPr>
          <a:xfrm>
            <a:off x="771525" y="638175"/>
            <a:ext cx="476250" cy="419100"/>
          </a:xfrm>
          <a:prstGeom prst="rect">
            <a:avLst/>
          </a:prstGeom>
          <a:noFill/>
          <a:ln>
            <a:noFill/>
          </a:ln>
        </p:spPr>
      </p:pic>
      <p:sp>
        <p:nvSpPr>
          <p:cNvPr id="823" name="Google Shape;823;p53"/>
          <p:cNvSpPr txBox="1"/>
          <p:nvPr/>
        </p:nvSpPr>
        <p:spPr>
          <a:xfrm>
            <a:off x="771525" y="1955006"/>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We explicitly command the LLM to strip away the hyper-specific details using a dedicated Prompt Template.</a:t>
            </a:r>
            <a:endParaRPr/>
          </a:p>
        </p:txBody>
      </p:sp>
      <p:sp>
        <p:nvSpPr>
          <p:cNvPr id="824" name="Google Shape;824;p53"/>
          <p:cNvSpPr txBox="1"/>
          <p:nvPr/>
        </p:nvSpPr>
        <p:spPr>
          <a:xfrm>
            <a:off x="771525" y="4832746"/>
            <a:ext cx="10649100" cy="254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14B8A6"/>
                </a:solidFill>
                <a:latin typeface="Plus Jakarta Sans"/>
                <a:ea typeface="Plus Jakarta Sans"/>
                <a:cs typeface="Plus Jakarta Sans"/>
                <a:sym typeface="Plus Jakarta Sans"/>
              </a:rPr>
              <a:t>The LCEL Generator Chain:</a:t>
            </a:r>
            <a:endParaRPr/>
          </a:p>
        </p:txBody>
      </p:sp>
      <p:sp>
        <p:nvSpPr>
          <p:cNvPr id="825" name="Google Shape;825;p53"/>
          <p:cNvSpPr txBox="1"/>
          <p:nvPr/>
        </p:nvSpPr>
        <p:spPr>
          <a:xfrm>
            <a:off x="2828925" y="3848100"/>
            <a:ext cx="952500" cy="5100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F59E0B"/>
                </a:solidFill>
                <a:latin typeface="Fira Code"/>
                <a:ea typeface="Fira Code"/>
                <a:cs typeface="Fira Code"/>
                <a:sym typeface="Fira Code"/>
              </a:rPr>
              <a:t>{question}</a:t>
            </a:r>
            <a:endParaRPr/>
          </a:p>
        </p:txBody>
      </p:sp>
      <p:sp>
        <p:nvSpPr>
          <p:cNvPr id="826" name="Google Shape;826;p53"/>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Step-Back Prompt </a:t>
            </a:r>
            <a:r>
              <a:rPr b="0" i="0" lang="en-US" sz="3300" u="none" cap="none" strike="noStrike">
                <a:solidFill>
                  <a:srgbClr val="14B8A6"/>
                </a:solidFill>
                <a:latin typeface="Space Grotesk"/>
                <a:ea typeface="Space Grotesk"/>
                <a:cs typeface="Space Grotesk"/>
                <a:sym typeface="Space Grotesk"/>
              </a:rPr>
              <a:t>Engineering</a:t>
            </a:r>
            <a:endParaRPr/>
          </a:p>
        </p:txBody>
      </p:sp>
      <p:sp>
        <p:nvSpPr>
          <p:cNvPr id="827" name="Google Shape;827;p53"/>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28" name="Google Shape;828;p53"/>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2" name="Shape 832"/>
        <p:cNvGrpSpPr/>
        <p:nvPr/>
      </p:nvGrpSpPr>
      <p:grpSpPr>
        <a:xfrm>
          <a:off x="0" y="0"/>
          <a:ext cx="0" cy="0"/>
          <a:chOff x="0" y="0"/>
          <a:chExt cx="0" cy="0"/>
        </a:xfrm>
      </p:grpSpPr>
      <p:pic>
        <p:nvPicPr>
          <p:cNvPr descr="image.png" id="833" name="Google Shape;833;p5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34" name="Google Shape;834;p54"/>
          <p:cNvPicPr preferRelativeResize="0"/>
          <p:nvPr/>
        </p:nvPicPr>
        <p:blipFill rotWithShape="1">
          <a:blip r:embed="rId4">
            <a:alphaModFix/>
          </a:blip>
          <a:srcRect b="0" l="0" r="0" t="0"/>
          <a:stretch/>
        </p:blipFill>
        <p:spPr>
          <a:xfrm>
            <a:off x="771525" y="2357437"/>
            <a:ext cx="10648949" cy="3848100"/>
          </a:xfrm>
          <a:prstGeom prst="rect">
            <a:avLst/>
          </a:prstGeom>
          <a:noFill/>
          <a:ln>
            <a:noFill/>
          </a:ln>
        </p:spPr>
      </p:pic>
      <p:pic>
        <p:nvPicPr>
          <p:cNvPr descr="image.png" id="835" name="Google Shape;835;p54"/>
          <p:cNvPicPr preferRelativeResize="0"/>
          <p:nvPr/>
        </p:nvPicPr>
        <p:blipFill rotWithShape="1">
          <a:blip r:embed="rId5">
            <a:alphaModFix/>
          </a:blip>
          <a:srcRect b="0" l="0" r="0" t="0"/>
          <a:stretch/>
        </p:blipFill>
        <p:spPr>
          <a:xfrm>
            <a:off x="771525" y="638175"/>
            <a:ext cx="523875" cy="419100"/>
          </a:xfrm>
          <a:prstGeom prst="rect">
            <a:avLst/>
          </a:prstGeom>
          <a:noFill/>
          <a:ln>
            <a:noFill/>
          </a:ln>
        </p:spPr>
      </p:pic>
      <p:sp>
        <p:nvSpPr>
          <p:cNvPr id="836" name="Google Shape;836;p54"/>
          <p:cNvSpPr txBox="1"/>
          <p:nvPr/>
        </p:nvSpPr>
        <p:spPr>
          <a:xfrm>
            <a:off x="771525" y="1719262"/>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Notice how this final prompt template now accepts </a:t>
            </a:r>
            <a:r>
              <a:rPr b="1" i="0" lang="en-US" sz="1500" u="none" cap="none" strike="noStrike">
                <a:solidFill>
                  <a:srgbClr val="CBD5E1"/>
                </a:solidFill>
                <a:latin typeface="Plus Jakarta Sans"/>
                <a:ea typeface="Plus Jakarta Sans"/>
                <a:cs typeface="Plus Jakarta Sans"/>
                <a:sym typeface="Plus Jakarta Sans"/>
              </a:rPr>
              <a:t>TWO</a:t>
            </a:r>
            <a:r>
              <a:rPr b="0" i="0" lang="en-US" sz="1500" u="none" cap="none" strike="noStrike">
                <a:solidFill>
                  <a:srgbClr val="CBD5E1"/>
                </a:solidFill>
                <a:latin typeface="Plus Jakarta Sans"/>
                <a:ea typeface="Plus Jakarta Sans"/>
                <a:cs typeface="Plus Jakarta Sans"/>
                <a:sym typeface="Plus Jakarta Sans"/>
              </a:rPr>
              <a:t> entirely different context variables injected simultaneously.</a:t>
            </a:r>
            <a:endParaRPr/>
          </a:p>
        </p:txBody>
      </p:sp>
      <p:sp>
        <p:nvSpPr>
          <p:cNvPr id="837" name="Google Shape;837;p54"/>
          <p:cNvSpPr txBox="1"/>
          <p:nvPr/>
        </p:nvSpPr>
        <p:spPr>
          <a:xfrm>
            <a:off x="1019175" y="3852862"/>
            <a:ext cx="21717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59E0B"/>
                </a:solidFill>
                <a:latin typeface="Fira Code"/>
                <a:ea typeface="Fira Code"/>
                <a:cs typeface="Fira Code"/>
                <a:sym typeface="Fira Code"/>
              </a:rPr>
              <a:t>{step_back_context}</a:t>
            </a:r>
            <a:endParaRPr/>
          </a:p>
        </p:txBody>
      </p:sp>
      <p:sp>
        <p:nvSpPr>
          <p:cNvPr id="838" name="Google Shape;838;p54"/>
          <p:cNvSpPr txBox="1"/>
          <p:nvPr/>
        </p:nvSpPr>
        <p:spPr>
          <a:xfrm>
            <a:off x="1019175" y="4767262"/>
            <a:ext cx="18288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59E0B"/>
                </a:solidFill>
                <a:latin typeface="Fira Code"/>
                <a:ea typeface="Fira Code"/>
                <a:cs typeface="Fira Code"/>
                <a:sym typeface="Fira Code"/>
              </a:rPr>
              <a:t>{normal_context}</a:t>
            </a:r>
            <a:endParaRPr/>
          </a:p>
        </p:txBody>
      </p:sp>
      <p:sp>
        <p:nvSpPr>
          <p:cNvPr id="839" name="Google Shape;839;p54"/>
          <p:cNvSpPr txBox="1"/>
          <p:nvPr/>
        </p:nvSpPr>
        <p:spPr>
          <a:xfrm>
            <a:off x="3190875" y="5376862"/>
            <a:ext cx="114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59E0B"/>
                </a:solidFill>
                <a:latin typeface="Fira Code"/>
                <a:ea typeface="Fira Code"/>
                <a:cs typeface="Fira Code"/>
                <a:sym typeface="Fira Code"/>
              </a:rPr>
              <a:t>{question}</a:t>
            </a:r>
            <a:endParaRPr/>
          </a:p>
        </p:txBody>
      </p:sp>
      <p:sp>
        <p:nvSpPr>
          <p:cNvPr id="840" name="Google Shape;840;p54"/>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Dual-Context </a:t>
            </a:r>
            <a:r>
              <a:rPr b="0" i="0" lang="en-US" sz="3300" u="none" cap="none" strike="noStrike">
                <a:solidFill>
                  <a:srgbClr val="14B8A6"/>
                </a:solidFill>
                <a:latin typeface="Space Grotesk"/>
                <a:ea typeface="Space Grotesk"/>
                <a:cs typeface="Space Grotesk"/>
                <a:sym typeface="Space Grotesk"/>
              </a:rPr>
              <a:t>Mega-Prompt</a:t>
            </a:r>
            <a:endParaRPr/>
          </a:p>
        </p:txBody>
      </p:sp>
      <p:sp>
        <p:nvSpPr>
          <p:cNvPr id="841" name="Google Shape;841;p54"/>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42" name="Google Shape;842;p54"/>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46" name="Shape 846"/>
        <p:cNvGrpSpPr/>
        <p:nvPr/>
      </p:nvGrpSpPr>
      <p:grpSpPr>
        <a:xfrm>
          <a:off x="0" y="0"/>
          <a:ext cx="0" cy="0"/>
          <a:chOff x="0" y="0"/>
          <a:chExt cx="0" cy="0"/>
        </a:xfrm>
      </p:grpSpPr>
      <p:pic>
        <p:nvPicPr>
          <p:cNvPr descr="image.png" id="847" name="Google Shape;847;p5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48" name="Google Shape;848;p55"/>
          <p:cNvPicPr preferRelativeResize="0"/>
          <p:nvPr/>
        </p:nvPicPr>
        <p:blipFill rotWithShape="1">
          <a:blip r:embed="rId4">
            <a:alphaModFix/>
          </a:blip>
          <a:srcRect b="0" l="0" r="0" t="0"/>
          <a:stretch/>
        </p:blipFill>
        <p:spPr>
          <a:xfrm>
            <a:off x="771525" y="2244030"/>
            <a:ext cx="10648949" cy="4379714"/>
          </a:xfrm>
          <a:prstGeom prst="rect">
            <a:avLst/>
          </a:prstGeom>
          <a:noFill/>
          <a:ln>
            <a:noFill/>
          </a:ln>
        </p:spPr>
      </p:pic>
      <p:pic>
        <p:nvPicPr>
          <p:cNvPr descr="image.png" id="849" name="Google Shape;849;p55"/>
          <p:cNvPicPr preferRelativeResize="0"/>
          <p:nvPr/>
        </p:nvPicPr>
        <p:blipFill rotWithShape="1">
          <a:blip r:embed="rId5">
            <a:alphaModFix/>
          </a:blip>
          <a:srcRect b="0" l="0" r="0" t="0"/>
          <a:stretch/>
        </p:blipFill>
        <p:spPr>
          <a:xfrm>
            <a:off x="771525" y="291405"/>
            <a:ext cx="523875" cy="419100"/>
          </a:xfrm>
          <a:prstGeom prst="rect">
            <a:avLst/>
          </a:prstGeom>
          <a:noFill/>
          <a:ln>
            <a:noFill/>
          </a:ln>
        </p:spPr>
      </p:pic>
      <p:sp>
        <p:nvSpPr>
          <p:cNvPr id="850" name="Google Shape;850;p55"/>
          <p:cNvSpPr txBox="1"/>
          <p:nvPr/>
        </p:nvSpPr>
        <p:spPr>
          <a:xfrm>
            <a:off x="771525" y="1301055"/>
            <a:ext cx="106491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Wiring this parallel architecture in standard Python takes dozens of lines of code. In LCEL, it is handled via an elegant dictionary mapping.</a:t>
            </a:r>
            <a:endParaRPr/>
          </a:p>
        </p:txBody>
      </p:sp>
      <p:sp>
        <p:nvSpPr>
          <p:cNvPr id="851" name="Google Shape;851;p55"/>
          <p:cNvSpPr txBox="1"/>
          <p:nvPr/>
        </p:nvSpPr>
        <p:spPr>
          <a:xfrm>
            <a:off x="1781175" y="3028650"/>
            <a:ext cx="64518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n-US" sz="1275" u="none" cap="none" strike="noStrike">
                <a:solidFill>
                  <a:srgbClr val="64748B"/>
                </a:solidFill>
                <a:latin typeface="Fira Code"/>
                <a:ea typeface="Fira Code"/>
                <a:cs typeface="Fira Code"/>
                <a:sym typeface="Fira Code"/>
              </a:rPr>
              <a:t># A) Hits step_back_chain -&gt; broad question -&gt; retriever</a:t>
            </a:r>
            <a:endParaRPr/>
          </a:p>
        </p:txBody>
      </p:sp>
      <p:sp>
        <p:nvSpPr>
          <p:cNvPr id="852" name="Google Shape;852;p55"/>
          <p:cNvSpPr txBox="1"/>
          <p:nvPr/>
        </p:nvSpPr>
        <p:spPr>
          <a:xfrm>
            <a:off x="1748045" y="3287625"/>
            <a:ext cx="19956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F59E0B"/>
                </a:solidFill>
                <a:latin typeface="Fira Code"/>
                <a:ea typeface="Fira Code"/>
                <a:cs typeface="Fira Code"/>
                <a:sym typeface="Fira Code"/>
              </a:rPr>
              <a:t>"step_back_context"</a:t>
            </a:r>
            <a:endParaRPr/>
          </a:p>
        </p:txBody>
      </p:sp>
      <p:sp>
        <p:nvSpPr>
          <p:cNvPr id="853" name="Google Shape;853;p55"/>
          <p:cNvSpPr txBox="1"/>
          <p:nvPr/>
        </p:nvSpPr>
        <p:spPr>
          <a:xfrm>
            <a:off x="1781175" y="3805525"/>
            <a:ext cx="67995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n-US" sz="1275" u="none" cap="none" strike="noStrike">
                <a:solidFill>
                  <a:srgbClr val="64748B"/>
                </a:solidFill>
                <a:latin typeface="Fira Code"/>
                <a:ea typeface="Fira Code"/>
                <a:cs typeface="Fira Code"/>
                <a:sym typeface="Fira Code"/>
              </a:rPr>
              <a:t># B) Original query -&gt; skips step_back -&gt; hits retriever directly</a:t>
            </a:r>
            <a:endParaRPr/>
          </a:p>
        </p:txBody>
      </p:sp>
      <p:sp>
        <p:nvSpPr>
          <p:cNvPr id="854" name="Google Shape;854;p55"/>
          <p:cNvSpPr txBox="1"/>
          <p:nvPr/>
        </p:nvSpPr>
        <p:spPr>
          <a:xfrm>
            <a:off x="1731479" y="4064500"/>
            <a:ext cx="18465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F59E0B"/>
                </a:solidFill>
                <a:latin typeface="Fira Code"/>
                <a:ea typeface="Fira Code"/>
                <a:cs typeface="Fira Code"/>
                <a:sym typeface="Fira Code"/>
              </a:rPr>
              <a:t>"normal_context"</a:t>
            </a:r>
            <a:endParaRPr/>
          </a:p>
        </p:txBody>
      </p:sp>
      <p:sp>
        <p:nvSpPr>
          <p:cNvPr id="855" name="Google Shape;855;p55"/>
          <p:cNvSpPr txBox="1"/>
          <p:nvPr/>
        </p:nvSpPr>
        <p:spPr>
          <a:xfrm>
            <a:off x="1781175" y="4582425"/>
            <a:ext cx="45633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1" lang="en-US" sz="1275" u="none" cap="none" strike="noStrike">
                <a:solidFill>
                  <a:srgbClr val="64748B"/>
                </a:solidFill>
                <a:latin typeface="Fira Code"/>
                <a:ea typeface="Fira Code"/>
                <a:cs typeface="Fira Code"/>
                <a:sym typeface="Fira Code"/>
              </a:rPr>
              <a:t># C) Passed through completely untouched</a:t>
            </a:r>
            <a:endParaRPr/>
          </a:p>
        </p:txBody>
      </p:sp>
      <p:sp>
        <p:nvSpPr>
          <p:cNvPr id="856" name="Google Shape;856;p55"/>
          <p:cNvSpPr txBox="1"/>
          <p:nvPr/>
        </p:nvSpPr>
        <p:spPr>
          <a:xfrm>
            <a:off x="1731475" y="4841375"/>
            <a:ext cx="1449000" cy="1962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F59E0B"/>
                </a:solidFill>
                <a:latin typeface="Fira Code"/>
                <a:ea typeface="Fira Code"/>
                <a:cs typeface="Fira Code"/>
                <a:sym typeface="Fira Code"/>
              </a:rPr>
              <a:t>"question"</a:t>
            </a:r>
            <a:endParaRPr/>
          </a:p>
        </p:txBody>
      </p:sp>
      <p:sp>
        <p:nvSpPr>
          <p:cNvPr id="857" name="Google Shape;857;p55"/>
          <p:cNvSpPr txBox="1"/>
          <p:nvPr/>
        </p:nvSpPr>
        <p:spPr>
          <a:xfrm>
            <a:off x="1438275" y="23425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LCEL Parallel </a:t>
            </a:r>
            <a:r>
              <a:rPr b="0" i="0" lang="en-US" sz="3300" u="none" cap="none" strike="noStrike">
                <a:solidFill>
                  <a:srgbClr val="14B8A6"/>
                </a:solidFill>
                <a:latin typeface="Space Grotesk"/>
                <a:ea typeface="Space Grotesk"/>
                <a:cs typeface="Space Grotesk"/>
                <a:sym typeface="Space Grotesk"/>
              </a:rPr>
              <a:t>Data Flow</a:t>
            </a:r>
            <a:endParaRPr/>
          </a:p>
        </p:txBody>
      </p:sp>
      <p:sp>
        <p:nvSpPr>
          <p:cNvPr id="858" name="Google Shape;858;p55"/>
          <p:cNvSpPr/>
          <p:nvPr/>
        </p:nvSpPr>
        <p:spPr>
          <a:xfrm>
            <a:off x="771525" y="91053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59" name="Google Shape;859;p55"/>
          <p:cNvPicPr preferRelativeResize="0"/>
          <p:nvPr/>
        </p:nvPicPr>
        <p:blipFill>
          <a:blip r:embed="rId6">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63" name="Shape 863"/>
        <p:cNvGrpSpPr/>
        <p:nvPr/>
      </p:nvGrpSpPr>
      <p:grpSpPr>
        <a:xfrm>
          <a:off x="0" y="0"/>
          <a:ext cx="0" cy="0"/>
          <a:chOff x="0" y="0"/>
          <a:chExt cx="0" cy="0"/>
        </a:xfrm>
      </p:grpSpPr>
      <p:pic>
        <p:nvPicPr>
          <p:cNvPr descr="image.png" id="864" name="Google Shape;864;p5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65" name="Google Shape;865;p56"/>
          <p:cNvPicPr preferRelativeResize="0"/>
          <p:nvPr/>
        </p:nvPicPr>
        <p:blipFill rotWithShape="1">
          <a:blip r:embed="rId4">
            <a:alphaModFix/>
          </a:blip>
          <a:srcRect b="0" l="0" r="0" t="0"/>
          <a:stretch/>
        </p:blipFill>
        <p:spPr>
          <a:xfrm>
            <a:off x="6334125" y="1647825"/>
            <a:ext cx="5086351" cy="4629150"/>
          </a:xfrm>
          <a:prstGeom prst="rect">
            <a:avLst/>
          </a:prstGeom>
          <a:noFill/>
          <a:ln>
            <a:noFill/>
          </a:ln>
        </p:spPr>
      </p:pic>
      <p:pic>
        <p:nvPicPr>
          <p:cNvPr descr="image.png" id="866" name="Google Shape;866;p56"/>
          <p:cNvPicPr preferRelativeResize="0"/>
          <p:nvPr/>
        </p:nvPicPr>
        <p:blipFill rotWithShape="1">
          <a:blip r:embed="rId5">
            <a:alphaModFix/>
          </a:blip>
          <a:srcRect b="0" l="0" r="0" t="0"/>
          <a:stretch/>
        </p:blipFill>
        <p:spPr>
          <a:xfrm>
            <a:off x="771525" y="638175"/>
            <a:ext cx="523875" cy="419100"/>
          </a:xfrm>
          <a:prstGeom prst="rect">
            <a:avLst/>
          </a:prstGeom>
          <a:noFill/>
          <a:ln>
            <a:noFill/>
          </a:ln>
        </p:spPr>
      </p:pic>
      <p:sp>
        <p:nvSpPr>
          <p:cNvPr id="867" name="Google Shape;867;p56"/>
          <p:cNvSpPr txBox="1"/>
          <p:nvPr/>
        </p:nvSpPr>
        <p:spPr>
          <a:xfrm>
            <a:off x="771525" y="2865090"/>
            <a:ext cx="534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A PhD in Reasoning</a:t>
            </a:r>
            <a:endParaRPr/>
          </a:p>
        </p:txBody>
      </p:sp>
      <p:sp>
        <p:nvSpPr>
          <p:cNvPr id="868" name="Google Shape;868;p56"/>
          <p:cNvSpPr txBox="1"/>
          <p:nvPr/>
        </p:nvSpPr>
        <p:spPr>
          <a:xfrm>
            <a:off x="771525" y="3350865"/>
            <a:ext cx="50865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Step-Back Prompting essentially gives your pipeline a PhD in reasoning. It bridges the gap between general principles and specific instances flawlessly.</a:t>
            </a:r>
            <a:endParaRPr/>
          </a:p>
        </p:txBody>
      </p:sp>
      <p:sp>
        <p:nvSpPr>
          <p:cNvPr id="869" name="Google Shape;869;p56"/>
          <p:cNvSpPr txBox="1"/>
          <p:nvPr/>
        </p:nvSpPr>
        <p:spPr>
          <a:xfrm>
            <a:off x="771525" y="4551015"/>
            <a:ext cx="50865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43F5E"/>
                </a:solidFill>
                <a:latin typeface="Plus Jakarta Sans"/>
                <a:ea typeface="Plus Jakarta Sans"/>
                <a:cs typeface="Plus Jakarta Sans"/>
                <a:sym typeface="Plus Jakarta Sans"/>
              </a:rPr>
              <a:t>But it comes with a cost.</a:t>
            </a:r>
            <a:endParaRPr/>
          </a:p>
        </p:txBody>
      </p:sp>
      <p:sp>
        <p:nvSpPr>
          <p:cNvPr id="870" name="Google Shape;870;p56"/>
          <p:cNvSpPr txBox="1"/>
          <p:nvPr/>
        </p:nvSpPr>
        <p:spPr>
          <a:xfrm>
            <a:off x="6677025" y="201930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The Trade-offs</a:t>
            </a:r>
            <a:endParaRPr/>
          </a:p>
        </p:txBody>
      </p:sp>
      <p:sp>
        <p:nvSpPr>
          <p:cNvPr id="871" name="Google Shape;871;p56"/>
          <p:cNvSpPr txBox="1"/>
          <p:nvPr/>
        </p:nvSpPr>
        <p:spPr>
          <a:xfrm>
            <a:off x="7105650" y="2552700"/>
            <a:ext cx="39720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Token Consumption:</a:t>
            </a:r>
            <a:r>
              <a:rPr b="0" i="0" lang="en-US" sz="1500" u="none" cap="none" strike="noStrike">
                <a:solidFill>
                  <a:srgbClr val="CBD5E1"/>
                </a:solidFill>
                <a:latin typeface="Plus Jakarta Sans"/>
                <a:ea typeface="Plus Jakarta Sans"/>
                <a:cs typeface="Plus Jakarta Sans"/>
                <a:sym typeface="Plus Jakarta Sans"/>
              </a:rPr>
              <a:t> Executing TWO full LLM calls and TWO distinct FAISS searches per query.</a:t>
            </a:r>
            <a:endParaRPr/>
          </a:p>
        </p:txBody>
      </p:sp>
      <p:sp>
        <p:nvSpPr>
          <p:cNvPr id="872" name="Google Shape;872;p56"/>
          <p:cNvSpPr txBox="1"/>
          <p:nvPr/>
        </p:nvSpPr>
        <p:spPr>
          <a:xfrm>
            <a:off x="7105650" y="3600450"/>
            <a:ext cx="39720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Latency:</a:t>
            </a:r>
            <a:r>
              <a:rPr b="0" i="0" lang="en-US" sz="1500" u="none" cap="none" strike="noStrike">
                <a:solidFill>
                  <a:srgbClr val="CBD5E1"/>
                </a:solidFill>
                <a:latin typeface="Plus Jakarta Sans"/>
                <a:ea typeface="Plus Jakarta Sans"/>
                <a:cs typeface="Plus Jakarta Sans"/>
                <a:sym typeface="Plus Jakarta Sans"/>
              </a:rPr>
              <a:t> Adding a sequential generative step before retrieval adds roughly 800ms to 1.5 seconds of delay.</a:t>
            </a:r>
            <a:endParaRPr/>
          </a:p>
        </p:txBody>
      </p:sp>
      <p:pic>
        <p:nvPicPr>
          <p:cNvPr descr="image.png" id="873" name="Google Shape;873;p56"/>
          <p:cNvPicPr preferRelativeResize="0"/>
          <p:nvPr/>
        </p:nvPicPr>
        <p:blipFill rotWithShape="1">
          <a:blip r:embed="rId6">
            <a:alphaModFix/>
          </a:blip>
          <a:srcRect b="0" l="0" r="0" t="0"/>
          <a:stretch/>
        </p:blipFill>
        <p:spPr>
          <a:xfrm>
            <a:off x="6677025" y="2590800"/>
            <a:ext cx="228600" cy="247650"/>
          </a:xfrm>
          <a:prstGeom prst="rect">
            <a:avLst/>
          </a:prstGeom>
          <a:noFill/>
          <a:ln>
            <a:noFill/>
          </a:ln>
        </p:spPr>
      </p:pic>
      <p:pic>
        <p:nvPicPr>
          <p:cNvPr descr="image.png" id="874" name="Google Shape;874;p56"/>
          <p:cNvPicPr preferRelativeResize="0"/>
          <p:nvPr/>
        </p:nvPicPr>
        <p:blipFill rotWithShape="1">
          <a:blip r:embed="rId7">
            <a:alphaModFix/>
          </a:blip>
          <a:srcRect b="0" l="0" r="0" t="0"/>
          <a:stretch/>
        </p:blipFill>
        <p:spPr>
          <a:xfrm>
            <a:off x="6677025" y="3638550"/>
            <a:ext cx="200025" cy="247650"/>
          </a:xfrm>
          <a:prstGeom prst="rect">
            <a:avLst/>
          </a:prstGeom>
          <a:noFill/>
          <a:ln>
            <a:noFill/>
          </a:ln>
        </p:spPr>
      </p:pic>
      <p:sp>
        <p:nvSpPr>
          <p:cNvPr id="875" name="Google Shape;875;p56"/>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MLOps </a:t>
            </a:r>
            <a:r>
              <a:rPr b="0" i="0" lang="en-US" sz="3300" u="none" cap="none" strike="noStrike">
                <a:solidFill>
                  <a:srgbClr val="14B8A6"/>
                </a:solidFill>
                <a:latin typeface="Space Grotesk"/>
                <a:ea typeface="Space Grotesk"/>
                <a:cs typeface="Space Grotesk"/>
                <a:sym typeface="Space Grotesk"/>
              </a:rPr>
              <a:t>Reality Check</a:t>
            </a:r>
            <a:endParaRPr/>
          </a:p>
        </p:txBody>
      </p:sp>
      <p:sp>
        <p:nvSpPr>
          <p:cNvPr id="876" name="Google Shape;876;p56"/>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77" name="Google Shape;877;p56"/>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81" name="Shape 881"/>
        <p:cNvGrpSpPr/>
        <p:nvPr/>
      </p:nvGrpSpPr>
      <p:grpSpPr>
        <a:xfrm>
          <a:off x="0" y="0"/>
          <a:ext cx="0" cy="0"/>
          <a:chOff x="0" y="0"/>
          <a:chExt cx="0" cy="0"/>
        </a:xfrm>
      </p:grpSpPr>
      <p:pic>
        <p:nvPicPr>
          <p:cNvPr descr="image.png" id="882" name="Google Shape;882;p5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83" name="Google Shape;883;p57"/>
          <p:cNvPicPr preferRelativeResize="0"/>
          <p:nvPr/>
        </p:nvPicPr>
        <p:blipFill rotWithShape="1">
          <a:blip r:embed="rId4">
            <a:alphaModFix/>
          </a:blip>
          <a:srcRect b="0" l="0" r="0" t="0"/>
          <a:stretch/>
        </p:blipFill>
        <p:spPr>
          <a:xfrm>
            <a:off x="771525" y="1647825"/>
            <a:ext cx="5086351" cy="4629150"/>
          </a:xfrm>
          <a:prstGeom prst="rect">
            <a:avLst/>
          </a:prstGeom>
          <a:noFill/>
          <a:ln>
            <a:noFill/>
          </a:ln>
        </p:spPr>
      </p:pic>
      <p:pic>
        <p:nvPicPr>
          <p:cNvPr descr="image.png" id="884" name="Google Shape;884;p57"/>
          <p:cNvPicPr preferRelativeResize="0"/>
          <p:nvPr/>
        </p:nvPicPr>
        <p:blipFill rotWithShape="1">
          <a:blip r:embed="rId5">
            <a:alphaModFix/>
          </a:blip>
          <a:srcRect b="0" l="0" r="0" t="0"/>
          <a:stretch/>
        </p:blipFill>
        <p:spPr>
          <a:xfrm>
            <a:off x="6334125" y="1647825"/>
            <a:ext cx="5086351" cy="4629150"/>
          </a:xfrm>
          <a:prstGeom prst="rect">
            <a:avLst/>
          </a:prstGeom>
          <a:noFill/>
          <a:ln>
            <a:noFill/>
          </a:ln>
        </p:spPr>
      </p:pic>
      <p:pic>
        <p:nvPicPr>
          <p:cNvPr descr="image.png" id="885" name="Google Shape;885;p57"/>
          <p:cNvPicPr preferRelativeResize="0"/>
          <p:nvPr/>
        </p:nvPicPr>
        <p:blipFill rotWithShape="1">
          <a:blip r:embed="rId6">
            <a:alphaModFix/>
          </a:blip>
          <a:srcRect b="0" l="0" r="0" t="0"/>
          <a:stretch/>
        </p:blipFill>
        <p:spPr>
          <a:xfrm>
            <a:off x="771525" y="638175"/>
            <a:ext cx="266700" cy="419100"/>
          </a:xfrm>
          <a:prstGeom prst="rect">
            <a:avLst/>
          </a:prstGeom>
          <a:noFill/>
          <a:ln>
            <a:noFill/>
          </a:ln>
        </p:spPr>
      </p:pic>
      <p:sp>
        <p:nvSpPr>
          <p:cNvPr id="886" name="Google Shape;886;p57"/>
          <p:cNvSpPr txBox="1"/>
          <p:nvPr/>
        </p:nvSpPr>
        <p:spPr>
          <a:xfrm>
            <a:off x="1114425" y="201930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When to Use</a:t>
            </a:r>
            <a:endParaRPr/>
          </a:p>
        </p:txBody>
      </p:sp>
      <p:sp>
        <p:nvSpPr>
          <p:cNvPr id="887" name="Google Shape;887;p57"/>
          <p:cNvSpPr txBox="1"/>
          <p:nvPr/>
        </p:nvSpPr>
        <p:spPr>
          <a:xfrm>
            <a:off x="1114425" y="2505075"/>
            <a:ext cx="4400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absolute, undeniable accuracy on complex domain knowledge is required.</a:t>
            </a:r>
            <a:endParaRPr/>
          </a:p>
        </p:txBody>
      </p:sp>
      <p:sp>
        <p:nvSpPr>
          <p:cNvPr id="888" name="Google Shape;888;p57"/>
          <p:cNvSpPr txBox="1"/>
          <p:nvPr/>
        </p:nvSpPr>
        <p:spPr>
          <a:xfrm>
            <a:off x="6677025" y="201930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9E0B"/>
                </a:solidFill>
                <a:latin typeface="Space Grotesk"/>
                <a:ea typeface="Space Grotesk"/>
                <a:cs typeface="Space Grotesk"/>
                <a:sym typeface="Space Grotesk"/>
              </a:rPr>
              <a:t>When to Avoid</a:t>
            </a:r>
            <a:endParaRPr/>
          </a:p>
        </p:txBody>
      </p:sp>
      <p:sp>
        <p:nvSpPr>
          <p:cNvPr id="889" name="Google Shape;889;p57"/>
          <p:cNvSpPr txBox="1"/>
          <p:nvPr/>
        </p:nvSpPr>
        <p:spPr>
          <a:xfrm>
            <a:off x="6677025" y="2505075"/>
            <a:ext cx="44007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speed is prioritized over deep reasoning.</a:t>
            </a:r>
            <a:endParaRPr/>
          </a:p>
        </p:txBody>
      </p:sp>
      <p:sp>
        <p:nvSpPr>
          <p:cNvPr id="890" name="Google Shape;890;p57"/>
          <p:cNvSpPr txBox="1"/>
          <p:nvPr/>
        </p:nvSpPr>
        <p:spPr>
          <a:xfrm>
            <a:off x="1543050" y="330517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Legal Audits</a:t>
            </a:r>
            <a:endParaRPr/>
          </a:p>
        </p:txBody>
      </p:sp>
      <p:sp>
        <p:nvSpPr>
          <p:cNvPr id="891" name="Google Shape;891;p57"/>
          <p:cNvSpPr txBox="1"/>
          <p:nvPr/>
        </p:nvSpPr>
        <p:spPr>
          <a:xfrm>
            <a:off x="1543050" y="378142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Medical Records Analysis</a:t>
            </a:r>
            <a:endParaRPr/>
          </a:p>
        </p:txBody>
      </p:sp>
      <p:sp>
        <p:nvSpPr>
          <p:cNvPr id="892" name="Google Shape;892;p57"/>
          <p:cNvSpPr txBox="1"/>
          <p:nvPr/>
        </p:nvSpPr>
        <p:spPr>
          <a:xfrm>
            <a:off x="1543050" y="425767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Strict Financial Compliance</a:t>
            </a:r>
            <a:endParaRPr/>
          </a:p>
        </p:txBody>
      </p:sp>
      <p:sp>
        <p:nvSpPr>
          <p:cNvPr id="893" name="Google Shape;893;p57"/>
          <p:cNvSpPr txBox="1"/>
          <p:nvPr/>
        </p:nvSpPr>
        <p:spPr>
          <a:xfrm>
            <a:off x="7105650" y="300037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Customer Service Chatbots</a:t>
            </a:r>
            <a:endParaRPr/>
          </a:p>
        </p:txBody>
      </p:sp>
      <p:sp>
        <p:nvSpPr>
          <p:cNvPr id="894" name="Google Shape;894;p57"/>
          <p:cNvSpPr txBox="1"/>
          <p:nvPr/>
        </p:nvSpPr>
        <p:spPr>
          <a:xfrm>
            <a:off x="7105650" y="347662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Basic FAQ Search</a:t>
            </a:r>
            <a:endParaRPr/>
          </a:p>
        </p:txBody>
      </p:sp>
      <p:sp>
        <p:nvSpPr>
          <p:cNvPr id="895" name="Google Shape;895;p57"/>
          <p:cNvSpPr txBox="1"/>
          <p:nvPr/>
        </p:nvSpPr>
        <p:spPr>
          <a:xfrm>
            <a:off x="7105650" y="3952875"/>
            <a:ext cx="39720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E-commerce Product Discovery</a:t>
            </a:r>
            <a:endParaRPr/>
          </a:p>
        </p:txBody>
      </p:sp>
      <p:pic>
        <p:nvPicPr>
          <p:cNvPr descr="image.png" id="896" name="Google Shape;896;p57"/>
          <p:cNvPicPr preferRelativeResize="0"/>
          <p:nvPr/>
        </p:nvPicPr>
        <p:blipFill rotWithShape="1">
          <a:blip r:embed="rId7">
            <a:alphaModFix/>
          </a:blip>
          <a:srcRect b="0" l="0" r="0" t="0"/>
          <a:stretch/>
        </p:blipFill>
        <p:spPr>
          <a:xfrm>
            <a:off x="1114425" y="3343275"/>
            <a:ext cx="200025" cy="247650"/>
          </a:xfrm>
          <a:prstGeom prst="rect">
            <a:avLst/>
          </a:prstGeom>
          <a:noFill/>
          <a:ln>
            <a:noFill/>
          </a:ln>
        </p:spPr>
      </p:pic>
      <p:pic>
        <p:nvPicPr>
          <p:cNvPr descr="image.png" id="897" name="Google Shape;897;p57"/>
          <p:cNvPicPr preferRelativeResize="0"/>
          <p:nvPr/>
        </p:nvPicPr>
        <p:blipFill rotWithShape="1">
          <a:blip r:embed="rId7">
            <a:alphaModFix/>
          </a:blip>
          <a:srcRect b="0" l="0" r="0" t="0"/>
          <a:stretch/>
        </p:blipFill>
        <p:spPr>
          <a:xfrm>
            <a:off x="1114425" y="3819525"/>
            <a:ext cx="200025" cy="247650"/>
          </a:xfrm>
          <a:prstGeom prst="rect">
            <a:avLst/>
          </a:prstGeom>
          <a:noFill/>
          <a:ln>
            <a:noFill/>
          </a:ln>
        </p:spPr>
      </p:pic>
      <p:pic>
        <p:nvPicPr>
          <p:cNvPr descr="image.png" id="898" name="Google Shape;898;p57"/>
          <p:cNvPicPr preferRelativeResize="0"/>
          <p:nvPr/>
        </p:nvPicPr>
        <p:blipFill rotWithShape="1">
          <a:blip r:embed="rId7">
            <a:alphaModFix/>
          </a:blip>
          <a:srcRect b="0" l="0" r="0" t="0"/>
          <a:stretch/>
        </p:blipFill>
        <p:spPr>
          <a:xfrm>
            <a:off x="1114425" y="4295775"/>
            <a:ext cx="200025" cy="247650"/>
          </a:xfrm>
          <a:prstGeom prst="rect">
            <a:avLst/>
          </a:prstGeom>
          <a:noFill/>
          <a:ln>
            <a:noFill/>
          </a:ln>
        </p:spPr>
      </p:pic>
      <p:pic>
        <p:nvPicPr>
          <p:cNvPr descr="image.png" id="899" name="Google Shape;899;p57"/>
          <p:cNvPicPr preferRelativeResize="0"/>
          <p:nvPr/>
        </p:nvPicPr>
        <p:blipFill rotWithShape="1">
          <a:blip r:embed="rId8">
            <a:alphaModFix/>
          </a:blip>
          <a:srcRect b="0" l="0" r="0" t="0"/>
          <a:stretch/>
        </p:blipFill>
        <p:spPr>
          <a:xfrm>
            <a:off x="6677025" y="3038475"/>
            <a:ext cx="171450" cy="247650"/>
          </a:xfrm>
          <a:prstGeom prst="rect">
            <a:avLst/>
          </a:prstGeom>
          <a:noFill/>
          <a:ln>
            <a:noFill/>
          </a:ln>
        </p:spPr>
      </p:pic>
      <p:pic>
        <p:nvPicPr>
          <p:cNvPr descr="image.png" id="900" name="Google Shape;900;p57"/>
          <p:cNvPicPr preferRelativeResize="0"/>
          <p:nvPr/>
        </p:nvPicPr>
        <p:blipFill rotWithShape="1">
          <a:blip r:embed="rId8">
            <a:alphaModFix/>
          </a:blip>
          <a:srcRect b="0" l="0" r="0" t="0"/>
          <a:stretch/>
        </p:blipFill>
        <p:spPr>
          <a:xfrm>
            <a:off x="6677025" y="3514725"/>
            <a:ext cx="171450" cy="247650"/>
          </a:xfrm>
          <a:prstGeom prst="rect">
            <a:avLst/>
          </a:prstGeom>
          <a:noFill/>
          <a:ln>
            <a:noFill/>
          </a:ln>
        </p:spPr>
      </p:pic>
      <p:pic>
        <p:nvPicPr>
          <p:cNvPr descr="image.png" id="901" name="Google Shape;901;p57"/>
          <p:cNvPicPr preferRelativeResize="0"/>
          <p:nvPr/>
        </p:nvPicPr>
        <p:blipFill rotWithShape="1">
          <a:blip r:embed="rId8">
            <a:alphaModFix/>
          </a:blip>
          <a:srcRect b="0" l="0" r="0" t="0"/>
          <a:stretch/>
        </p:blipFill>
        <p:spPr>
          <a:xfrm>
            <a:off x="6677025" y="3990975"/>
            <a:ext cx="171450" cy="247650"/>
          </a:xfrm>
          <a:prstGeom prst="rect">
            <a:avLst/>
          </a:prstGeom>
          <a:noFill/>
          <a:ln>
            <a:noFill/>
          </a:ln>
        </p:spPr>
      </p:pic>
      <p:sp>
        <p:nvSpPr>
          <p:cNvPr id="902" name="Google Shape;902;p57"/>
          <p:cNvSpPr txBox="1"/>
          <p:nvPr/>
        </p:nvSpPr>
        <p:spPr>
          <a:xfrm>
            <a:off x="1181100" y="581025"/>
            <a:ext cx="1075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When to </a:t>
            </a:r>
            <a:r>
              <a:rPr b="0" i="0" lang="en-US" sz="3300" u="none" cap="none" strike="noStrike">
                <a:solidFill>
                  <a:srgbClr val="14B8A6"/>
                </a:solidFill>
                <a:latin typeface="Space Grotesk"/>
                <a:ea typeface="Space Grotesk"/>
                <a:cs typeface="Space Grotesk"/>
                <a:sym typeface="Space Grotesk"/>
              </a:rPr>
              <a:t>Deploy</a:t>
            </a:r>
            <a:endParaRPr/>
          </a:p>
        </p:txBody>
      </p:sp>
      <p:sp>
        <p:nvSpPr>
          <p:cNvPr id="903" name="Google Shape;903;p57"/>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04" name="Google Shape;904;p57"/>
          <p:cNvPicPr preferRelativeResize="0"/>
          <p:nvPr/>
        </p:nvPicPr>
        <p:blipFill>
          <a:blip r:embed="rId9">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8" name="Shape 908"/>
        <p:cNvGrpSpPr/>
        <p:nvPr/>
      </p:nvGrpSpPr>
      <p:grpSpPr>
        <a:xfrm>
          <a:off x="0" y="0"/>
          <a:ext cx="0" cy="0"/>
          <a:chOff x="0" y="0"/>
          <a:chExt cx="0" cy="0"/>
        </a:xfrm>
      </p:grpSpPr>
      <p:pic>
        <p:nvPicPr>
          <p:cNvPr descr="image.png" id="909" name="Google Shape;909;p5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10" name="Google Shape;910;p58"/>
          <p:cNvPicPr preferRelativeResize="0"/>
          <p:nvPr/>
        </p:nvPicPr>
        <p:blipFill rotWithShape="1">
          <a:blip r:embed="rId4">
            <a:alphaModFix/>
          </a:blip>
          <a:srcRect b="0" l="0" r="0" t="0"/>
          <a:stretch/>
        </p:blipFill>
        <p:spPr>
          <a:xfrm>
            <a:off x="7351365" y="1647825"/>
            <a:ext cx="4069109" cy="4629150"/>
          </a:xfrm>
          <a:prstGeom prst="rect">
            <a:avLst/>
          </a:prstGeom>
          <a:noFill/>
          <a:ln>
            <a:noFill/>
          </a:ln>
        </p:spPr>
      </p:pic>
      <p:pic>
        <p:nvPicPr>
          <p:cNvPr descr="image.png" id="911" name="Google Shape;911;p58"/>
          <p:cNvPicPr preferRelativeResize="0"/>
          <p:nvPr/>
        </p:nvPicPr>
        <p:blipFill rotWithShape="1">
          <a:blip r:embed="rId5">
            <a:alphaModFix/>
          </a:blip>
          <a:srcRect b="0" l="0" r="0" t="0"/>
          <a:stretch/>
        </p:blipFill>
        <p:spPr>
          <a:xfrm>
            <a:off x="7694265" y="2314575"/>
            <a:ext cx="3044874" cy="1171575"/>
          </a:xfrm>
          <a:prstGeom prst="rect">
            <a:avLst/>
          </a:prstGeom>
          <a:noFill/>
          <a:ln>
            <a:noFill/>
          </a:ln>
        </p:spPr>
      </p:pic>
      <p:pic>
        <p:nvPicPr>
          <p:cNvPr descr="image.png" id="912" name="Google Shape;912;p58"/>
          <p:cNvPicPr preferRelativeResize="0"/>
          <p:nvPr/>
        </p:nvPicPr>
        <p:blipFill rotWithShape="1">
          <a:blip r:embed="rId6">
            <a:alphaModFix/>
          </a:blip>
          <a:srcRect b="0" l="0" r="0" t="0"/>
          <a:stretch/>
        </p:blipFill>
        <p:spPr>
          <a:xfrm>
            <a:off x="8032700" y="4019550"/>
            <a:ext cx="3044874" cy="914400"/>
          </a:xfrm>
          <a:prstGeom prst="rect">
            <a:avLst/>
          </a:prstGeom>
          <a:noFill/>
          <a:ln>
            <a:noFill/>
          </a:ln>
        </p:spPr>
      </p:pic>
      <p:pic>
        <p:nvPicPr>
          <p:cNvPr descr="image.png" id="913" name="Google Shape;913;p58"/>
          <p:cNvPicPr preferRelativeResize="0"/>
          <p:nvPr/>
        </p:nvPicPr>
        <p:blipFill rotWithShape="1">
          <a:blip r:embed="rId7">
            <a:alphaModFix/>
          </a:blip>
          <a:srcRect b="0" l="0" r="0" t="0"/>
          <a:stretch/>
        </p:blipFill>
        <p:spPr>
          <a:xfrm>
            <a:off x="771525" y="638175"/>
            <a:ext cx="523875" cy="419100"/>
          </a:xfrm>
          <a:prstGeom prst="rect">
            <a:avLst/>
          </a:prstGeom>
          <a:noFill/>
          <a:ln>
            <a:noFill/>
          </a:ln>
        </p:spPr>
      </p:pic>
      <p:sp>
        <p:nvSpPr>
          <p:cNvPr id="914" name="Google Shape;914;p58"/>
          <p:cNvSpPr txBox="1"/>
          <p:nvPr/>
        </p:nvSpPr>
        <p:spPr>
          <a:xfrm>
            <a:off x="771525" y="2814637"/>
            <a:ext cx="64089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Questions vs. Answers</a:t>
            </a:r>
            <a:endParaRPr/>
          </a:p>
        </p:txBody>
      </p:sp>
      <p:sp>
        <p:nvSpPr>
          <p:cNvPr id="915" name="Google Shape;915;p58"/>
          <p:cNvSpPr txBox="1"/>
          <p:nvPr/>
        </p:nvSpPr>
        <p:spPr>
          <a:xfrm>
            <a:off x="771525" y="3300412"/>
            <a:ext cx="61035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As an MLOps engineer, you must understand the fundamental difference between the geometry of a Question and the geometry of an Answer.</a:t>
            </a:r>
            <a:endParaRPr/>
          </a:p>
        </p:txBody>
      </p:sp>
      <p:sp>
        <p:nvSpPr>
          <p:cNvPr id="916" name="Google Shape;916;p58"/>
          <p:cNvSpPr txBox="1"/>
          <p:nvPr/>
        </p:nvSpPr>
        <p:spPr>
          <a:xfrm>
            <a:off x="771525" y="4357687"/>
            <a:ext cx="6103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In a standard FAISS database, your chunks are </a:t>
            </a:r>
            <a:r>
              <a:rPr b="1" i="0" lang="en-US" sz="1500" u="none" cap="none" strike="noStrike">
                <a:solidFill>
                  <a:srgbClr val="CBD5E1"/>
                </a:solidFill>
                <a:latin typeface="Plus Jakarta Sans"/>
                <a:ea typeface="Plus Jakarta Sans"/>
                <a:cs typeface="Plus Jakarta Sans"/>
                <a:sym typeface="Plus Jakarta Sans"/>
              </a:rPr>
              <a:t>declarative</a:t>
            </a:r>
            <a:r>
              <a:rPr b="0" i="0" lang="en-US" sz="1500" u="none" cap="none" strike="noStrike">
                <a:solidFill>
                  <a:srgbClr val="CBD5E1"/>
                </a:solidFill>
                <a:latin typeface="Plus Jakarta Sans"/>
                <a:ea typeface="Plus Jakarta Sans"/>
                <a:cs typeface="Plus Jakarta Sans"/>
                <a:sym typeface="Plus Jakarta Sans"/>
              </a:rPr>
              <a:t> statements. Your user's prompt is </a:t>
            </a:r>
            <a:r>
              <a:rPr b="1" i="0" lang="en-US" sz="1500" u="none" cap="none" strike="noStrike">
                <a:solidFill>
                  <a:srgbClr val="CBD5E1"/>
                </a:solidFill>
                <a:latin typeface="Plus Jakarta Sans"/>
                <a:ea typeface="Plus Jakarta Sans"/>
                <a:cs typeface="Plus Jakarta Sans"/>
                <a:sym typeface="Plus Jakarta Sans"/>
              </a:rPr>
              <a:t>interrogative</a:t>
            </a:r>
            <a:r>
              <a:rPr b="0" i="0" lang="en-US" sz="1500" u="none" cap="none" strike="noStrike">
                <a:solidFill>
                  <a:srgbClr val="CBD5E1"/>
                </a:solidFill>
                <a:latin typeface="Plus Jakarta Sans"/>
                <a:ea typeface="Plus Jakarta Sans"/>
                <a:cs typeface="Plus Jakarta Sans"/>
                <a:sym typeface="Plus Jakarta Sans"/>
              </a:rPr>
              <a:t>.</a:t>
            </a:r>
            <a:endParaRPr/>
          </a:p>
        </p:txBody>
      </p:sp>
      <p:sp>
        <p:nvSpPr>
          <p:cNvPr id="917" name="Google Shape;917;p58"/>
          <p:cNvSpPr txBox="1"/>
          <p:nvPr/>
        </p:nvSpPr>
        <p:spPr>
          <a:xfrm>
            <a:off x="7694265" y="2019300"/>
            <a:ext cx="3552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43F5E"/>
                </a:solidFill>
                <a:latin typeface="Space Grotesk"/>
                <a:ea typeface="Space Grotesk"/>
                <a:cs typeface="Space Grotesk"/>
                <a:sym typeface="Space Grotesk"/>
              </a:rPr>
              <a:t>The Document (Declarative)</a:t>
            </a:r>
            <a:endParaRPr/>
          </a:p>
        </p:txBody>
      </p:sp>
      <p:sp>
        <p:nvSpPr>
          <p:cNvPr id="918" name="Google Shape;918;p58"/>
          <p:cNvSpPr txBox="1"/>
          <p:nvPr/>
        </p:nvSpPr>
        <p:spPr>
          <a:xfrm>
            <a:off x="7694265" y="3724275"/>
            <a:ext cx="3552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6366F1"/>
                </a:solidFill>
                <a:latin typeface="Space Grotesk"/>
                <a:ea typeface="Space Grotesk"/>
                <a:cs typeface="Space Grotesk"/>
                <a:sym typeface="Space Grotesk"/>
              </a:rPr>
              <a:t>The Prompt (Interrogative)</a:t>
            </a:r>
            <a:endParaRPr/>
          </a:p>
        </p:txBody>
      </p:sp>
      <p:sp>
        <p:nvSpPr>
          <p:cNvPr id="919" name="Google Shape;919;p58"/>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Semantic Gap</a:t>
            </a:r>
            <a:endParaRPr/>
          </a:p>
        </p:txBody>
      </p:sp>
      <p:sp>
        <p:nvSpPr>
          <p:cNvPr id="920" name="Google Shape;920;p58"/>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21" name="Google Shape;921;p58"/>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25" name="Shape 925"/>
        <p:cNvGrpSpPr/>
        <p:nvPr/>
      </p:nvGrpSpPr>
      <p:grpSpPr>
        <a:xfrm>
          <a:off x="0" y="0"/>
          <a:ext cx="0" cy="0"/>
          <a:chOff x="0" y="0"/>
          <a:chExt cx="0" cy="0"/>
        </a:xfrm>
      </p:grpSpPr>
      <p:pic>
        <p:nvPicPr>
          <p:cNvPr descr="image.png" id="926" name="Google Shape;926;p5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7" name="Google Shape;927;p59"/>
          <p:cNvPicPr preferRelativeResize="0"/>
          <p:nvPr/>
        </p:nvPicPr>
        <p:blipFill rotWithShape="1">
          <a:blip r:embed="rId4">
            <a:alphaModFix/>
          </a:blip>
          <a:srcRect b="0" l="0" r="0" t="0"/>
          <a:stretch/>
        </p:blipFill>
        <p:spPr>
          <a:xfrm>
            <a:off x="6334125" y="1647825"/>
            <a:ext cx="5086351" cy="4629150"/>
          </a:xfrm>
          <a:prstGeom prst="rect">
            <a:avLst/>
          </a:prstGeom>
          <a:noFill/>
          <a:ln>
            <a:noFill/>
          </a:ln>
        </p:spPr>
      </p:pic>
      <p:pic>
        <p:nvPicPr>
          <p:cNvPr descr="image.png" id="928" name="Google Shape;928;p59"/>
          <p:cNvPicPr preferRelativeResize="0"/>
          <p:nvPr/>
        </p:nvPicPr>
        <p:blipFill rotWithShape="1">
          <a:blip r:embed="rId5">
            <a:alphaModFix/>
          </a:blip>
          <a:srcRect b="0" l="0" r="0" t="0"/>
          <a:stretch/>
        </p:blipFill>
        <p:spPr>
          <a:xfrm>
            <a:off x="771525" y="638175"/>
            <a:ext cx="476250" cy="419100"/>
          </a:xfrm>
          <a:prstGeom prst="rect">
            <a:avLst/>
          </a:prstGeom>
          <a:noFill/>
          <a:ln>
            <a:noFill/>
          </a:ln>
        </p:spPr>
      </p:pic>
      <p:sp>
        <p:nvSpPr>
          <p:cNvPr id="929" name="Google Shape;929;p59"/>
          <p:cNvSpPr txBox="1"/>
          <p:nvPr/>
        </p:nvSpPr>
        <p:spPr>
          <a:xfrm>
            <a:off x="771525" y="2486025"/>
            <a:ext cx="534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Different Neighborhoods</a:t>
            </a:r>
            <a:endParaRPr/>
          </a:p>
        </p:txBody>
      </p:sp>
      <p:sp>
        <p:nvSpPr>
          <p:cNvPr id="930" name="Google Shape;930;p59"/>
          <p:cNvSpPr txBox="1"/>
          <p:nvPr/>
        </p:nvSpPr>
        <p:spPr>
          <a:xfrm>
            <a:off x="771525" y="2971800"/>
            <a:ext cx="50865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Because embedding models map meaning and grammar, a short, interrogative question does not always mathematically align with a long, highly descriptive paragraph.</a:t>
            </a:r>
            <a:endParaRPr/>
          </a:p>
        </p:txBody>
      </p:sp>
      <p:sp>
        <p:nvSpPr>
          <p:cNvPr id="931" name="Google Shape;931;p59"/>
          <p:cNvSpPr txBox="1"/>
          <p:nvPr/>
        </p:nvSpPr>
        <p:spPr>
          <a:xfrm>
            <a:off x="771525" y="4381500"/>
            <a:ext cx="50865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59E0B"/>
                </a:solidFill>
                <a:latin typeface="Plus Jakarta Sans"/>
                <a:ea typeface="Plus Jakarta Sans"/>
                <a:cs typeface="Plus Jakarta Sans"/>
                <a:sym typeface="Plus Jakarta Sans"/>
              </a:rPr>
              <a:t>The Fall Short:</a:t>
            </a:r>
            <a:r>
              <a:rPr b="0" i="0" lang="en-US" sz="1500" u="none" cap="none" strike="noStrike">
                <a:solidFill>
                  <a:srgbClr val="F59E0B"/>
                </a:solidFill>
                <a:latin typeface="Plus Jakarta Sans"/>
                <a:ea typeface="Plus Jakarta Sans"/>
                <a:cs typeface="Plus Jakarta Sans"/>
                <a:sym typeface="Plus Jakarta Sans"/>
              </a:rPr>
              <a:t> They exist in slightly different semantic "neighborhoods" within the 768-dimensional hypersphere.</a:t>
            </a:r>
            <a:endParaRPr/>
          </a:p>
        </p:txBody>
      </p:sp>
      <p:pic>
        <p:nvPicPr>
          <p:cNvPr descr="image.png" id="932" name="Google Shape;932;p59"/>
          <p:cNvPicPr preferRelativeResize="0"/>
          <p:nvPr/>
        </p:nvPicPr>
        <p:blipFill rotWithShape="1">
          <a:blip r:embed="rId6">
            <a:alphaModFix/>
          </a:blip>
          <a:srcRect b="0" l="0" r="0" t="0"/>
          <a:stretch/>
        </p:blipFill>
        <p:spPr>
          <a:xfrm>
            <a:off x="8448675" y="2800350"/>
            <a:ext cx="857250" cy="762000"/>
          </a:xfrm>
          <a:prstGeom prst="rect">
            <a:avLst/>
          </a:prstGeom>
          <a:noFill/>
          <a:ln>
            <a:noFill/>
          </a:ln>
        </p:spPr>
      </p:pic>
      <p:sp>
        <p:nvSpPr>
          <p:cNvPr id="933" name="Google Shape;933;p59"/>
          <p:cNvSpPr txBox="1"/>
          <p:nvPr/>
        </p:nvSpPr>
        <p:spPr>
          <a:xfrm>
            <a:off x="8327231" y="3752850"/>
            <a:ext cx="11001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59E0B"/>
                </a:solidFill>
                <a:latin typeface="Space Grotesk"/>
                <a:ea typeface="Space Grotesk"/>
                <a:cs typeface="Space Grotesk"/>
                <a:sym typeface="Space Grotesk"/>
              </a:rPr>
              <a:t>The Void</a:t>
            </a:r>
            <a:endParaRPr/>
          </a:p>
        </p:txBody>
      </p:sp>
      <p:sp>
        <p:nvSpPr>
          <p:cNvPr id="934" name="Google Shape;934;p59"/>
          <p:cNvSpPr txBox="1"/>
          <p:nvPr/>
        </p:nvSpPr>
        <p:spPr>
          <a:xfrm>
            <a:off x="6724650" y="4238625"/>
            <a:ext cx="4305300" cy="133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If the user's question is too short or vaguely worded, its vector will fall short of the target document, landing in the empty "semantic gap."</a:t>
            </a:r>
            <a:endParaRPr/>
          </a:p>
        </p:txBody>
      </p:sp>
      <p:sp>
        <p:nvSpPr>
          <p:cNvPr id="935" name="Google Shape;935;p59"/>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Geometric </a:t>
            </a:r>
            <a:r>
              <a:rPr b="0" i="0" lang="en-US" sz="3300" u="none" cap="none" strike="noStrike">
                <a:solidFill>
                  <a:srgbClr val="14B8A6"/>
                </a:solidFill>
                <a:latin typeface="Space Grotesk"/>
                <a:ea typeface="Space Grotesk"/>
                <a:cs typeface="Space Grotesk"/>
                <a:sym typeface="Space Grotesk"/>
              </a:rPr>
              <a:t>Mismatch</a:t>
            </a:r>
            <a:endParaRPr/>
          </a:p>
        </p:txBody>
      </p:sp>
      <p:sp>
        <p:nvSpPr>
          <p:cNvPr id="936" name="Google Shape;936;p59"/>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37" name="Google Shape;937;p59"/>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41" name="Shape 941"/>
        <p:cNvGrpSpPr/>
        <p:nvPr/>
      </p:nvGrpSpPr>
      <p:grpSpPr>
        <a:xfrm>
          <a:off x="0" y="0"/>
          <a:ext cx="0" cy="0"/>
          <a:chOff x="0" y="0"/>
          <a:chExt cx="0" cy="0"/>
        </a:xfrm>
      </p:grpSpPr>
      <p:pic>
        <p:nvPicPr>
          <p:cNvPr descr="image.png" id="942" name="Google Shape;942;p6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3" name="Google Shape;943;p60"/>
          <p:cNvPicPr preferRelativeResize="0"/>
          <p:nvPr/>
        </p:nvPicPr>
        <p:blipFill rotWithShape="1">
          <a:blip r:embed="rId4">
            <a:alphaModFix/>
          </a:blip>
          <a:srcRect b="0" l="0" r="0" t="0"/>
          <a:stretch/>
        </p:blipFill>
        <p:spPr>
          <a:xfrm>
            <a:off x="771525" y="1647825"/>
            <a:ext cx="4068960" cy="4629150"/>
          </a:xfrm>
          <a:prstGeom prst="rect">
            <a:avLst/>
          </a:prstGeom>
          <a:noFill/>
          <a:ln>
            <a:noFill/>
          </a:ln>
        </p:spPr>
      </p:pic>
      <p:pic>
        <p:nvPicPr>
          <p:cNvPr descr="image.png" id="944" name="Google Shape;944;p60"/>
          <p:cNvPicPr preferRelativeResize="0"/>
          <p:nvPr/>
        </p:nvPicPr>
        <p:blipFill rotWithShape="1">
          <a:blip r:embed="rId5">
            <a:alphaModFix/>
          </a:blip>
          <a:srcRect b="0" l="0" r="0" t="0"/>
          <a:stretch/>
        </p:blipFill>
        <p:spPr>
          <a:xfrm>
            <a:off x="771525" y="638175"/>
            <a:ext cx="371475" cy="419100"/>
          </a:xfrm>
          <a:prstGeom prst="rect">
            <a:avLst/>
          </a:prstGeom>
          <a:noFill/>
          <a:ln>
            <a:noFill/>
          </a:ln>
        </p:spPr>
      </p:pic>
      <p:pic>
        <p:nvPicPr>
          <p:cNvPr descr="image.png" id="945" name="Google Shape;945;p60"/>
          <p:cNvPicPr preferRelativeResize="0"/>
          <p:nvPr/>
        </p:nvPicPr>
        <p:blipFill rotWithShape="1">
          <a:blip r:embed="rId6">
            <a:alphaModFix/>
          </a:blip>
          <a:srcRect b="0" l="0" r="0" t="0"/>
          <a:stretch/>
        </p:blipFill>
        <p:spPr>
          <a:xfrm>
            <a:off x="2520255" y="3105150"/>
            <a:ext cx="571500" cy="762000"/>
          </a:xfrm>
          <a:prstGeom prst="rect">
            <a:avLst/>
          </a:prstGeom>
          <a:noFill/>
          <a:ln>
            <a:noFill/>
          </a:ln>
        </p:spPr>
      </p:pic>
      <p:sp>
        <p:nvSpPr>
          <p:cNvPr id="946" name="Google Shape;946;p60"/>
          <p:cNvSpPr txBox="1"/>
          <p:nvPr/>
        </p:nvSpPr>
        <p:spPr>
          <a:xfrm>
            <a:off x="2158424" y="4057650"/>
            <a:ext cx="12951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Late 2022</a:t>
            </a:r>
            <a:endParaRPr/>
          </a:p>
        </p:txBody>
      </p:sp>
      <p:sp>
        <p:nvSpPr>
          <p:cNvPr id="947" name="Google Shape;947;p60"/>
          <p:cNvSpPr txBox="1"/>
          <p:nvPr/>
        </p:nvSpPr>
        <p:spPr>
          <a:xfrm>
            <a:off x="1139130" y="4543425"/>
            <a:ext cx="33339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Hypothetical Document Embeddings</a:t>
            </a:r>
            <a:endParaRPr/>
          </a:p>
        </p:txBody>
      </p:sp>
      <p:sp>
        <p:nvSpPr>
          <p:cNvPr id="948" name="Google Shape;948;p60"/>
          <p:cNvSpPr txBox="1"/>
          <p:nvPr/>
        </p:nvSpPr>
        <p:spPr>
          <a:xfrm>
            <a:off x="5316735" y="2314575"/>
            <a:ext cx="64089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Semantic Bridging</a:t>
            </a:r>
            <a:endParaRPr/>
          </a:p>
        </p:txBody>
      </p:sp>
      <p:sp>
        <p:nvSpPr>
          <p:cNvPr id="949" name="Google Shape;949;p60"/>
          <p:cNvSpPr txBox="1"/>
          <p:nvPr/>
        </p:nvSpPr>
        <p:spPr>
          <a:xfrm>
            <a:off x="5316735" y="2800350"/>
            <a:ext cx="6103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Researchers invented HyDE to build a bridge across the interrogative/declarative gap.</a:t>
            </a:r>
            <a:endParaRPr/>
          </a:p>
        </p:txBody>
      </p:sp>
      <p:sp>
        <p:nvSpPr>
          <p:cNvPr id="950" name="Google Shape;950;p60"/>
          <p:cNvSpPr txBox="1"/>
          <p:nvPr/>
        </p:nvSpPr>
        <p:spPr>
          <a:xfrm>
            <a:off x="5316735" y="3552825"/>
            <a:ext cx="61038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Instead of embedding the user's short question and hoping it reaches the document, </a:t>
            </a:r>
            <a:r>
              <a:rPr b="1" i="0" lang="en-US" sz="1500" u="none" cap="none" strike="noStrike">
                <a:solidFill>
                  <a:srgbClr val="CBD5E1"/>
                </a:solidFill>
                <a:latin typeface="Plus Jakarta Sans"/>
                <a:ea typeface="Plus Jakarta Sans"/>
                <a:cs typeface="Plus Jakarta Sans"/>
                <a:sym typeface="Plus Jakarta Sans"/>
              </a:rPr>
              <a:t>we force an LLM to generate the document we wish existed</a:t>
            </a:r>
            <a:r>
              <a:rPr b="0" i="0" lang="en-US" sz="1500" u="none" cap="none" strike="noStrike">
                <a:solidFill>
                  <a:srgbClr val="CBD5E1"/>
                </a:solidFill>
                <a:latin typeface="Plus Jakarta Sans"/>
                <a:ea typeface="Plus Jakarta Sans"/>
                <a:cs typeface="Plus Jakarta Sans"/>
                <a:sym typeface="Plus Jakarta Sans"/>
              </a:rPr>
              <a:t>, and we search using that!</a:t>
            </a:r>
            <a:endParaRPr/>
          </a:p>
        </p:txBody>
      </p:sp>
      <p:sp>
        <p:nvSpPr>
          <p:cNvPr id="951" name="Google Shape;951;p60"/>
          <p:cNvSpPr txBox="1"/>
          <p:nvPr/>
        </p:nvSpPr>
        <p:spPr>
          <a:xfrm>
            <a:off x="5745360" y="4657725"/>
            <a:ext cx="56751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We weaponize AI hallucination as a search tool.</a:t>
            </a:r>
            <a:endParaRPr/>
          </a:p>
        </p:txBody>
      </p:sp>
      <p:sp>
        <p:nvSpPr>
          <p:cNvPr id="952" name="Google Shape;952;p60"/>
          <p:cNvSpPr txBox="1"/>
          <p:nvPr/>
        </p:nvSpPr>
        <p:spPr>
          <a:xfrm>
            <a:off x="5745360" y="5133975"/>
            <a:ext cx="56751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We discard the user's prompt entirely during retrieval.</a:t>
            </a:r>
            <a:endParaRPr/>
          </a:p>
        </p:txBody>
      </p:sp>
      <p:pic>
        <p:nvPicPr>
          <p:cNvPr descr="image.png" id="953" name="Google Shape;953;p60"/>
          <p:cNvPicPr preferRelativeResize="0"/>
          <p:nvPr/>
        </p:nvPicPr>
        <p:blipFill rotWithShape="1">
          <a:blip r:embed="rId7">
            <a:alphaModFix/>
          </a:blip>
          <a:srcRect b="0" l="0" r="0" t="0"/>
          <a:stretch/>
        </p:blipFill>
        <p:spPr>
          <a:xfrm>
            <a:off x="5316735" y="4695825"/>
            <a:ext cx="200025" cy="247650"/>
          </a:xfrm>
          <a:prstGeom prst="rect">
            <a:avLst/>
          </a:prstGeom>
          <a:noFill/>
          <a:ln>
            <a:noFill/>
          </a:ln>
        </p:spPr>
      </p:pic>
      <p:pic>
        <p:nvPicPr>
          <p:cNvPr descr="image.png" id="954" name="Google Shape;954;p60"/>
          <p:cNvPicPr preferRelativeResize="0"/>
          <p:nvPr/>
        </p:nvPicPr>
        <p:blipFill rotWithShape="1">
          <a:blip r:embed="rId7">
            <a:alphaModFix/>
          </a:blip>
          <a:srcRect b="0" l="0" r="0" t="0"/>
          <a:stretch/>
        </p:blipFill>
        <p:spPr>
          <a:xfrm>
            <a:off x="5316735" y="5172075"/>
            <a:ext cx="200025" cy="247650"/>
          </a:xfrm>
          <a:prstGeom prst="rect">
            <a:avLst/>
          </a:prstGeom>
          <a:noFill/>
          <a:ln>
            <a:noFill/>
          </a:ln>
        </p:spPr>
      </p:pic>
      <p:sp>
        <p:nvSpPr>
          <p:cNvPr id="955" name="Google Shape;955;p60"/>
          <p:cNvSpPr txBox="1"/>
          <p:nvPr/>
        </p:nvSpPr>
        <p:spPr>
          <a:xfrm>
            <a:off x="1285875" y="581025"/>
            <a:ext cx="106413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HyDE</a:t>
            </a:r>
            <a:r>
              <a:rPr b="0" i="0" lang="en-US" sz="3300" u="none" cap="none" strike="noStrike">
                <a:solidFill>
                  <a:srgbClr val="F8FAFC"/>
                </a:solidFill>
                <a:latin typeface="Space Grotesk"/>
                <a:ea typeface="Space Grotesk"/>
                <a:cs typeface="Space Grotesk"/>
                <a:sym typeface="Space Grotesk"/>
              </a:rPr>
              <a:t> Breakthrough</a:t>
            </a:r>
            <a:endParaRPr/>
          </a:p>
        </p:txBody>
      </p:sp>
      <p:sp>
        <p:nvSpPr>
          <p:cNvPr id="956" name="Google Shape;956;p60"/>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57" name="Google Shape;957;p60"/>
          <p:cNvPicPr preferRelativeResize="0"/>
          <p:nvPr/>
        </p:nvPicPr>
        <p:blipFill>
          <a:blip r:embed="rId8">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61" name="Shape 961"/>
        <p:cNvGrpSpPr/>
        <p:nvPr/>
      </p:nvGrpSpPr>
      <p:grpSpPr>
        <a:xfrm>
          <a:off x="0" y="0"/>
          <a:ext cx="0" cy="0"/>
          <a:chOff x="0" y="0"/>
          <a:chExt cx="0" cy="0"/>
        </a:xfrm>
      </p:grpSpPr>
      <p:pic>
        <p:nvPicPr>
          <p:cNvPr descr="image.png" id="962" name="Google Shape;962;p6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3" name="Google Shape;963;p61"/>
          <p:cNvPicPr preferRelativeResize="0"/>
          <p:nvPr/>
        </p:nvPicPr>
        <p:blipFill rotWithShape="1">
          <a:blip r:embed="rId4">
            <a:alphaModFix/>
          </a:blip>
          <a:srcRect b="0" l="0" r="0" t="0"/>
          <a:stretch/>
        </p:blipFill>
        <p:spPr>
          <a:xfrm>
            <a:off x="771525" y="1647825"/>
            <a:ext cx="2262187" cy="4629150"/>
          </a:xfrm>
          <a:prstGeom prst="rect">
            <a:avLst/>
          </a:prstGeom>
          <a:noFill/>
          <a:ln>
            <a:noFill/>
          </a:ln>
        </p:spPr>
      </p:pic>
      <p:pic>
        <p:nvPicPr>
          <p:cNvPr descr="image.png" id="964" name="Google Shape;964;p61"/>
          <p:cNvPicPr preferRelativeResize="0"/>
          <p:nvPr/>
        </p:nvPicPr>
        <p:blipFill rotWithShape="1">
          <a:blip r:embed="rId5">
            <a:alphaModFix/>
          </a:blip>
          <a:srcRect b="0" l="0" r="0" t="0"/>
          <a:stretch/>
        </p:blipFill>
        <p:spPr>
          <a:xfrm>
            <a:off x="3567112" y="1647825"/>
            <a:ext cx="2262187" cy="4629150"/>
          </a:xfrm>
          <a:prstGeom prst="rect">
            <a:avLst/>
          </a:prstGeom>
          <a:noFill/>
          <a:ln>
            <a:noFill/>
          </a:ln>
        </p:spPr>
      </p:pic>
      <p:pic>
        <p:nvPicPr>
          <p:cNvPr descr="image.png" id="965" name="Google Shape;965;p61"/>
          <p:cNvPicPr preferRelativeResize="0"/>
          <p:nvPr/>
        </p:nvPicPr>
        <p:blipFill rotWithShape="1">
          <a:blip r:embed="rId6">
            <a:alphaModFix/>
          </a:blip>
          <a:srcRect b="0" l="0" r="0" t="0"/>
          <a:stretch/>
        </p:blipFill>
        <p:spPr>
          <a:xfrm>
            <a:off x="6362700" y="1647825"/>
            <a:ext cx="2262187" cy="4629150"/>
          </a:xfrm>
          <a:prstGeom prst="rect">
            <a:avLst/>
          </a:prstGeom>
          <a:noFill/>
          <a:ln>
            <a:noFill/>
          </a:ln>
        </p:spPr>
      </p:pic>
      <p:pic>
        <p:nvPicPr>
          <p:cNvPr descr="image.png" id="966" name="Google Shape;966;p61"/>
          <p:cNvPicPr preferRelativeResize="0"/>
          <p:nvPr/>
        </p:nvPicPr>
        <p:blipFill rotWithShape="1">
          <a:blip r:embed="rId7">
            <a:alphaModFix/>
          </a:blip>
          <a:srcRect b="0" l="0" r="0" t="0"/>
          <a:stretch/>
        </p:blipFill>
        <p:spPr>
          <a:xfrm>
            <a:off x="9158287" y="1647825"/>
            <a:ext cx="2262187" cy="4629150"/>
          </a:xfrm>
          <a:prstGeom prst="rect">
            <a:avLst/>
          </a:prstGeom>
          <a:noFill/>
          <a:ln>
            <a:noFill/>
          </a:ln>
        </p:spPr>
      </p:pic>
      <p:pic>
        <p:nvPicPr>
          <p:cNvPr descr="image.png" id="967" name="Google Shape;967;p61"/>
          <p:cNvPicPr preferRelativeResize="0"/>
          <p:nvPr/>
        </p:nvPicPr>
        <p:blipFill rotWithShape="1">
          <a:blip r:embed="rId8">
            <a:alphaModFix/>
          </a:blip>
          <a:srcRect b="0" l="0" r="0" t="0"/>
          <a:stretch/>
        </p:blipFill>
        <p:spPr>
          <a:xfrm>
            <a:off x="771525" y="638175"/>
            <a:ext cx="476250" cy="419100"/>
          </a:xfrm>
          <a:prstGeom prst="rect">
            <a:avLst/>
          </a:prstGeom>
          <a:noFill/>
          <a:ln>
            <a:noFill/>
          </a:ln>
        </p:spPr>
      </p:pic>
      <p:sp>
        <p:nvSpPr>
          <p:cNvPr id="968" name="Google Shape;968;p61"/>
          <p:cNvSpPr txBox="1"/>
          <p:nvPr/>
        </p:nvSpPr>
        <p:spPr>
          <a:xfrm>
            <a:off x="1019175" y="1924050"/>
            <a:ext cx="185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6366F1"/>
                </a:solidFill>
                <a:latin typeface="Space Grotesk"/>
                <a:ea typeface="Space Grotesk"/>
                <a:cs typeface="Space Grotesk"/>
                <a:sym typeface="Space Grotesk"/>
              </a:rPr>
              <a:t>1. Intercept</a:t>
            </a:r>
            <a:endParaRPr/>
          </a:p>
        </p:txBody>
      </p:sp>
      <p:sp>
        <p:nvSpPr>
          <p:cNvPr id="969" name="Google Shape;969;p61"/>
          <p:cNvSpPr txBox="1"/>
          <p:nvPr/>
        </p:nvSpPr>
        <p:spPr>
          <a:xfrm>
            <a:off x="1019175" y="2219325"/>
            <a:ext cx="1767000" cy="1071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The system intercepts the user's short question: </a:t>
            </a:r>
            <a:r>
              <a:rPr b="0" i="1" lang="en-US" sz="1200" u="none" cap="none" strike="noStrike">
                <a:solidFill>
                  <a:srgbClr val="CBD5E1"/>
                </a:solidFill>
                <a:latin typeface="Plus Jakarta Sans"/>
                <a:ea typeface="Plus Jakarta Sans"/>
                <a:cs typeface="Plus Jakarta Sans"/>
                <a:sym typeface="Plus Jakarta Sans"/>
              </a:rPr>
              <a:t>"Who approved the budget?"</a:t>
            </a:r>
            <a:endParaRPr/>
          </a:p>
        </p:txBody>
      </p:sp>
      <p:pic>
        <p:nvPicPr>
          <p:cNvPr descr="image.png" id="970" name="Google Shape;970;p61"/>
          <p:cNvPicPr preferRelativeResize="0"/>
          <p:nvPr/>
        </p:nvPicPr>
        <p:blipFill rotWithShape="1">
          <a:blip r:embed="rId9">
            <a:alphaModFix/>
          </a:blip>
          <a:srcRect b="0" l="0" r="0" t="0"/>
          <a:stretch/>
        </p:blipFill>
        <p:spPr>
          <a:xfrm>
            <a:off x="3176587" y="3819525"/>
            <a:ext cx="247650" cy="285750"/>
          </a:xfrm>
          <a:prstGeom prst="rect">
            <a:avLst/>
          </a:prstGeom>
          <a:noFill/>
          <a:ln>
            <a:noFill/>
          </a:ln>
        </p:spPr>
      </p:pic>
      <p:sp>
        <p:nvSpPr>
          <p:cNvPr id="971" name="Google Shape;971;p61"/>
          <p:cNvSpPr txBox="1"/>
          <p:nvPr/>
        </p:nvSpPr>
        <p:spPr>
          <a:xfrm>
            <a:off x="3814762" y="1924050"/>
            <a:ext cx="185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43F5E"/>
                </a:solidFill>
                <a:latin typeface="Space Grotesk"/>
                <a:ea typeface="Space Grotesk"/>
                <a:cs typeface="Space Grotesk"/>
                <a:sym typeface="Space Grotesk"/>
              </a:rPr>
              <a:t>2. Hallucinate</a:t>
            </a:r>
            <a:endParaRPr/>
          </a:p>
        </p:txBody>
      </p:sp>
      <p:sp>
        <p:nvSpPr>
          <p:cNvPr id="972" name="Google Shape;972;p61"/>
          <p:cNvSpPr txBox="1"/>
          <p:nvPr/>
        </p:nvSpPr>
        <p:spPr>
          <a:xfrm>
            <a:off x="3814762" y="2219325"/>
            <a:ext cx="1767000" cy="1366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A fast LLM is told: </a:t>
            </a:r>
            <a:r>
              <a:rPr b="0" i="1" lang="en-US" sz="1200" u="none" cap="none" strike="noStrike">
                <a:solidFill>
                  <a:srgbClr val="CBD5E1"/>
                </a:solidFill>
                <a:latin typeface="Plus Jakarta Sans"/>
                <a:ea typeface="Plus Jakarta Sans"/>
                <a:cs typeface="Plus Jakarta Sans"/>
                <a:sym typeface="Plus Jakarta Sans"/>
              </a:rPr>
              <a:t>"Write a hypothetical document answering this."</a:t>
            </a:r>
            <a:r>
              <a:rPr b="0" i="0" lang="en-US" sz="1200" u="none" cap="none" strike="noStrike">
                <a:solidFill>
                  <a:srgbClr val="CBD5E1"/>
                </a:solidFill>
                <a:latin typeface="Plus Jakarta Sans"/>
                <a:ea typeface="Plus Jakarta Sans"/>
                <a:cs typeface="Plus Jakarta Sans"/>
                <a:sym typeface="Plus Jakarta Sans"/>
              </a:rPr>
              <a:t> It makes up fake facts.</a:t>
            </a:r>
            <a:endParaRPr/>
          </a:p>
        </p:txBody>
      </p:sp>
      <p:pic>
        <p:nvPicPr>
          <p:cNvPr descr="image.png" id="973" name="Google Shape;973;p61"/>
          <p:cNvPicPr preferRelativeResize="0"/>
          <p:nvPr/>
        </p:nvPicPr>
        <p:blipFill rotWithShape="1">
          <a:blip r:embed="rId9">
            <a:alphaModFix/>
          </a:blip>
          <a:srcRect b="0" l="0" r="0" t="0"/>
          <a:stretch/>
        </p:blipFill>
        <p:spPr>
          <a:xfrm>
            <a:off x="5972175" y="3819525"/>
            <a:ext cx="247650" cy="285750"/>
          </a:xfrm>
          <a:prstGeom prst="rect">
            <a:avLst/>
          </a:prstGeom>
          <a:noFill/>
          <a:ln>
            <a:noFill/>
          </a:ln>
        </p:spPr>
      </p:pic>
      <p:sp>
        <p:nvSpPr>
          <p:cNvPr id="974" name="Google Shape;974;p61"/>
          <p:cNvSpPr txBox="1"/>
          <p:nvPr/>
        </p:nvSpPr>
        <p:spPr>
          <a:xfrm>
            <a:off x="6610350" y="1924050"/>
            <a:ext cx="185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59E0B"/>
                </a:solidFill>
                <a:latin typeface="Space Grotesk"/>
                <a:ea typeface="Space Grotesk"/>
                <a:cs typeface="Space Grotesk"/>
                <a:sym typeface="Space Grotesk"/>
              </a:rPr>
              <a:t>3. Embed</a:t>
            </a:r>
            <a:endParaRPr/>
          </a:p>
        </p:txBody>
      </p:sp>
      <p:sp>
        <p:nvSpPr>
          <p:cNvPr id="975" name="Google Shape;975;p61"/>
          <p:cNvSpPr txBox="1"/>
          <p:nvPr/>
        </p:nvSpPr>
        <p:spPr>
          <a:xfrm>
            <a:off x="6610350" y="2219325"/>
            <a:ext cx="1767000" cy="1071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We discard the user query. We embed the </a:t>
            </a:r>
            <a:r>
              <a:rPr b="1" i="0" lang="en-US" sz="1200" u="none" cap="none" strike="noStrike">
                <a:solidFill>
                  <a:srgbClr val="CBD5E1"/>
                </a:solidFill>
                <a:latin typeface="Plus Jakarta Sans"/>
                <a:ea typeface="Plus Jakarta Sans"/>
                <a:cs typeface="Plus Jakarta Sans"/>
                <a:sym typeface="Plus Jakarta Sans"/>
              </a:rPr>
              <a:t>Fake Document</a:t>
            </a:r>
            <a:r>
              <a:rPr b="0" i="0" lang="en-US" sz="1200" u="none" cap="none" strike="noStrike">
                <a:solidFill>
                  <a:srgbClr val="CBD5E1"/>
                </a:solidFill>
                <a:latin typeface="Plus Jakarta Sans"/>
                <a:ea typeface="Plus Jakarta Sans"/>
                <a:cs typeface="Plus Jakarta Sans"/>
                <a:sym typeface="Plus Jakarta Sans"/>
              </a:rPr>
              <a:t> into a 768D vector.</a:t>
            </a:r>
            <a:endParaRPr/>
          </a:p>
        </p:txBody>
      </p:sp>
      <p:pic>
        <p:nvPicPr>
          <p:cNvPr descr="image.png" id="976" name="Google Shape;976;p61"/>
          <p:cNvPicPr preferRelativeResize="0"/>
          <p:nvPr/>
        </p:nvPicPr>
        <p:blipFill rotWithShape="1">
          <a:blip r:embed="rId9">
            <a:alphaModFix/>
          </a:blip>
          <a:srcRect b="0" l="0" r="0" t="0"/>
          <a:stretch/>
        </p:blipFill>
        <p:spPr>
          <a:xfrm>
            <a:off x="8767762" y="3819525"/>
            <a:ext cx="247650" cy="285750"/>
          </a:xfrm>
          <a:prstGeom prst="rect">
            <a:avLst/>
          </a:prstGeom>
          <a:noFill/>
          <a:ln>
            <a:noFill/>
          </a:ln>
        </p:spPr>
      </p:pic>
      <p:sp>
        <p:nvSpPr>
          <p:cNvPr id="977" name="Google Shape;977;p61"/>
          <p:cNvSpPr txBox="1"/>
          <p:nvPr/>
        </p:nvSpPr>
        <p:spPr>
          <a:xfrm>
            <a:off x="9405937" y="1924050"/>
            <a:ext cx="185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4B8A6"/>
                </a:solidFill>
                <a:latin typeface="Space Grotesk"/>
                <a:ea typeface="Space Grotesk"/>
                <a:cs typeface="Space Grotesk"/>
                <a:sym typeface="Space Grotesk"/>
              </a:rPr>
              <a:t>4. Search</a:t>
            </a:r>
            <a:endParaRPr/>
          </a:p>
        </p:txBody>
      </p:sp>
      <p:sp>
        <p:nvSpPr>
          <p:cNvPr id="978" name="Google Shape;978;p61"/>
          <p:cNvSpPr txBox="1"/>
          <p:nvPr/>
        </p:nvSpPr>
        <p:spPr>
          <a:xfrm>
            <a:off x="9405937" y="2219325"/>
            <a:ext cx="1767000" cy="1366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We use the Fake Document Vector to search FAISS and retrieve the real documents.</a:t>
            </a:r>
            <a:endParaRPr/>
          </a:p>
        </p:txBody>
      </p:sp>
      <p:sp>
        <p:nvSpPr>
          <p:cNvPr id="979" name="Google Shape;979;p61"/>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4-Step </a:t>
            </a:r>
            <a:r>
              <a:rPr b="0" i="0" lang="en-US" sz="3300" u="none" cap="none" strike="noStrike">
                <a:solidFill>
                  <a:srgbClr val="14B8A6"/>
                </a:solidFill>
                <a:latin typeface="Space Grotesk"/>
                <a:ea typeface="Space Grotesk"/>
                <a:cs typeface="Space Grotesk"/>
                <a:sym typeface="Space Grotesk"/>
              </a:rPr>
              <a:t>Architecture</a:t>
            </a:r>
            <a:endParaRPr/>
          </a:p>
        </p:txBody>
      </p:sp>
      <p:sp>
        <p:nvSpPr>
          <p:cNvPr id="980" name="Google Shape;980;p61"/>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81" name="Google Shape;981;p61"/>
          <p:cNvPicPr preferRelativeResize="0"/>
          <p:nvPr/>
        </p:nvPicPr>
        <p:blipFill>
          <a:blip r:embed="rId10">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85" name="Shape 985"/>
        <p:cNvGrpSpPr/>
        <p:nvPr/>
      </p:nvGrpSpPr>
      <p:grpSpPr>
        <a:xfrm>
          <a:off x="0" y="0"/>
          <a:ext cx="0" cy="0"/>
          <a:chOff x="0" y="0"/>
          <a:chExt cx="0" cy="0"/>
        </a:xfrm>
      </p:grpSpPr>
      <p:pic>
        <p:nvPicPr>
          <p:cNvPr descr="image.png" id="986" name="Google Shape;986;p6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87" name="Google Shape;987;p62"/>
          <p:cNvPicPr preferRelativeResize="0"/>
          <p:nvPr/>
        </p:nvPicPr>
        <p:blipFill rotWithShape="1">
          <a:blip r:embed="rId4">
            <a:alphaModFix/>
          </a:blip>
          <a:srcRect b="0" l="0" r="0" t="0"/>
          <a:stretch/>
        </p:blipFill>
        <p:spPr>
          <a:xfrm>
            <a:off x="6334125" y="1647825"/>
            <a:ext cx="5086351" cy="4629150"/>
          </a:xfrm>
          <a:prstGeom prst="rect">
            <a:avLst/>
          </a:prstGeom>
          <a:noFill/>
          <a:ln>
            <a:noFill/>
          </a:ln>
        </p:spPr>
      </p:pic>
      <p:pic>
        <p:nvPicPr>
          <p:cNvPr descr="image.png" id="988" name="Google Shape;988;p62"/>
          <p:cNvPicPr preferRelativeResize="0"/>
          <p:nvPr/>
        </p:nvPicPr>
        <p:blipFill rotWithShape="1">
          <a:blip r:embed="rId5">
            <a:alphaModFix/>
          </a:blip>
          <a:srcRect b="0" l="0" r="0" t="0"/>
          <a:stretch/>
        </p:blipFill>
        <p:spPr>
          <a:xfrm>
            <a:off x="771525" y="4238625"/>
            <a:ext cx="5086351" cy="1343025"/>
          </a:xfrm>
          <a:prstGeom prst="rect">
            <a:avLst/>
          </a:prstGeom>
          <a:noFill/>
          <a:ln>
            <a:noFill/>
          </a:ln>
        </p:spPr>
      </p:pic>
      <p:pic>
        <p:nvPicPr>
          <p:cNvPr descr="image.png" id="989" name="Google Shape;989;p62"/>
          <p:cNvPicPr preferRelativeResize="0"/>
          <p:nvPr/>
        </p:nvPicPr>
        <p:blipFill rotWithShape="1">
          <a:blip r:embed="rId6">
            <a:alphaModFix/>
          </a:blip>
          <a:srcRect b="0" l="0" r="0" t="0"/>
          <a:stretch/>
        </p:blipFill>
        <p:spPr>
          <a:xfrm>
            <a:off x="771525" y="638175"/>
            <a:ext cx="476250" cy="419100"/>
          </a:xfrm>
          <a:prstGeom prst="rect">
            <a:avLst/>
          </a:prstGeom>
          <a:noFill/>
          <a:ln>
            <a:noFill/>
          </a:ln>
        </p:spPr>
      </p:pic>
      <p:sp>
        <p:nvSpPr>
          <p:cNvPr id="990" name="Google Shape;990;p62"/>
          <p:cNvSpPr txBox="1"/>
          <p:nvPr/>
        </p:nvSpPr>
        <p:spPr>
          <a:xfrm>
            <a:off x="771525" y="2152650"/>
            <a:ext cx="534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Why does a hallucination work?</a:t>
            </a:r>
            <a:endParaRPr/>
          </a:p>
        </p:txBody>
      </p:sp>
      <p:sp>
        <p:nvSpPr>
          <p:cNvPr id="991" name="Google Shape;991;p62"/>
          <p:cNvSpPr txBox="1"/>
          <p:nvPr/>
        </p:nvSpPr>
        <p:spPr>
          <a:xfrm>
            <a:off x="771525" y="2638425"/>
            <a:ext cx="50865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The LLM doesn't know the real facts, so it makes them up. But it writes them in the </a:t>
            </a:r>
            <a:r>
              <a:rPr b="1" i="0" lang="en-US" sz="1500" u="none" cap="none" strike="noStrike">
                <a:solidFill>
                  <a:srgbClr val="CBD5E1"/>
                </a:solidFill>
                <a:latin typeface="Plus Jakarta Sans"/>
                <a:ea typeface="Plus Jakarta Sans"/>
                <a:cs typeface="Plus Jakarta Sans"/>
                <a:sym typeface="Plus Jakarta Sans"/>
              </a:rPr>
              <a:t>exact same declarative, corporate tone</a:t>
            </a:r>
            <a:r>
              <a:rPr b="0" i="0" lang="en-US" sz="1500" u="none" cap="none" strike="noStrike">
                <a:solidFill>
                  <a:srgbClr val="CBD5E1"/>
                </a:solidFill>
                <a:latin typeface="Plus Jakarta Sans"/>
                <a:ea typeface="Plus Jakarta Sans"/>
                <a:cs typeface="Plus Jakarta Sans"/>
                <a:sym typeface="Plus Jakarta Sans"/>
              </a:rPr>
              <a:t> as your real documents!</a:t>
            </a:r>
            <a:endParaRPr/>
          </a:p>
        </p:txBody>
      </p:sp>
      <p:sp>
        <p:nvSpPr>
          <p:cNvPr id="992" name="Google Shape;992;p62"/>
          <p:cNvSpPr txBox="1"/>
          <p:nvPr/>
        </p:nvSpPr>
        <p:spPr>
          <a:xfrm>
            <a:off x="6677025" y="201930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The Homing Missile</a:t>
            </a:r>
            <a:endParaRPr/>
          </a:p>
        </p:txBody>
      </p:sp>
      <p:sp>
        <p:nvSpPr>
          <p:cNvPr id="993" name="Google Shape;993;p62"/>
          <p:cNvSpPr txBox="1"/>
          <p:nvPr/>
        </p:nvSpPr>
        <p:spPr>
          <a:xfrm>
            <a:off x="6677025" y="2505075"/>
            <a:ext cx="44007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Even though the facts ($100k vs $45k) are completely wrong, the </a:t>
            </a:r>
            <a:r>
              <a:rPr b="1" i="0" lang="en-US" sz="1500" u="none" cap="none" strike="noStrike">
                <a:solidFill>
                  <a:srgbClr val="CBD5E1"/>
                </a:solidFill>
                <a:latin typeface="Plus Jakarta Sans"/>
                <a:ea typeface="Plus Jakarta Sans"/>
                <a:cs typeface="Plus Jakarta Sans"/>
                <a:sym typeface="Plus Jakarta Sans"/>
              </a:rPr>
              <a:t>semantic structure</a:t>
            </a:r>
            <a:r>
              <a:rPr b="0" i="0" lang="en-US" sz="1500" u="none" cap="none" strike="noStrike">
                <a:solidFill>
                  <a:srgbClr val="CBD5E1"/>
                </a:solidFill>
                <a:latin typeface="Plus Jakarta Sans"/>
                <a:ea typeface="Plus Jakarta Sans"/>
                <a:cs typeface="Plus Jakarta Sans"/>
                <a:sym typeface="Plus Jakarta Sans"/>
              </a:rPr>
              <a:t> of the fake document mathematically perfectly aligns with the real documents.</a:t>
            </a:r>
            <a:endParaRPr/>
          </a:p>
        </p:txBody>
      </p:sp>
      <p:sp>
        <p:nvSpPr>
          <p:cNvPr id="994" name="Google Shape;994;p62"/>
          <p:cNvSpPr txBox="1"/>
          <p:nvPr/>
        </p:nvSpPr>
        <p:spPr>
          <a:xfrm>
            <a:off x="6677025" y="3914775"/>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It acts as a homing missile, crossing the semantic gap and pulling back the real chunks with stunning accuracy.</a:t>
            </a:r>
            <a:endParaRPr/>
          </a:p>
        </p:txBody>
      </p:sp>
      <p:sp>
        <p:nvSpPr>
          <p:cNvPr id="995" name="Google Shape;995;p62"/>
          <p:cNvSpPr txBox="1"/>
          <p:nvPr/>
        </p:nvSpPr>
        <p:spPr>
          <a:xfrm>
            <a:off x="771525" y="3838575"/>
            <a:ext cx="5086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43F5E"/>
                </a:solidFill>
                <a:latin typeface="Plus Jakarta Sans"/>
                <a:ea typeface="Plus Jakarta Sans"/>
                <a:cs typeface="Plus Jakarta Sans"/>
                <a:sym typeface="Plus Jakarta Sans"/>
              </a:rPr>
              <a:t>The Hallucination:</a:t>
            </a:r>
            <a:endParaRPr/>
          </a:p>
        </p:txBody>
      </p:sp>
      <p:sp>
        <p:nvSpPr>
          <p:cNvPr id="996" name="Google Shape;996;p62"/>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Magic of the </a:t>
            </a:r>
            <a:r>
              <a:rPr b="0" i="0" lang="en-US" sz="3300" u="none" cap="none" strike="noStrike">
                <a:solidFill>
                  <a:srgbClr val="14B8A6"/>
                </a:solidFill>
                <a:latin typeface="Space Grotesk"/>
                <a:ea typeface="Space Grotesk"/>
                <a:cs typeface="Space Grotesk"/>
                <a:sym typeface="Space Grotesk"/>
              </a:rPr>
              <a:t>Fake Document</a:t>
            </a:r>
            <a:endParaRPr/>
          </a:p>
        </p:txBody>
      </p:sp>
      <p:sp>
        <p:nvSpPr>
          <p:cNvPr id="997" name="Google Shape;997;p62"/>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998" name="Google Shape;998;p62"/>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02" name="Shape 1002"/>
        <p:cNvGrpSpPr/>
        <p:nvPr/>
      </p:nvGrpSpPr>
      <p:grpSpPr>
        <a:xfrm>
          <a:off x="0" y="0"/>
          <a:ext cx="0" cy="0"/>
          <a:chOff x="0" y="0"/>
          <a:chExt cx="0" cy="0"/>
        </a:xfrm>
      </p:grpSpPr>
      <p:pic>
        <p:nvPicPr>
          <p:cNvPr descr="image.png" id="1003" name="Google Shape;1003;p6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4" name="Google Shape;1004;p63"/>
          <p:cNvPicPr preferRelativeResize="0"/>
          <p:nvPr/>
        </p:nvPicPr>
        <p:blipFill rotWithShape="1">
          <a:blip r:embed="rId4">
            <a:alphaModFix/>
          </a:blip>
          <a:srcRect b="0" l="0" r="0" t="0"/>
          <a:stretch/>
        </p:blipFill>
        <p:spPr>
          <a:xfrm>
            <a:off x="7351365" y="1647825"/>
            <a:ext cx="4069109" cy="4629150"/>
          </a:xfrm>
          <a:prstGeom prst="rect">
            <a:avLst/>
          </a:prstGeom>
          <a:noFill/>
          <a:ln>
            <a:noFill/>
          </a:ln>
        </p:spPr>
      </p:pic>
      <p:pic>
        <p:nvPicPr>
          <p:cNvPr descr="image.png" id="1005" name="Google Shape;1005;p63"/>
          <p:cNvPicPr preferRelativeResize="0"/>
          <p:nvPr/>
        </p:nvPicPr>
        <p:blipFill rotWithShape="1">
          <a:blip r:embed="rId5">
            <a:alphaModFix/>
          </a:blip>
          <a:srcRect b="0" l="0" r="0" t="0"/>
          <a:stretch/>
        </p:blipFill>
        <p:spPr>
          <a:xfrm>
            <a:off x="771525" y="638175"/>
            <a:ext cx="419100" cy="419100"/>
          </a:xfrm>
          <a:prstGeom prst="rect">
            <a:avLst/>
          </a:prstGeom>
          <a:noFill/>
          <a:ln>
            <a:noFill/>
          </a:ln>
        </p:spPr>
      </p:pic>
      <p:sp>
        <p:nvSpPr>
          <p:cNvPr id="1006" name="Google Shape;1006;p63"/>
          <p:cNvSpPr txBox="1"/>
          <p:nvPr/>
        </p:nvSpPr>
        <p:spPr>
          <a:xfrm>
            <a:off x="771525" y="2543175"/>
            <a:ext cx="64089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Space Grotesk"/>
                <a:ea typeface="Space Grotesk"/>
                <a:cs typeface="Space Grotesk"/>
                <a:sym typeface="Space Grotesk"/>
              </a:rPr>
              <a:t>When NOT to use HyDE</a:t>
            </a:r>
            <a:endParaRPr/>
          </a:p>
        </p:txBody>
      </p:sp>
      <p:sp>
        <p:nvSpPr>
          <p:cNvPr id="1007" name="Google Shape;1007;p63"/>
          <p:cNvSpPr txBox="1"/>
          <p:nvPr/>
        </p:nvSpPr>
        <p:spPr>
          <a:xfrm>
            <a:off x="771525" y="3028950"/>
            <a:ext cx="6103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HyDE is practically magic for broad, exploratory searches (e.g., </a:t>
            </a:r>
            <a:r>
              <a:rPr b="0" i="1" lang="en-US" sz="1500" u="none" cap="none" strike="noStrike">
                <a:solidFill>
                  <a:srgbClr val="CBD5E1"/>
                </a:solidFill>
                <a:latin typeface="Plus Jakarta Sans"/>
                <a:ea typeface="Plus Jakarta Sans"/>
                <a:cs typeface="Plus Jakarta Sans"/>
                <a:sym typeface="Plus Jakarta Sans"/>
              </a:rPr>
              <a:t>"How does this company handle remote work?"</a:t>
            </a:r>
            <a:r>
              <a:rPr b="0" i="0" lang="en-US" sz="1500" u="none" cap="none" strike="noStrike">
                <a:solidFill>
                  <a:srgbClr val="CBD5E1"/>
                </a:solidFill>
                <a:latin typeface="Plus Jakarta Sans"/>
                <a:ea typeface="Plus Jakarta Sans"/>
                <a:cs typeface="Plus Jakarta Sans"/>
                <a:sym typeface="Plus Jakarta Sans"/>
              </a:rPr>
              <a:t>).</a:t>
            </a:r>
            <a:endParaRPr/>
          </a:p>
        </p:txBody>
      </p:sp>
      <p:sp>
        <p:nvSpPr>
          <p:cNvPr id="1008" name="Google Shape;1008;p63"/>
          <p:cNvSpPr txBox="1"/>
          <p:nvPr/>
        </p:nvSpPr>
        <p:spPr>
          <a:xfrm>
            <a:off x="771525" y="3829050"/>
            <a:ext cx="6103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F43F5E"/>
                </a:solidFill>
                <a:latin typeface="Plus Jakarta Sans"/>
                <a:ea typeface="Plus Jakarta Sans"/>
                <a:cs typeface="Plus Jakarta Sans"/>
                <a:sym typeface="Plus Jakarta Sans"/>
              </a:rPr>
              <a:t>But it is highly dangerous for the "Extract Once, Judge Many" project.</a:t>
            </a:r>
            <a:endParaRPr/>
          </a:p>
        </p:txBody>
      </p:sp>
      <p:sp>
        <p:nvSpPr>
          <p:cNvPr id="1009" name="Google Shape;1009;p63"/>
          <p:cNvSpPr txBox="1"/>
          <p:nvPr/>
        </p:nvSpPr>
        <p:spPr>
          <a:xfrm>
            <a:off x="771525" y="4629150"/>
            <a:ext cx="61035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Our project is a strict Factual Extraction Pipeline. HyDE risks poisoning the vector math with heavy, incorrect data.</a:t>
            </a:r>
            <a:endParaRPr/>
          </a:p>
        </p:txBody>
      </p:sp>
      <p:pic>
        <p:nvPicPr>
          <p:cNvPr descr="image.png" id="1010" name="Google Shape;1010;p63"/>
          <p:cNvPicPr preferRelativeResize="0"/>
          <p:nvPr/>
        </p:nvPicPr>
        <p:blipFill rotWithShape="1">
          <a:blip r:embed="rId6">
            <a:alphaModFix/>
          </a:blip>
          <a:srcRect b="0" l="0" r="0" t="0"/>
          <a:stretch/>
        </p:blipFill>
        <p:spPr>
          <a:xfrm>
            <a:off x="9052470" y="2952750"/>
            <a:ext cx="666750" cy="762000"/>
          </a:xfrm>
          <a:prstGeom prst="rect">
            <a:avLst/>
          </a:prstGeom>
          <a:noFill/>
          <a:ln>
            <a:noFill/>
          </a:ln>
        </p:spPr>
      </p:pic>
      <p:sp>
        <p:nvSpPr>
          <p:cNvPr id="1011" name="Google Shape;1011;p63"/>
          <p:cNvSpPr txBox="1"/>
          <p:nvPr/>
        </p:nvSpPr>
        <p:spPr>
          <a:xfrm>
            <a:off x="8563242" y="3905250"/>
            <a:ext cx="16452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Danger Zone</a:t>
            </a:r>
            <a:endParaRPr/>
          </a:p>
        </p:txBody>
      </p:sp>
      <p:sp>
        <p:nvSpPr>
          <p:cNvPr id="1012" name="Google Shape;1012;p63"/>
          <p:cNvSpPr txBox="1"/>
          <p:nvPr/>
        </p:nvSpPr>
        <p:spPr>
          <a:xfrm>
            <a:off x="7694265" y="4391025"/>
            <a:ext cx="3383400" cy="6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Do not use HyDE for strict metric extraction.</a:t>
            </a:r>
            <a:endParaRPr/>
          </a:p>
        </p:txBody>
      </p:sp>
      <p:sp>
        <p:nvSpPr>
          <p:cNvPr id="1013" name="Google Shape;1013;p63"/>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MLOps Warning</a:t>
            </a:r>
            <a:endParaRPr/>
          </a:p>
        </p:txBody>
      </p:sp>
      <p:sp>
        <p:nvSpPr>
          <p:cNvPr id="1014" name="Google Shape;1014;p63"/>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15" name="Google Shape;1015;p63"/>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19" name="Shape 1019"/>
        <p:cNvGrpSpPr/>
        <p:nvPr/>
      </p:nvGrpSpPr>
      <p:grpSpPr>
        <a:xfrm>
          <a:off x="0" y="0"/>
          <a:ext cx="0" cy="0"/>
          <a:chOff x="0" y="0"/>
          <a:chExt cx="0" cy="0"/>
        </a:xfrm>
      </p:grpSpPr>
      <p:pic>
        <p:nvPicPr>
          <p:cNvPr descr="image.png" id="1020" name="Google Shape;1020;p6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1" name="Google Shape;1021;p64"/>
          <p:cNvPicPr preferRelativeResize="0"/>
          <p:nvPr/>
        </p:nvPicPr>
        <p:blipFill rotWithShape="1">
          <a:blip r:embed="rId4">
            <a:alphaModFix/>
          </a:blip>
          <a:srcRect b="0" l="0" r="0" t="0"/>
          <a:stretch/>
        </p:blipFill>
        <p:spPr>
          <a:xfrm>
            <a:off x="771525" y="2776537"/>
            <a:ext cx="5086351" cy="3009900"/>
          </a:xfrm>
          <a:prstGeom prst="rect">
            <a:avLst/>
          </a:prstGeom>
          <a:noFill/>
          <a:ln>
            <a:noFill/>
          </a:ln>
        </p:spPr>
      </p:pic>
      <p:pic>
        <p:nvPicPr>
          <p:cNvPr descr="image.png" id="1022" name="Google Shape;1022;p64"/>
          <p:cNvPicPr preferRelativeResize="0"/>
          <p:nvPr/>
        </p:nvPicPr>
        <p:blipFill rotWithShape="1">
          <a:blip r:embed="rId5">
            <a:alphaModFix/>
          </a:blip>
          <a:srcRect b="0" l="0" r="0" t="0"/>
          <a:stretch/>
        </p:blipFill>
        <p:spPr>
          <a:xfrm>
            <a:off x="6334125" y="2776537"/>
            <a:ext cx="5086351" cy="3009900"/>
          </a:xfrm>
          <a:prstGeom prst="rect">
            <a:avLst/>
          </a:prstGeom>
          <a:noFill/>
          <a:ln>
            <a:noFill/>
          </a:ln>
        </p:spPr>
      </p:pic>
      <p:pic>
        <p:nvPicPr>
          <p:cNvPr descr="image.png" id="1023" name="Google Shape;1023;p64"/>
          <p:cNvPicPr preferRelativeResize="0"/>
          <p:nvPr/>
        </p:nvPicPr>
        <p:blipFill rotWithShape="1">
          <a:blip r:embed="rId6">
            <a:alphaModFix/>
          </a:blip>
          <a:srcRect b="0" l="0" r="0" t="0"/>
          <a:stretch/>
        </p:blipFill>
        <p:spPr>
          <a:xfrm>
            <a:off x="771525" y="638175"/>
            <a:ext cx="419100" cy="419100"/>
          </a:xfrm>
          <a:prstGeom prst="rect">
            <a:avLst/>
          </a:prstGeom>
          <a:noFill/>
          <a:ln>
            <a:noFill/>
          </a:ln>
        </p:spPr>
      </p:pic>
      <p:sp>
        <p:nvSpPr>
          <p:cNvPr id="1024" name="Google Shape;1024;p64"/>
          <p:cNvSpPr txBox="1"/>
          <p:nvPr/>
        </p:nvSpPr>
        <p:spPr>
          <a:xfrm>
            <a:off x="771525" y="2138362"/>
            <a:ext cx="106491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Let's look at what happens if Tony asks, </a:t>
            </a:r>
            <a:r>
              <a:rPr b="0" i="1" lang="en-US" sz="1500" u="none" cap="none" strike="noStrike">
                <a:solidFill>
                  <a:srgbClr val="CBD5E1"/>
                </a:solidFill>
                <a:latin typeface="Plus Jakarta Sans"/>
                <a:ea typeface="Plus Jakarta Sans"/>
                <a:cs typeface="Plus Jakarta Sans"/>
                <a:sym typeface="Plus Jakarta Sans"/>
              </a:rPr>
              <a:t>"What is the exact OCR failure rate?"</a:t>
            </a:r>
            <a:r>
              <a:rPr b="0" i="0" lang="en-US" sz="1500" u="none" cap="none" strike="noStrike">
                <a:solidFill>
                  <a:srgbClr val="CBD5E1"/>
                </a:solidFill>
                <a:latin typeface="Plus Jakarta Sans"/>
                <a:ea typeface="Plus Jakarta Sans"/>
                <a:cs typeface="Plus Jakarta Sans"/>
                <a:sym typeface="Plus Jakarta Sans"/>
              </a:rPr>
              <a:t> and we use HyDE.</a:t>
            </a:r>
            <a:endParaRPr/>
          </a:p>
        </p:txBody>
      </p:sp>
      <p:sp>
        <p:nvSpPr>
          <p:cNvPr id="1025" name="Google Shape;1025;p64"/>
          <p:cNvSpPr txBox="1"/>
          <p:nvPr/>
        </p:nvSpPr>
        <p:spPr>
          <a:xfrm>
            <a:off x="1114425" y="3148012"/>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59E0B"/>
                </a:solidFill>
                <a:latin typeface="Space Grotesk"/>
                <a:ea typeface="Space Grotesk"/>
                <a:cs typeface="Space Grotesk"/>
                <a:sym typeface="Space Grotesk"/>
              </a:rPr>
              <a:t>The Hallucinated Vector</a:t>
            </a:r>
            <a:endParaRPr/>
          </a:p>
        </p:txBody>
      </p:sp>
      <p:sp>
        <p:nvSpPr>
          <p:cNvPr id="1026" name="Google Shape;1026;p64"/>
          <p:cNvSpPr txBox="1"/>
          <p:nvPr/>
        </p:nvSpPr>
        <p:spPr>
          <a:xfrm>
            <a:off x="1114425" y="3633787"/>
            <a:ext cx="4400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The LLM might hallucinate a fake document saying: </a:t>
            </a:r>
            <a:r>
              <a:rPr b="1" i="0" lang="en-US" sz="1500" u="none" cap="none" strike="noStrike">
                <a:solidFill>
                  <a:srgbClr val="CBD5E1"/>
                </a:solidFill>
                <a:latin typeface="Plus Jakarta Sans"/>
                <a:ea typeface="Plus Jakarta Sans"/>
                <a:cs typeface="Plus Jakarta Sans"/>
                <a:sym typeface="Plus Jakarta Sans"/>
              </a:rPr>
              <a:t>"The OCR failure rate is 2%."</a:t>
            </a:r>
            <a:endParaRPr/>
          </a:p>
        </p:txBody>
      </p:sp>
      <p:sp>
        <p:nvSpPr>
          <p:cNvPr id="1027" name="Google Shape;1027;p64"/>
          <p:cNvSpPr txBox="1"/>
          <p:nvPr/>
        </p:nvSpPr>
        <p:spPr>
          <a:xfrm>
            <a:off x="1114425" y="4386262"/>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FAISS embeds that fake document, the dense mathematical weight of the "2%" dominates the vector.</a:t>
            </a:r>
            <a:endParaRPr/>
          </a:p>
        </p:txBody>
      </p:sp>
      <p:sp>
        <p:nvSpPr>
          <p:cNvPr id="1028" name="Google Shape;1028;p64"/>
          <p:cNvSpPr txBox="1"/>
          <p:nvPr/>
        </p:nvSpPr>
        <p:spPr>
          <a:xfrm>
            <a:off x="6677025" y="3148012"/>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43F5E"/>
                </a:solidFill>
                <a:latin typeface="Space Grotesk"/>
                <a:ea typeface="Space Grotesk"/>
                <a:cs typeface="Space Grotesk"/>
                <a:sym typeface="Space Grotesk"/>
              </a:rPr>
              <a:t>The Retrieval Crash</a:t>
            </a:r>
            <a:endParaRPr/>
          </a:p>
        </p:txBody>
      </p:sp>
      <p:sp>
        <p:nvSpPr>
          <p:cNvPr id="1029" name="Google Shape;1029;p64"/>
          <p:cNvSpPr txBox="1"/>
          <p:nvPr/>
        </p:nvSpPr>
        <p:spPr>
          <a:xfrm>
            <a:off x="6677025" y="3633787"/>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Because of the heavy "2%" vector weight, FAISS might retrieve a completely unrelated chunk about a </a:t>
            </a:r>
            <a:r>
              <a:rPr b="1" i="0" lang="en-US" sz="1500" u="none" cap="none" strike="noStrike">
                <a:solidFill>
                  <a:srgbClr val="CBD5E1"/>
                </a:solidFill>
                <a:latin typeface="Plus Jakarta Sans"/>
                <a:ea typeface="Plus Jakarta Sans"/>
                <a:cs typeface="Plus Jakarta Sans"/>
                <a:sym typeface="Plus Jakarta Sans"/>
              </a:rPr>
              <a:t>2% software discount</a:t>
            </a:r>
            <a:r>
              <a:rPr b="0" i="0" lang="en-US" sz="1500" u="none" cap="none" strike="noStrike">
                <a:solidFill>
                  <a:srgbClr val="CBD5E1"/>
                </a:solidFill>
                <a:latin typeface="Plus Jakarta Sans"/>
                <a:ea typeface="Plus Jakarta Sans"/>
                <a:cs typeface="Plus Jakarta Sans"/>
                <a:sym typeface="Plus Jakarta Sans"/>
              </a:rPr>
              <a:t>.</a:t>
            </a:r>
            <a:endParaRPr/>
          </a:p>
        </p:txBody>
      </p:sp>
      <p:sp>
        <p:nvSpPr>
          <p:cNvPr id="1030" name="Google Shape;1030;p64"/>
          <p:cNvSpPr txBox="1"/>
          <p:nvPr/>
        </p:nvSpPr>
        <p:spPr>
          <a:xfrm>
            <a:off x="6677025" y="4691062"/>
            <a:ext cx="4400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It entirely misses the real 15% OCR failure chunk!</a:t>
            </a:r>
            <a:endParaRPr/>
          </a:p>
        </p:txBody>
      </p:sp>
      <p:sp>
        <p:nvSpPr>
          <p:cNvPr id="1031" name="Google Shape;1031;p64"/>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Danger of </a:t>
            </a:r>
            <a:r>
              <a:rPr b="0" i="0" lang="en-US" sz="3300" u="none" cap="none" strike="noStrike">
                <a:solidFill>
                  <a:srgbClr val="14B8A6"/>
                </a:solidFill>
                <a:latin typeface="Space Grotesk"/>
                <a:ea typeface="Space Grotesk"/>
                <a:cs typeface="Space Grotesk"/>
                <a:sym typeface="Space Grotesk"/>
              </a:rPr>
              <a:t>Fake Facts</a:t>
            </a:r>
            <a:endParaRPr/>
          </a:p>
        </p:txBody>
      </p:sp>
      <p:sp>
        <p:nvSpPr>
          <p:cNvPr id="1032" name="Google Shape;1032;p64"/>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33" name="Google Shape;1033;p64"/>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37" name="Shape 1037"/>
        <p:cNvGrpSpPr/>
        <p:nvPr/>
      </p:nvGrpSpPr>
      <p:grpSpPr>
        <a:xfrm>
          <a:off x="0" y="0"/>
          <a:ext cx="0" cy="0"/>
          <a:chOff x="0" y="0"/>
          <a:chExt cx="0" cy="0"/>
        </a:xfrm>
      </p:grpSpPr>
      <p:pic>
        <p:nvPicPr>
          <p:cNvPr descr="image.png" id="1038" name="Google Shape;1038;p6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39" name="Google Shape;1039;p65"/>
          <p:cNvPicPr preferRelativeResize="0"/>
          <p:nvPr/>
        </p:nvPicPr>
        <p:blipFill rotWithShape="1">
          <a:blip r:embed="rId4">
            <a:alphaModFix/>
          </a:blip>
          <a:srcRect b="0" l="0" r="0" t="0"/>
          <a:stretch/>
        </p:blipFill>
        <p:spPr>
          <a:xfrm>
            <a:off x="771525" y="1647825"/>
            <a:ext cx="5086351" cy="4629150"/>
          </a:xfrm>
          <a:prstGeom prst="rect">
            <a:avLst/>
          </a:prstGeom>
          <a:noFill/>
          <a:ln>
            <a:noFill/>
          </a:ln>
        </p:spPr>
      </p:pic>
      <p:pic>
        <p:nvPicPr>
          <p:cNvPr descr="image.png" id="1040" name="Google Shape;1040;p65"/>
          <p:cNvPicPr preferRelativeResize="0"/>
          <p:nvPr/>
        </p:nvPicPr>
        <p:blipFill rotWithShape="1">
          <a:blip r:embed="rId5">
            <a:alphaModFix/>
          </a:blip>
          <a:srcRect b="0" l="0" r="0" t="0"/>
          <a:stretch/>
        </p:blipFill>
        <p:spPr>
          <a:xfrm>
            <a:off x="6334125" y="1647825"/>
            <a:ext cx="5086351" cy="4629150"/>
          </a:xfrm>
          <a:prstGeom prst="rect">
            <a:avLst/>
          </a:prstGeom>
          <a:noFill/>
          <a:ln>
            <a:noFill/>
          </a:ln>
        </p:spPr>
      </p:pic>
      <p:pic>
        <p:nvPicPr>
          <p:cNvPr descr="image.png" id="1041" name="Google Shape;1041;p65"/>
          <p:cNvPicPr preferRelativeResize="0"/>
          <p:nvPr/>
        </p:nvPicPr>
        <p:blipFill rotWithShape="1">
          <a:blip r:embed="rId6">
            <a:alphaModFix/>
          </a:blip>
          <a:srcRect b="0" l="0" r="0" t="0"/>
          <a:stretch/>
        </p:blipFill>
        <p:spPr>
          <a:xfrm>
            <a:off x="1114425" y="3971925"/>
            <a:ext cx="4400550" cy="1043880"/>
          </a:xfrm>
          <a:prstGeom prst="rect">
            <a:avLst/>
          </a:prstGeom>
          <a:noFill/>
          <a:ln>
            <a:noFill/>
          </a:ln>
        </p:spPr>
      </p:pic>
      <p:pic>
        <p:nvPicPr>
          <p:cNvPr descr="image.png" id="1042" name="Google Shape;1042;p65"/>
          <p:cNvPicPr preferRelativeResize="0"/>
          <p:nvPr/>
        </p:nvPicPr>
        <p:blipFill rotWithShape="1">
          <a:blip r:embed="rId7">
            <a:alphaModFix/>
          </a:blip>
          <a:srcRect b="0" l="0" r="0" t="0"/>
          <a:stretch/>
        </p:blipFill>
        <p:spPr>
          <a:xfrm>
            <a:off x="6677025" y="4276725"/>
            <a:ext cx="4400550" cy="769590"/>
          </a:xfrm>
          <a:prstGeom prst="rect">
            <a:avLst/>
          </a:prstGeom>
          <a:noFill/>
          <a:ln>
            <a:noFill/>
          </a:ln>
        </p:spPr>
      </p:pic>
      <p:pic>
        <p:nvPicPr>
          <p:cNvPr descr="image.png" id="1043" name="Google Shape;1043;p65"/>
          <p:cNvPicPr preferRelativeResize="0"/>
          <p:nvPr/>
        </p:nvPicPr>
        <p:blipFill rotWithShape="1">
          <a:blip r:embed="rId8">
            <a:alphaModFix/>
          </a:blip>
          <a:srcRect b="0" l="0" r="0" t="0"/>
          <a:stretch/>
        </p:blipFill>
        <p:spPr>
          <a:xfrm>
            <a:off x="771525" y="638175"/>
            <a:ext cx="523875" cy="419100"/>
          </a:xfrm>
          <a:prstGeom prst="rect">
            <a:avLst/>
          </a:prstGeom>
          <a:noFill/>
          <a:ln>
            <a:noFill/>
          </a:ln>
        </p:spPr>
      </p:pic>
      <p:pic>
        <p:nvPicPr>
          <p:cNvPr descr="image.png" id="1044" name="Google Shape;1044;p65"/>
          <p:cNvPicPr preferRelativeResize="0"/>
          <p:nvPr/>
        </p:nvPicPr>
        <p:blipFill rotWithShape="1">
          <a:blip r:embed="rId9">
            <a:alphaModFix/>
          </a:blip>
          <a:srcRect b="0" l="0" r="0" t="0"/>
          <a:stretch/>
        </p:blipFill>
        <p:spPr>
          <a:xfrm>
            <a:off x="1114425" y="2019300"/>
            <a:ext cx="419100" cy="476250"/>
          </a:xfrm>
          <a:prstGeom prst="rect">
            <a:avLst/>
          </a:prstGeom>
          <a:noFill/>
          <a:ln>
            <a:noFill/>
          </a:ln>
        </p:spPr>
      </p:pic>
      <p:sp>
        <p:nvSpPr>
          <p:cNvPr id="1045" name="Google Shape;1045;p65"/>
          <p:cNvSpPr txBox="1"/>
          <p:nvPr/>
        </p:nvSpPr>
        <p:spPr>
          <a:xfrm>
            <a:off x="1114425" y="268605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4B8A6"/>
                </a:solidFill>
                <a:latin typeface="Space Grotesk"/>
                <a:ea typeface="Space Grotesk"/>
                <a:cs typeface="Space Grotesk"/>
                <a:sym typeface="Space Grotesk"/>
              </a:rPr>
              <a:t>Strict Factual Data</a:t>
            </a:r>
            <a:endParaRPr/>
          </a:p>
        </p:txBody>
      </p:sp>
      <p:sp>
        <p:nvSpPr>
          <p:cNvPr id="1046" name="Google Shape;1046;p65"/>
          <p:cNvSpPr txBox="1"/>
          <p:nvPr/>
        </p:nvSpPr>
        <p:spPr>
          <a:xfrm>
            <a:off x="1114425" y="3171825"/>
            <a:ext cx="44007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the user needs an exact number, author, or strict metric.</a:t>
            </a:r>
            <a:endParaRPr/>
          </a:p>
        </p:txBody>
      </p:sp>
      <p:pic>
        <p:nvPicPr>
          <p:cNvPr descr="image.png" id="1047" name="Google Shape;1047;p65"/>
          <p:cNvPicPr preferRelativeResize="0"/>
          <p:nvPr/>
        </p:nvPicPr>
        <p:blipFill rotWithShape="1">
          <a:blip r:embed="rId10">
            <a:alphaModFix/>
          </a:blip>
          <a:srcRect b="0" l="0" r="0" t="0"/>
          <a:stretch/>
        </p:blipFill>
        <p:spPr>
          <a:xfrm>
            <a:off x="6677025" y="2019300"/>
            <a:ext cx="476250" cy="476250"/>
          </a:xfrm>
          <a:prstGeom prst="rect">
            <a:avLst/>
          </a:prstGeom>
          <a:noFill/>
          <a:ln>
            <a:noFill/>
          </a:ln>
        </p:spPr>
      </p:pic>
      <p:sp>
        <p:nvSpPr>
          <p:cNvPr id="1048" name="Google Shape;1048;p65"/>
          <p:cNvSpPr txBox="1"/>
          <p:nvPr/>
        </p:nvSpPr>
        <p:spPr>
          <a:xfrm>
            <a:off x="6677025" y="2686050"/>
            <a:ext cx="46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Generalized Exploration</a:t>
            </a:r>
            <a:endParaRPr/>
          </a:p>
        </p:txBody>
      </p:sp>
      <p:sp>
        <p:nvSpPr>
          <p:cNvPr id="1049" name="Google Shape;1049;p65"/>
          <p:cNvSpPr txBox="1"/>
          <p:nvPr/>
        </p:nvSpPr>
        <p:spPr>
          <a:xfrm>
            <a:off x="6677025" y="3171825"/>
            <a:ext cx="4400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Plus Jakarta Sans"/>
                <a:ea typeface="Plus Jakarta Sans"/>
                <a:cs typeface="Plus Jakarta Sans"/>
                <a:sym typeface="Plus Jakarta Sans"/>
              </a:rPr>
              <a:t>When the user is exploring broad topics where exact keywords matter less than the overall semantic theme.</a:t>
            </a:r>
            <a:endParaRPr/>
          </a:p>
        </p:txBody>
      </p:sp>
      <p:sp>
        <p:nvSpPr>
          <p:cNvPr id="1050" name="Google Shape;1050;p65"/>
          <p:cNvSpPr txBox="1"/>
          <p:nvPr/>
        </p:nvSpPr>
        <p:spPr>
          <a:xfrm>
            <a:off x="1438275" y="581025"/>
            <a:ext cx="104814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a:t>
            </a:r>
            <a:r>
              <a:rPr b="0" i="0" lang="en-US" sz="3300" u="none" cap="none" strike="noStrike">
                <a:solidFill>
                  <a:srgbClr val="14B8A6"/>
                </a:solidFill>
                <a:latin typeface="Space Grotesk"/>
                <a:ea typeface="Space Grotesk"/>
                <a:cs typeface="Space Grotesk"/>
                <a:sym typeface="Space Grotesk"/>
              </a:rPr>
              <a:t>Golden Rule</a:t>
            </a:r>
            <a:r>
              <a:rPr b="0" i="0" lang="en-US" sz="3300" u="none" cap="none" strike="noStrike">
                <a:solidFill>
                  <a:srgbClr val="F8FAFC"/>
                </a:solidFill>
                <a:latin typeface="Space Grotesk"/>
                <a:ea typeface="Space Grotesk"/>
                <a:cs typeface="Space Grotesk"/>
                <a:sym typeface="Space Grotesk"/>
              </a:rPr>
              <a:t> of Routing</a:t>
            </a:r>
            <a:endParaRPr/>
          </a:p>
        </p:txBody>
      </p:sp>
      <p:sp>
        <p:nvSpPr>
          <p:cNvPr id="1051" name="Google Shape;1051;p65"/>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52" name="Google Shape;1052;p65"/>
          <p:cNvPicPr preferRelativeResize="0"/>
          <p:nvPr/>
        </p:nvPicPr>
        <p:blipFill>
          <a:blip r:embed="rId11">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56" name="Shape 1056"/>
        <p:cNvGrpSpPr/>
        <p:nvPr/>
      </p:nvGrpSpPr>
      <p:grpSpPr>
        <a:xfrm>
          <a:off x="0" y="0"/>
          <a:ext cx="0" cy="0"/>
          <a:chOff x="0" y="0"/>
          <a:chExt cx="0" cy="0"/>
        </a:xfrm>
      </p:grpSpPr>
      <p:pic>
        <p:nvPicPr>
          <p:cNvPr descr="image.png" id="1057" name="Google Shape;1057;p6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8" name="Google Shape;1058;p66"/>
          <p:cNvPicPr preferRelativeResize="0"/>
          <p:nvPr/>
        </p:nvPicPr>
        <p:blipFill rotWithShape="1">
          <a:blip r:embed="rId4">
            <a:alphaModFix/>
          </a:blip>
          <a:srcRect b="0" l="0" r="0" t="0"/>
          <a:stretch/>
        </p:blipFill>
        <p:spPr>
          <a:xfrm>
            <a:off x="771525" y="3011685"/>
            <a:ext cx="6103590" cy="2952750"/>
          </a:xfrm>
          <a:prstGeom prst="rect">
            <a:avLst/>
          </a:prstGeom>
          <a:noFill/>
          <a:ln>
            <a:noFill/>
          </a:ln>
        </p:spPr>
      </p:pic>
      <p:pic>
        <p:nvPicPr>
          <p:cNvPr descr="image.png" id="1059" name="Google Shape;1059;p66"/>
          <p:cNvPicPr preferRelativeResize="0"/>
          <p:nvPr/>
        </p:nvPicPr>
        <p:blipFill rotWithShape="1">
          <a:blip r:embed="rId5">
            <a:alphaModFix/>
          </a:blip>
          <a:srcRect b="0" l="0" r="0" t="0"/>
          <a:stretch/>
        </p:blipFill>
        <p:spPr>
          <a:xfrm>
            <a:off x="7351365" y="3011685"/>
            <a:ext cx="4069109" cy="857250"/>
          </a:xfrm>
          <a:prstGeom prst="rect">
            <a:avLst/>
          </a:prstGeom>
          <a:noFill/>
          <a:ln>
            <a:noFill/>
          </a:ln>
        </p:spPr>
      </p:pic>
      <p:pic>
        <p:nvPicPr>
          <p:cNvPr descr="image.png" id="1060" name="Google Shape;1060;p66"/>
          <p:cNvPicPr preferRelativeResize="0"/>
          <p:nvPr/>
        </p:nvPicPr>
        <p:blipFill rotWithShape="1">
          <a:blip r:embed="rId6">
            <a:alphaModFix/>
          </a:blip>
          <a:srcRect b="0" l="0" r="0" t="0"/>
          <a:stretch/>
        </p:blipFill>
        <p:spPr>
          <a:xfrm>
            <a:off x="7351365" y="4059435"/>
            <a:ext cx="4069109" cy="857250"/>
          </a:xfrm>
          <a:prstGeom prst="rect">
            <a:avLst/>
          </a:prstGeom>
          <a:noFill/>
          <a:ln>
            <a:noFill/>
          </a:ln>
        </p:spPr>
      </p:pic>
      <p:pic>
        <p:nvPicPr>
          <p:cNvPr descr="image.png" id="1061" name="Google Shape;1061;p66"/>
          <p:cNvPicPr preferRelativeResize="0"/>
          <p:nvPr/>
        </p:nvPicPr>
        <p:blipFill rotWithShape="1">
          <a:blip r:embed="rId7">
            <a:alphaModFix/>
          </a:blip>
          <a:srcRect b="0" l="0" r="0" t="0"/>
          <a:stretch/>
        </p:blipFill>
        <p:spPr>
          <a:xfrm>
            <a:off x="7351365" y="5107185"/>
            <a:ext cx="4069109" cy="857250"/>
          </a:xfrm>
          <a:prstGeom prst="rect">
            <a:avLst/>
          </a:prstGeom>
          <a:noFill/>
          <a:ln>
            <a:noFill/>
          </a:ln>
        </p:spPr>
      </p:pic>
      <p:pic>
        <p:nvPicPr>
          <p:cNvPr descr="image.png" id="1062" name="Google Shape;1062;p66"/>
          <p:cNvPicPr preferRelativeResize="0"/>
          <p:nvPr/>
        </p:nvPicPr>
        <p:blipFill rotWithShape="1">
          <a:blip r:embed="rId8">
            <a:alphaModFix/>
          </a:blip>
          <a:srcRect b="0" l="0" r="0" t="0"/>
          <a:stretch/>
        </p:blipFill>
        <p:spPr>
          <a:xfrm>
            <a:off x="771525" y="638175"/>
            <a:ext cx="476250" cy="419100"/>
          </a:xfrm>
          <a:prstGeom prst="rect">
            <a:avLst/>
          </a:prstGeom>
          <a:noFill/>
          <a:ln>
            <a:noFill/>
          </a:ln>
        </p:spPr>
      </p:pic>
      <p:sp>
        <p:nvSpPr>
          <p:cNvPr id="1063" name="Google Shape;1063;p66"/>
          <p:cNvSpPr txBox="1"/>
          <p:nvPr/>
        </p:nvSpPr>
        <p:spPr>
          <a:xfrm>
            <a:off x="771525" y="1960364"/>
            <a:ext cx="10649100" cy="66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CBD5E1"/>
                </a:solidFill>
                <a:latin typeface="Plus Jakarta Sans"/>
                <a:ea typeface="Plus Jakarta Sans"/>
                <a:cs typeface="Plus Jakarta Sans"/>
                <a:sym typeface="Plus Jakarta Sans"/>
              </a:rPr>
              <a:t>We are building a "Traffic Cop" that dynamically analyzes intent and routes the user to one of three specialized sub-chains.</a:t>
            </a:r>
            <a:endParaRPr/>
          </a:p>
        </p:txBody>
      </p:sp>
      <p:pic>
        <p:nvPicPr>
          <p:cNvPr descr="image.png" id="1064" name="Google Shape;1064;p66"/>
          <p:cNvPicPr preferRelativeResize="0"/>
          <p:nvPr/>
        </p:nvPicPr>
        <p:blipFill rotWithShape="1">
          <a:blip r:embed="rId9">
            <a:alphaModFix/>
          </a:blip>
          <a:srcRect b="0" l="0" r="0" t="0"/>
          <a:stretch/>
        </p:blipFill>
        <p:spPr>
          <a:xfrm>
            <a:off x="3613695" y="3587055"/>
            <a:ext cx="419100" cy="666750"/>
          </a:xfrm>
          <a:prstGeom prst="rect">
            <a:avLst/>
          </a:prstGeom>
          <a:noFill/>
          <a:ln>
            <a:noFill/>
          </a:ln>
        </p:spPr>
      </p:pic>
      <p:sp>
        <p:nvSpPr>
          <p:cNvPr id="1065" name="Google Shape;1065;p66"/>
          <p:cNvSpPr txBox="1"/>
          <p:nvPr/>
        </p:nvSpPr>
        <p:spPr>
          <a:xfrm>
            <a:off x="2870626" y="4444305"/>
            <a:ext cx="1905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6366F1"/>
                </a:solidFill>
                <a:latin typeface="Space Grotesk"/>
                <a:ea typeface="Space Grotesk"/>
                <a:cs typeface="Space Grotesk"/>
                <a:sym typeface="Space Grotesk"/>
              </a:rPr>
              <a:t>The Traffic Cop</a:t>
            </a:r>
            <a:endParaRPr/>
          </a:p>
        </p:txBody>
      </p:sp>
      <p:sp>
        <p:nvSpPr>
          <p:cNvPr id="1066" name="Google Shape;1066;p66"/>
          <p:cNvSpPr txBox="1"/>
          <p:nvPr/>
        </p:nvSpPr>
        <p:spPr>
          <a:xfrm>
            <a:off x="1162050" y="4930080"/>
            <a:ext cx="5322600" cy="48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A fast classification LLM forced to output a single routing word based on the user's prompt.</a:t>
            </a:r>
            <a:endParaRPr/>
          </a:p>
        </p:txBody>
      </p:sp>
      <p:sp>
        <p:nvSpPr>
          <p:cNvPr id="1067" name="Google Shape;1067;p66"/>
          <p:cNvSpPr txBox="1"/>
          <p:nvPr/>
        </p:nvSpPr>
        <p:spPr>
          <a:xfrm>
            <a:off x="7459663" y="3240285"/>
            <a:ext cx="3852600" cy="184800"/>
          </a:xfrm>
          <a:prstGeom prst="rect">
            <a:avLst/>
          </a:prstGeom>
          <a:noFill/>
          <a:ln>
            <a:noFill/>
          </a:ln>
        </p:spPr>
        <p:txBody>
          <a:bodyPr anchorCtr="0" anchor="t" bIns="0" lIns="114300" spcFirstLastPara="1" rIns="0" wrap="square" tIns="0">
            <a:spAutoFit/>
          </a:bodyPr>
          <a:lstStyle/>
          <a:p>
            <a:pPr indent="0" lvl="0" marL="0" marR="0" rtl="0" algn="ctr">
              <a:spcBef>
                <a:spcPts val="0"/>
              </a:spcBef>
              <a:spcAft>
                <a:spcPts val="0"/>
              </a:spcAft>
              <a:buNone/>
            </a:pPr>
            <a:r>
              <a:rPr b="1" i="0" lang="en-US" sz="1200" u="none" cap="none" strike="noStrike">
                <a:solidFill>
                  <a:srgbClr val="F59E0B"/>
                </a:solidFill>
                <a:latin typeface="Space Grotesk"/>
                <a:ea typeface="Space Grotesk"/>
                <a:cs typeface="Space Grotesk"/>
                <a:sym typeface="Space Grotesk"/>
              </a:rPr>
              <a:t>Destination 1: Math Calculator</a:t>
            </a:r>
            <a:endParaRPr/>
          </a:p>
        </p:txBody>
      </p:sp>
      <p:sp>
        <p:nvSpPr>
          <p:cNvPr id="1068" name="Google Shape;1068;p66"/>
          <p:cNvSpPr txBox="1"/>
          <p:nvPr/>
        </p:nvSpPr>
        <p:spPr>
          <a:xfrm>
            <a:off x="7551390" y="3440310"/>
            <a:ext cx="36690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Strict computational chain.</a:t>
            </a:r>
            <a:endParaRPr/>
          </a:p>
        </p:txBody>
      </p:sp>
      <p:sp>
        <p:nvSpPr>
          <p:cNvPr id="1069" name="Google Shape;1069;p66"/>
          <p:cNvSpPr txBox="1"/>
          <p:nvPr/>
        </p:nvSpPr>
        <p:spPr>
          <a:xfrm>
            <a:off x="7459663" y="4288035"/>
            <a:ext cx="3852600" cy="184800"/>
          </a:xfrm>
          <a:prstGeom prst="rect">
            <a:avLst/>
          </a:prstGeom>
          <a:noFill/>
          <a:ln>
            <a:noFill/>
          </a:ln>
        </p:spPr>
        <p:txBody>
          <a:bodyPr anchorCtr="0" anchor="t" bIns="0" lIns="133350" spcFirstLastPara="1" rIns="0" wrap="square" tIns="0">
            <a:spAutoFit/>
          </a:bodyPr>
          <a:lstStyle/>
          <a:p>
            <a:pPr indent="0" lvl="0" marL="0" marR="0" rtl="0" algn="ctr">
              <a:spcBef>
                <a:spcPts val="0"/>
              </a:spcBef>
              <a:spcAft>
                <a:spcPts val="0"/>
              </a:spcAft>
              <a:buNone/>
            </a:pPr>
            <a:r>
              <a:rPr b="1" i="0" lang="en-US" sz="1200" u="none" cap="none" strike="noStrike">
                <a:solidFill>
                  <a:srgbClr val="14B8A6"/>
                </a:solidFill>
                <a:latin typeface="Space Grotesk"/>
                <a:ea typeface="Space Grotesk"/>
                <a:cs typeface="Space Grotesk"/>
                <a:sym typeface="Space Grotesk"/>
              </a:rPr>
              <a:t>Destination 2: FAISS RAG</a:t>
            </a:r>
            <a:endParaRPr/>
          </a:p>
        </p:txBody>
      </p:sp>
      <p:sp>
        <p:nvSpPr>
          <p:cNvPr id="1070" name="Google Shape;1070;p66"/>
          <p:cNvSpPr txBox="1"/>
          <p:nvPr/>
        </p:nvSpPr>
        <p:spPr>
          <a:xfrm>
            <a:off x="7551390" y="4488060"/>
            <a:ext cx="36690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Our core semantic database search.</a:t>
            </a:r>
            <a:endParaRPr/>
          </a:p>
        </p:txBody>
      </p:sp>
      <p:sp>
        <p:nvSpPr>
          <p:cNvPr id="1071" name="Google Shape;1071;p66"/>
          <p:cNvSpPr txBox="1"/>
          <p:nvPr/>
        </p:nvSpPr>
        <p:spPr>
          <a:xfrm>
            <a:off x="7459663" y="5335785"/>
            <a:ext cx="3852600" cy="184800"/>
          </a:xfrm>
          <a:prstGeom prst="rect">
            <a:avLst/>
          </a:prstGeom>
          <a:noFill/>
          <a:ln>
            <a:noFill/>
          </a:ln>
        </p:spPr>
        <p:txBody>
          <a:bodyPr anchorCtr="0" anchor="t" bIns="0" lIns="190500" spcFirstLastPara="1" rIns="0" wrap="square" tIns="0">
            <a:spAutoFit/>
          </a:bodyPr>
          <a:lstStyle/>
          <a:p>
            <a:pPr indent="0" lvl="0" marL="0" marR="0" rtl="0" algn="ctr">
              <a:spcBef>
                <a:spcPts val="0"/>
              </a:spcBef>
              <a:spcAft>
                <a:spcPts val="0"/>
              </a:spcAft>
              <a:buNone/>
            </a:pPr>
            <a:r>
              <a:rPr b="1" i="0" lang="en-US" sz="1200" u="none" cap="none" strike="noStrike">
                <a:solidFill>
                  <a:srgbClr val="F43F5E"/>
                </a:solidFill>
                <a:latin typeface="Space Grotesk"/>
                <a:ea typeface="Space Grotesk"/>
                <a:cs typeface="Space Grotesk"/>
                <a:sym typeface="Space Grotesk"/>
              </a:rPr>
              <a:t>Destination 3: Chit-Chat</a:t>
            </a:r>
            <a:endParaRPr/>
          </a:p>
        </p:txBody>
      </p:sp>
      <p:sp>
        <p:nvSpPr>
          <p:cNvPr id="1072" name="Google Shape;1072;p66"/>
          <p:cNvSpPr txBox="1"/>
          <p:nvPr/>
        </p:nvSpPr>
        <p:spPr>
          <a:xfrm>
            <a:off x="7551390" y="5535810"/>
            <a:ext cx="3669000" cy="173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CBD5E1"/>
                </a:solidFill>
                <a:latin typeface="Plus Jakarta Sans"/>
                <a:ea typeface="Plus Jakarta Sans"/>
                <a:cs typeface="Plus Jakarta Sans"/>
                <a:sym typeface="Plus Jakarta Sans"/>
              </a:rPr>
              <a:t>Default fallback for greetings.</a:t>
            </a:r>
            <a:endParaRPr/>
          </a:p>
        </p:txBody>
      </p:sp>
      <p:pic>
        <p:nvPicPr>
          <p:cNvPr descr="image.png" id="1073" name="Google Shape;1073;p66"/>
          <p:cNvPicPr preferRelativeResize="0"/>
          <p:nvPr/>
        </p:nvPicPr>
        <p:blipFill rotWithShape="1">
          <a:blip r:embed="rId10">
            <a:alphaModFix/>
          </a:blip>
          <a:srcRect b="0" l="0" r="0" t="0"/>
          <a:stretch/>
        </p:blipFill>
        <p:spPr>
          <a:xfrm>
            <a:off x="8223795" y="3259335"/>
            <a:ext cx="114300" cy="152400"/>
          </a:xfrm>
          <a:prstGeom prst="rect">
            <a:avLst/>
          </a:prstGeom>
          <a:noFill/>
          <a:ln>
            <a:noFill/>
          </a:ln>
        </p:spPr>
      </p:pic>
      <p:pic>
        <p:nvPicPr>
          <p:cNvPr descr="image.png" id="1074" name="Google Shape;1074;p66"/>
          <p:cNvPicPr preferRelativeResize="0"/>
          <p:nvPr/>
        </p:nvPicPr>
        <p:blipFill rotWithShape="1">
          <a:blip r:embed="rId11">
            <a:alphaModFix/>
          </a:blip>
          <a:srcRect b="0" l="0" r="0" t="0"/>
          <a:stretch/>
        </p:blipFill>
        <p:spPr>
          <a:xfrm>
            <a:off x="8404770" y="4307085"/>
            <a:ext cx="133350" cy="152400"/>
          </a:xfrm>
          <a:prstGeom prst="rect">
            <a:avLst/>
          </a:prstGeom>
          <a:noFill/>
          <a:ln>
            <a:noFill/>
          </a:ln>
        </p:spPr>
      </p:pic>
      <p:pic>
        <p:nvPicPr>
          <p:cNvPr descr="image.png" id="1075" name="Google Shape;1075;p66"/>
          <p:cNvPicPr preferRelativeResize="0"/>
          <p:nvPr/>
        </p:nvPicPr>
        <p:blipFill rotWithShape="1">
          <a:blip r:embed="rId12">
            <a:alphaModFix/>
          </a:blip>
          <a:srcRect b="0" l="0" r="0" t="0"/>
          <a:stretch/>
        </p:blipFill>
        <p:spPr>
          <a:xfrm>
            <a:off x="8395245" y="5354835"/>
            <a:ext cx="190500" cy="152400"/>
          </a:xfrm>
          <a:prstGeom prst="rect">
            <a:avLst/>
          </a:prstGeom>
          <a:noFill/>
          <a:ln>
            <a:noFill/>
          </a:ln>
        </p:spPr>
      </p:pic>
      <p:sp>
        <p:nvSpPr>
          <p:cNvPr id="1076" name="Google Shape;1076;p66"/>
          <p:cNvSpPr txBox="1"/>
          <p:nvPr/>
        </p:nvSpPr>
        <p:spPr>
          <a:xfrm>
            <a:off x="1390650" y="581025"/>
            <a:ext cx="1053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The Routing </a:t>
            </a:r>
            <a:r>
              <a:rPr b="0" i="0" lang="en-US" sz="3300" u="none" cap="none" strike="noStrike">
                <a:solidFill>
                  <a:srgbClr val="14B8A6"/>
                </a:solidFill>
                <a:latin typeface="Space Grotesk"/>
                <a:ea typeface="Space Grotesk"/>
                <a:cs typeface="Space Grotesk"/>
                <a:sym typeface="Space Grotesk"/>
              </a:rPr>
              <a:t>Architecture</a:t>
            </a:r>
            <a:endParaRPr/>
          </a:p>
        </p:txBody>
      </p:sp>
      <p:sp>
        <p:nvSpPr>
          <p:cNvPr id="1077" name="Google Shape;1077;p66"/>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78" name="Google Shape;1078;p66"/>
          <p:cNvPicPr preferRelativeResize="0"/>
          <p:nvPr/>
        </p:nvPicPr>
        <p:blipFill>
          <a:blip r:embed="rId13">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82" name="Shape 1082"/>
        <p:cNvGrpSpPr/>
        <p:nvPr/>
      </p:nvGrpSpPr>
      <p:grpSpPr>
        <a:xfrm>
          <a:off x="0" y="0"/>
          <a:ext cx="0" cy="0"/>
          <a:chOff x="0" y="0"/>
          <a:chExt cx="0" cy="0"/>
        </a:xfrm>
      </p:grpSpPr>
      <p:pic>
        <p:nvPicPr>
          <p:cNvPr descr="image.png" id="1083" name="Google Shape;1083;p6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4" name="Google Shape;1084;p67"/>
          <p:cNvPicPr preferRelativeResize="0"/>
          <p:nvPr/>
        </p:nvPicPr>
        <p:blipFill rotWithShape="1">
          <a:blip r:embed="rId4">
            <a:alphaModFix/>
          </a:blip>
          <a:srcRect b="0" l="0" r="0" t="0"/>
          <a:stretch/>
        </p:blipFill>
        <p:spPr>
          <a:xfrm>
            <a:off x="771525" y="1647825"/>
            <a:ext cx="10648949" cy="4629150"/>
          </a:xfrm>
          <a:prstGeom prst="rect">
            <a:avLst/>
          </a:prstGeom>
          <a:noFill/>
          <a:ln>
            <a:noFill/>
          </a:ln>
        </p:spPr>
      </p:pic>
      <p:pic>
        <p:nvPicPr>
          <p:cNvPr descr="image.png" id="1085" name="Google Shape;1085;p67"/>
          <p:cNvPicPr preferRelativeResize="0"/>
          <p:nvPr/>
        </p:nvPicPr>
        <p:blipFill rotWithShape="1">
          <a:blip r:embed="rId5">
            <a:alphaModFix/>
          </a:blip>
          <a:srcRect b="0" l="0" r="0" t="0"/>
          <a:stretch/>
        </p:blipFill>
        <p:spPr>
          <a:xfrm>
            <a:off x="771525" y="638175"/>
            <a:ext cx="419100" cy="419100"/>
          </a:xfrm>
          <a:prstGeom prst="rect">
            <a:avLst/>
          </a:prstGeom>
          <a:noFill/>
          <a:ln>
            <a:noFill/>
          </a:ln>
        </p:spPr>
      </p:pic>
      <p:sp>
        <p:nvSpPr>
          <p:cNvPr id="1086" name="Google Shape;1086;p67"/>
          <p:cNvSpPr txBox="1"/>
          <p:nvPr/>
        </p:nvSpPr>
        <p:spPr>
          <a:xfrm>
            <a:off x="1590675" y="2405062"/>
            <a:ext cx="42672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Global Setup:</a:t>
            </a:r>
            <a:r>
              <a:rPr b="0" i="0" lang="en-US" sz="1500" u="none" cap="none" strike="noStrike">
                <a:solidFill>
                  <a:srgbClr val="CBD5E1"/>
                </a:solidFill>
                <a:latin typeface="Plus Jakarta Sans"/>
                <a:ea typeface="Plus Jakarta Sans"/>
                <a:cs typeface="Plus Jakarta Sans"/>
                <a:sym typeface="Plus Jakarta Sans"/>
              </a:rPr>
              <a:t> Install experimental LangChain libraries and initialize the Gemini 3.1 Flash LLM and Embedding models.</a:t>
            </a:r>
            <a:endParaRPr/>
          </a:p>
        </p:txBody>
      </p:sp>
      <p:sp>
        <p:nvSpPr>
          <p:cNvPr id="1087" name="Google Shape;1087;p67"/>
          <p:cNvSpPr txBox="1"/>
          <p:nvPr/>
        </p:nvSpPr>
        <p:spPr>
          <a:xfrm>
            <a:off x="1590675" y="3452812"/>
            <a:ext cx="42672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Build Destinations:</a:t>
            </a:r>
            <a:r>
              <a:rPr b="0" i="0" lang="en-US" sz="1500" u="none" cap="none" strike="noStrike">
                <a:solidFill>
                  <a:srgbClr val="CBD5E1"/>
                </a:solidFill>
                <a:latin typeface="Plus Jakarta Sans"/>
                <a:ea typeface="Plus Jakarta Sans"/>
                <a:cs typeface="Plus Jakarta Sans"/>
                <a:sym typeface="Plus Jakarta Sans"/>
              </a:rPr>
              <a:t> Create the three distinct LCEL sub-chains (Math, Chit-Chat, and the Week 2 FAISS RAG).</a:t>
            </a:r>
            <a:endParaRPr/>
          </a:p>
        </p:txBody>
      </p:sp>
      <p:sp>
        <p:nvSpPr>
          <p:cNvPr id="1088" name="Google Shape;1088;p67"/>
          <p:cNvSpPr txBox="1"/>
          <p:nvPr/>
        </p:nvSpPr>
        <p:spPr>
          <a:xfrm>
            <a:off x="1590675" y="4500562"/>
            <a:ext cx="42672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The Logical Router:</a:t>
            </a:r>
            <a:r>
              <a:rPr b="0" i="0" lang="en-US" sz="1500" u="none" cap="none" strike="noStrike">
                <a:solidFill>
                  <a:srgbClr val="CBD5E1"/>
                </a:solidFill>
                <a:latin typeface="Plus Jakarta Sans"/>
                <a:ea typeface="Plus Jakarta Sans"/>
                <a:cs typeface="Plus Jakarta Sans"/>
                <a:sym typeface="Plus Jakarta Sans"/>
              </a:rPr>
              <a:t> Write a strict classification prompt forcing the LLM to output exactly 'math', 'database', or 'general'.</a:t>
            </a:r>
            <a:endParaRPr/>
          </a:p>
        </p:txBody>
      </p:sp>
      <p:sp>
        <p:nvSpPr>
          <p:cNvPr id="1089" name="Google Shape;1089;p67"/>
          <p:cNvSpPr txBox="1"/>
          <p:nvPr/>
        </p:nvSpPr>
        <p:spPr>
          <a:xfrm>
            <a:off x="6762750" y="2547937"/>
            <a:ext cx="42672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RunnableBranch Switchboard:</a:t>
            </a:r>
            <a:r>
              <a:rPr b="0" i="0" lang="en-US" sz="1500" u="none" cap="none" strike="noStrike">
                <a:solidFill>
                  <a:srgbClr val="CBD5E1"/>
                </a:solidFill>
                <a:latin typeface="Plus Jakarta Sans"/>
                <a:ea typeface="Plus Jakarta Sans"/>
                <a:cs typeface="Plus Jakarta Sans"/>
                <a:sym typeface="Plus Jakarta Sans"/>
              </a:rPr>
              <a:t> Map the router's string output to the corresponding sub-chain using lambda functions.</a:t>
            </a:r>
            <a:endParaRPr/>
          </a:p>
        </p:txBody>
      </p:sp>
      <p:sp>
        <p:nvSpPr>
          <p:cNvPr id="1090" name="Google Shape;1090;p67"/>
          <p:cNvSpPr txBox="1"/>
          <p:nvPr/>
        </p:nvSpPr>
        <p:spPr>
          <a:xfrm>
            <a:off x="6762750" y="3595687"/>
            <a:ext cx="42672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Wire the Master Chain:</a:t>
            </a:r>
            <a:r>
              <a:rPr b="0" i="0" lang="en-US" sz="1500" u="none" cap="none" strike="noStrike">
                <a:solidFill>
                  <a:srgbClr val="CBD5E1"/>
                </a:solidFill>
                <a:latin typeface="Plus Jakarta Sans"/>
                <a:ea typeface="Plus Jakarta Sans"/>
                <a:cs typeface="Plus Jakarta Sans"/>
                <a:sym typeface="Plus Jakarta Sans"/>
              </a:rPr>
              <a:t> Connect the Traffic Cop directly to the RunnableBranch.</a:t>
            </a:r>
            <a:endParaRPr/>
          </a:p>
        </p:txBody>
      </p:sp>
      <p:sp>
        <p:nvSpPr>
          <p:cNvPr id="1091" name="Google Shape;1091;p67"/>
          <p:cNvSpPr txBox="1"/>
          <p:nvPr/>
        </p:nvSpPr>
        <p:spPr>
          <a:xfrm>
            <a:off x="6762750" y="4357687"/>
            <a:ext cx="42672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CBD5E1"/>
                </a:solidFill>
                <a:latin typeface="Plus Jakarta Sans"/>
                <a:ea typeface="Plus Jakarta Sans"/>
                <a:cs typeface="Plus Jakarta Sans"/>
                <a:sym typeface="Plus Jakarta Sans"/>
              </a:rPr>
              <a:t>Pipeline Execution:</a:t>
            </a:r>
            <a:r>
              <a:rPr b="0" i="0" lang="en-US" sz="1500" u="none" cap="none" strike="noStrike">
                <a:solidFill>
                  <a:srgbClr val="CBD5E1"/>
                </a:solidFill>
                <a:latin typeface="Plus Jakarta Sans"/>
                <a:ea typeface="Plus Jakarta Sans"/>
                <a:cs typeface="Plus Jakarta Sans"/>
                <a:sym typeface="Plus Jakarta Sans"/>
              </a:rPr>
              <a:t> Throw overlapping queries at the single master chain and watch it autonomously route traffic.</a:t>
            </a:r>
            <a:endParaRPr/>
          </a:p>
        </p:txBody>
      </p:sp>
      <p:pic>
        <p:nvPicPr>
          <p:cNvPr descr="image.png" id="1092" name="Google Shape;1092;p67"/>
          <p:cNvPicPr preferRelativeResize="0"/>
          <p:nvPr/>
        </p:nvPicPr>
        <p:blipFill rotWithShape="1">
          <a:blip r:embed="rId6">
            <a:alphaModFix/>
          </a:blip>
          <a:srcRect b="0" l="0" r="0" t="0"/>
          <a:stretch/>
        </p:blipFill>
        <p:spPr>
          <a:xfrm>
            <a:off x="1162050" y="2443162"/>
            <a:ext cx="114300" cy="247650"/>
          </a:xfrm>
          <a:prstGeom prst="rect">
            <a:avLst/>
          </a:prstGeom>
          <a:noFill/>
          <a:ln>
            <a:noFill/>
          </a:ln>
        </p:spPr>
      </p:pic>
      <p:pic>
        <p:nvPicPr>
          <p:cNvPr descr="image.png" id="1093" name="Google Shape;1093;p67"/>
          <p:cNvPicPr preferRelativeResize="0"/>
          <p:nvPr/>
        </p:nvPicPr>
        <p:blipFill rotWithShape="1">
          <a:blip r:embed="rId7">
            <a:alphaModFix/>
          </a:blip>
          <a:srcRect b="0" l="0" r="0" t="0"/>
          <a:stretch/>
        </p:blipFill>
        <p:spPr>
          <a:xfrm>
            <a:off x="1162050" y="3490912"/>
            <a:ext cx="152400" cy="247650"/>
          </a:xfrm>
          <a:prstGeom prst="rect">
            <a:avLst/>
          </a:prstGeom>
          <a:noFill/>
          <a:ln>
            <a:noFill/>
          </a:ln>
        </p:spPr>
      </p:pic>
      <p:pic>
        <p:nvPicPr>
          <p:cNvPr descr="image.png" id="1094" name="Google Shape;1094;p67"/>
          <p:cNvPicPr preferRelativeResize="0"/>
          <p:nvPr/>
        </p:nvPicPr>
        <p:blipFill rotWithShape="1">
          <a:blip r:embed="rId8">
            <a:alphaModFix/>
          </a:blip>
          <a:srcRect b="0" l="0" r="0" t="0"/>
          <a:stretch/>
        </p:blipFill>
        <p:spPr>
          <a:xfrm>
            <a:off x="1162050" y="4538662"/>
            <a:ext cx="142875" cy="247650"/>
          </a:xfrm>
          <a:prstGeom prst="rect">
            <a:avLst/>
          </a:prstGeom>
          <a:noFill/>
          <a:ln>
            <a:noFill/>
          </a:ln>
        </p:spPr>
      </p:pic>
      <p:pic>
        <p:nvPicPr>
          <p:cNvPr descr="image.png" id="1095" name="Google Shape;1095;p67"/>
          <p:cNvPicPr preferRelativeResize="0"/>
          <p:nvPr/>
        </p:nvPicPr>
        <p:blipFill rotWithShape="1">
          <a:blip r:embed="rId9">
            <a:alphaModFix/>
          </a:blip>
          <a:srcRect b="0" l="0" r="0" t="0"/>
          <a:stretch/>
        </p:blipFill>
        <p:spPr>
          <a:xfrm>
            <a:off x="6334125" y="2586037"/>
            <a:ext cx="171450" cy="247650"/>
          </a:xfrm>
          <a:prstGeom prst="rect">
            <a:avLst/>
          </a:prstGeom>
          <a:noFill/>
          <a:ln>
            <a:noFill/>
          </a:ln>
        </p:spPr>
      </p:pic>
      <p:pic>
        <p:nvPicPr>
          <p:cNvPr descr="image.png" id="1096" name="Google Shape;1096;p67"/>
          <p:cNvPicPr preferRelativeResize="0"/>
          <p:nvPr/>
        </p:nvPicPr>
        <p:blipFill rotWithShape="1">
          <a:blip r:embed="rId10">
            <a:alphaModFix/>
          </a:blip>
          <a:srcRect b="0" l="0" r="0" t="0"/>
          <a:stretch/>
        </p:blipFill>
        <p:spPr>
          <a:xfrm>
            <a:off x="6334125" y="3633787"/>
            <a:ext cx="142875" cy="247650"/>
          </a:xfrm>
          <a:prstGeom prst="rect">
            <a:avLst/>
          </a:prstGeom>
          <a:noFill/>
          <a:ln>
            <a:noFill/>
          </a:ln>
        </p:spPr>
      </p:pic>
      <p:pic>
        <p:nvPicPr>
          <p:cNvPr descr="image.png" id="1097" name="Google Shape;1097;p67"/>
          <p:cNvPicPr preferRelativeResize="0"/>
          <p:nvPr/>
        </p:nvPicPr>
        <p:blipFill rotWithShape="1">
          <a:blip r:embed="rId11">
            <a:alphaModFix/>
          </a:blip>
          <a:srcRect b="0" l="0" r="0" t="0"/>
          <a:stretch/>
        </p:blipFill>
        <p:spPr>
          <a:xfrm>
            <a:off x="6334125" y="4395787"/>
            <a:ext cx="152400" cy="247650"/>
          </a:xfrm>
          <a:prstGeom prst="rect">
            <a:avLst/>
          </a:prstGeom>
          <a:noFill/>
          <a:ln>
            <a:noFill/>
          </a:ln>
        </p:spPr>
      </p:pic>
      <p:sp>
        <p:nvSpPr>
          <p:cNvPr id="1098" name="Google Shape;1098;p67"/>
          <p:cNvSpPr txBox="1"/>
          <p:nvPr/>
        </p:nvSpPr>
        <p:spPr>
          <a:xfrm>
            <a:off x="1333500" y="581025"/>
            <a:ext cx="105912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F8FAFC"/>
                </a:solidFill>
                <a:latin typeface="Space Grotesk"/>
                <a:ea typeface="Space Grotesk"/>
                <a:cs typeface="Space Grotesk"/>
                <a:sym typeface="Space Grotesk"/>
              </a:rPr>
              <a:t>Implementation </a:t>
            </a:r>
            <a:r>
              <a:rPr b="0" i="0" lang="en-US" sz="3300" u="none" cap="none" strike="noStrike">
                <a:solidFill>
                  <a:srgbClr val="14B8A6"/>
                </a:solidFill>
                <a:latin typeface="Space Grotesk"/>
                <a:ea typeface="Space Grotesk"/>
                <a:cs typeface="Space Grotesk"/>
                <a:sym typeface="Space Grotesk"/>
              </a:rPr>
              <a:t>Steps</a:t>
            </a:r>
            <a:endParaRPr/>
          </a:p>
        </p:txBody>
      </p:sp>
      <p:sp>
        <p:nvSpPr>
          <p:cNvPr id="1099" name="Google Shape;1099;p67"/>
          <p:cNvSpPr/>
          <p:nvPr/>
        </p:nvSpPr>
        <p:spPr>
          <a:xfrm>
            <a:off x="771525" y="1257300"/>
            <a:ext cx="10649100" cy="960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00" name="Google Shape;1100;p67"/>
          <p:cNvPicPr preferRelativeResize="0"/>
          <p:nvPr/>
        </p:nvPicPr>
        <p:blipFill>
          <a:blip r:embed="rId12">
            <a:alphaModFix/>
          </a:blip>
          <a:stretch>
            <a:fillRect/>
          </a:stretch>
        </p:blipFill>
        <p:spPr>
          <a:xfrm>
            <a:off x="10452719" y="147551"/>
            <a:ext cx="1560581" cy="3429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04" name="Shape 1104"/>
        <p:cNvGrpSpPr/>
        <p:nvPr/>
      </p:nvGrpSpPr>
      <p:grpSpPr>
        <a:xfrm>
          <a:off x="0" y="0"/>
          <a:ext cx="0" cy="0"/>
          <a:chOff x="0" y="0"/>
          <a:chExt cx="0" cy="0"/>
        </a:xfrm>
      </p:grpSpPr>
      <p:pic>
        <p:nvPicPr>
          <p:cNvPr descr="image.png" id="1105" name="Google Shape;1105;p6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06" name="Google Shape;1106;p68"/>
          <p:cNvPicPr preferRelativeResize="0"/>
          <p:nvPr/>
        </p:nvPicPr>
        <p:blipFill rotWithShape="1">
          <a:blip r:embed="rId4">
            <a:alphaModFix/>
          </a:blip>
          <a:srcRect b="0" l="0" r="0" t="0"/>
          <a:stretch/>
        </p:blipFill>
        <p:spPr>
          <a:xfrm>
            <a:off x="3686175" y="4916537"/>
            <a:ext cx="4819650" cy="685800"/>
          </a:xfrm>
          <a:prstGeom prst="rect">
            <a:avLst/>
          </a:prstGeom>
          <a:noFill/>
          <a:ln>
            <a:noFill/>
          </a:ln>
        </p:spPr>
      </p:pic>
      <p:pic>
        <p:nvPicPr>
          <p:cNvPr descr="image.png" id="1107" name="Google Shape;1107;p68"/>
          <p:cNvPicPr preferRelativeResize="0"/>
          <p:nvPr/>
        </p:nvPicPr>
        <p:blipFill rotWithShape="1">
          <a:blip r:embed="rId5">
            <a:alphaModFix/>
          </a:blip>
          <a:srcRect b="0" l="0" r="0" t="0"/>
          <a:stretch/>
        </p:blipFill>
        <p:spPr>
          <a:xfrm>
            <a:off x="5557837" y="1017389"/>
            <a:ext cx="1076325" cy="952500"/>
          </a:xfrm>
          <a:prstGeom prst="rect">
            <a:avLst/>
          </a:prstGeom>
          <a:noFill/>
          <a:ln>
            <a:noFill/>
          </a:ln>
        </p:spPr>
      </p:pic>
      <p:sp>
        <p:nvSpPr>
          <p:cNvPr id="1108" name="Google Shape;1108;p68"/>
          <p:cNvSpPr txBox="1"/>
          <p:nvPr/>
        </p:nvSpPr>
        <p:spPr>
          <a:xfrm>
            <a:off x="2745581" y="2255639"/>
            <a:ext cx="6700800" cy="831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lang="en-US" sz="5400">
                <a:solidFill>
                  <a:srgbClr val="F8FAFC"/>
                </a:solidFill>
                <a:latin typeface="Space Grotesk"/>
                <a:ea typeface="Space Grotesk"/>
                <a:cs typeface="Space Grotesk"/>
                <a:sym typeface="Space Grotesk"/>
              </a:rPr>
              <a:t>Session</a:t>
            </a:r>
            <a:r>
              <a:rPr b="0" i="0" lang="en-US" sz="5400" u="none" cap="none" strike="noStrike">
                <a:solidFill>
                  <a:srgbClr val="F8FAFC"/>
                </a:solidFill>
                <a:latin typeface="Space Grotesk"/>
                <a:ea typeface="Space Grotesk"/>
                <a:cs typeface="Space Grotesk"/>
                <a:sym typeface="Space Grotesk"/>
              </a:rPr>
              <a:t> Complete</a:t>
            </a:r>
            <a:endParaRPr/>
          </a:p>
        </p:txBody>
      </p:sp>
      <p:sp>
        <p:nvSpPr>
          <p:cNvPr id="1109" name="Google Shape;1109;p68"/>
          <p:cNvSpPr txBox="1"/>
          <p:nvPr/>
        </p:nvSpPr>
        <p:spPr>
          <a:xfrm>
            <a:off x="1809750" y="3200400"/>
            <a:ext cx="8572500" cy="1163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Plus Jakarta Sans"/>
                <a:ea typeface="Plus Jakarta Sans"/>
                <a:cs typeface="Plus Jakarta Sans"/>
                <a:sym typeface="Plus Jakarta Sans"/>
              </a:rPr>
              <a:t>You have shattered the "Naive RAG" ceiling. By implementing Logical Query Routing, you transformed your pipeline from a rigid, single-track script into a dynamic, microservice-style AI ecosystem.</a:t>
            </a:r>
            <a:endParaRPr/>
          </a:p>
        </p:txBody>
      </p:sp>
      <p:pic>
        <p:nvPicPr>
          <p:cNvPr descr="image.png" id="1110" name="Google Shape;1110;p68"/>
          <p:cNvPicPr preferRelativeResize="0"/>
          <p:nvPr/>
        </p:nvPicPr>
        <p:blipFill rotWithShape="1">
          <a:blip r:embed="rId6">
            <a:alphaModFix/>
          </a:blip>
          <a:srcRect b="0" l="0" r="0" t="0"/>
          <a:stretch/>
        </p:blipFill>
        <p:spPr>
          <a:xfrm>
            <a:off x="3927613" y="5145137"/>
            <a:ext cx="200025" cy="228600"/>
          </a:xfrm>
          <a:prstGeom prst="rect">
            <a:avLst/>
          </a:prstGeom>
          <a:noFill/>
          <a:ln>
            <a:noFill/>
          </a:ln>
        </p:spPr>
      </p:pic>
      <p:pic>
        <p:nvPicPr>
          <p:cNvPr id="1111" name="Google Shape;1111;p68"/>
          <p:cNvPicPr preferRelativeResize="0"/>
          <p:nvPr/>
        </p:nvPicPr>
        <p:blipFill>
          <a:blip r:embed="rId7">
            <a:alphaModFix/>
          </a:blip>
          <a:stretch>
            <a:fillRect/>
          </a:stretch>
        </p:blipFill>
        <p:spPr>
          <a:xfrm>
            <a:off x="10452719" y="147551"/>
            <a:ext cx="1560581" cy="34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