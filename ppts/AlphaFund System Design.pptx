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A3EA1D-268F-49C6-BAF2-28FD0AD74352}">
  <a:tblStyle styleId="{72A3EA1D-268F-49C6-BAF2-28FD0AD743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5.xml"/><Relationship Id="rId22" Type="http://schemas.openxmlformats.org/officeDocument/2006/relationships/font" Target="fonts/DMSans-italic.fntdata"/><Relationship Id="rId10" Type="http://schemas.openxmlformats.org/officeDocument/2006/relationships/slide" Target="slides/slide4.xml"/><Relationship Id="rId21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310526" y="1806922"/>
            <a:ext cx="7570800" cy="1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4.3 - Multi-Source </a:t>
            </a:r>
            <a:r>
              <a:rPr b="1" lang="en-US" sz="51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Retrieval</a:t>
            </a:r>
            <a:endParaRPr sz="500"/>
          </a:p>
        </p:txBody>
      </p:sp>
      <p:sp>
        <p:nvSpPr>
          <p:cNvPr id="85" name="Google Shape;85;p13"/>
          <p:cNvSpPr txBox="1"/>
          <p:nvPr/>
        </p:nvSpPr>
        <p:spPr>
          <a:xfrm>
            <a:off x="2490787" y="3673822"/>
            <a:ext cx="72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AlphaFund Dashboard System Design </a:t>
            </a:r>
            <a:endParaRPr sz="2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90787" y="4542383"/>
            <a:ext cx="7210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Extract Once, Judge Many, Serve Beautifully.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4670821" y="2073771"/>
            <a:ext cx="28503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High-Level Architecture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524500" y="2654796"/>
            <a:ext cx="1143000" cy="47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178671"/>
            <a:ext cx="76200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robust, three-tier architecture connecting analysts to complex financial databases through a natural language interface.</a:t>
            </a: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38362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38362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2138362"/>
            <a:ext cx="3429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Tiers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330880" y="3395662"/>
            <a:ext cx="191023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948112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Streamlit frontend managing conversational UI, session memory, and multimodal browser rendering.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070871" y="3395662"/>
            <a:ext cx="2050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Orchestration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76775" y="3948112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Gemini 2.5 Flash LLM acting as a Semantic Router, synthesizing and formatting down-stream queries.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230915" y="3395662"/>
            <a:ext cx="13501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Retrieval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86775" y="3948112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Dual engines for deterministic structure (SQL) and unstructured hybrid retrieval (RAG).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9300" y="258603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75" y="25860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6450" y="258603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Semantic Router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42950" y="2319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23193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Replaces rigid if/else heuristics with </a:t>
            </a: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LLM native function calling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42950" y="3119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09625" y="31194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Ingests natural language to dynamically assess available tool schemas.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42950" y="3919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09625" y="39195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Identifies correct retrieval methods (e.g., SQL for "market cap", vector search for "CEO quotes").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42950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09625" y="47196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Executes tools sequentially or in parallel, awaiting raw returns before synthesizing the final executive response.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033587"/>
            <a:ext cx="52006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Engine A: Structured Data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42950" y="2166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09625" y="21669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Architecture: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LangChain SQL Agent designed for deterministic math and aggregations.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42950" y="2967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09625" y="296703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Context Injection: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LLM is strictly prompted with the exact Data Definition Language (DDL) of the database.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42950" y="40719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40719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Self-Correction: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hidden Reflexion loop catches invalid SQLite execution errors and forces query rewrites.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42950" y="4872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09625" y="48720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Circuit Breaker: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Reflexion is hard-capped at 3 maximum retries to prevent infinite token-burn.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033587"/>
            <a:ext cx="52006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498098"/>
            <a:ext cx="5238750" cy="840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Engine B: Unstructured Hybrid RAG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42950" y="1898898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09625" y="1898898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Dense Vectors: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FAISS utilizing text-embedding-004 for semantic conceptual matching.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42950" y="2698998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09625" y="2698998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Sparse Vectors: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BM25 indexing for exact alphanumeric matching (tickers, invoices).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42950" y="3499098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09625" y="3499098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Contextual Compression: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Trims irrelevant sentences inside winning chunks to save context.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42950" y="4299198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09625" y="4299198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Fusion: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Reciprocal Rank Fusion (RRF) strips incompatible scores, ranking chunks purely on positional consensus.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8032" y="5698123"/>
            <a:ext cx="1665684" cy="440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2033587"/>
            <a:ext cx="52006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09787"/>
            <a:ext cx="3429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09787"/>
            <a:ext cx="3429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2109787"/>
            <a:ext cx="3429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Threat Model &amp; Guardrails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95813" y="3367087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Read-Only Execution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66775" y="4281487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SQLite connection string is forcefully restricted to strict read-only permissions.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745831" y="3367087"/>
            <a:ext cx="27003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Regex Firewalling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676775" y="39195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Middleware blocks strings containing DROP, DELETE, UPDATE, ALTER, or GRANT prior to engine contact.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660844" y="3367087"/>
            <a:ext cx="249031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Prompt Injection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486775" y="39195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System prompts are hardcoded with DDL schema limits and few-shot examples to anchor output behavior.</a:t>
            </a:r>
            <a:endParaRPr/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6450" y="25574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75" y="25574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5962" y="255746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/>
        </p:nvSpPr>
        <p:spPr>
          <a:xfrm>
            <a:off x="571500" y="4762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 &amp; Future Upgrades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2081212"/>
            <a:ext cx="11049000" cy="36766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571500" y="20812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{72A3EA1D-268F-49C6-BAF2-28FD0AD74352}</a:tableStyleId>
              </a:tblPr>
              <a:tblGrid>
                <a:gridCol w="2169325"/>
                <a:gridCol w="5629725"/>
                <a:gridCol w="3249950"/>
              </a:tblGrid>
              <a:tr h="91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Current Limitation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Architectural 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Phase 2 Upgrade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91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Relational Blindness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 FAISS engine cannot understand multi-hop relationship chains across distinct corporate entities.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Introduction of Neo4j GraphRAG (Week 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Fragile Prompting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Reliance on manual prompt engineering, which is highly brittle to underlying LLM model updates.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Algorithmic prompt compilation via DSPy (Week 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 Routing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 router can only execute isolated tools and cannot natively reason through cyclical problems.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Refactoring into a stateful LangGraph Agent (Week 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/>
          <p:nvPr/>
        </p:nvSpPr>
        <p:spPr>
          <a:xfrm>
            <a:off x="571500" y="3086100"/>
            <a:ext cx="21693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740818" y="3086100"/>
            <a:ext cx="562972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8370540" y="3086100"/>
            <a:ext cx="324995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1500" y="3971925"/>
            <a:ext cx="21693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740818" y="3971925"/>
            <a:ext cx="562972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8370540" y="3971925"/>
            <a:ext cx="324995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1500" y="4857750"/>
            <a:ext cx="21693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740818" y="4857750"/>
            <a:ext cx="562972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8370540" y="4857750"/>
            <a:ext cx="324995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1500" y="5743575"/>
            <a:ext cx="216931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740818" y="5743575"/>
            <a:ext cx="562972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370540" y="5743575"/>
            <a:ext cx="3249959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295275" y="2458342"/>
            <a:ext cx="116014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382994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End of Architecture Briefing.</a:t>
            </a:r>
            <a:endParaRPr/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